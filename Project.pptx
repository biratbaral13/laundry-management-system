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8" r:id="rId3"/>
    <p:sldId id="270" r:id="rId4"/>
    <p:sldId id="289" r:id="rId5"/>
    <p:sldId id="293" r:id="rId6"/>
    <p:sldId id="292" r:id="rId7"/>
    <p:sldId id="295" r:id="rId8"/>
    <p:sldId id="294" r:id="rId9"/>
    <p:sldId id="291" r:id="rId10"/>
    <p:sldId id="296" r:id="rId11"/>
    <p:sldId id="302" r:id="rId12"/>
    <p:sldId id="301" r:id="rId13"/>
    <p:sldId id="313" r:id="rId14"/>
    <p:sldId id="314" r:id="rId15"/>
    <p:sldId id="309" r:id="rId16"/>
    <p:sldId id="315" r:id="rId17"/>
    <p:sldId id="316" r:id="rId18"/>
    <p:sldId id="317" r:id="rId19"/>
    <p:sldId id="318" r:id="rId20"/>
    <p:sldId id="330" r:id="rId21"/>
    <p:sldId id="328" r:id="rId22"/>
    <p:sldId id="331" r:id="rId23"/>
    <p:sldId id="334" r:id="rId24"/>
    <p:sldId id="332" r:id="rId25"/>
    <p:sldId id="335"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005370"/>
    <a:srgbClr val="025776"/>
    <a:srgbClr val="00668B"/>
    <a:srgbClr val="002B3A"/>
    <a:srgbClr val="0082B0"/>
    <a:srgbClr val="214D66"/>
    <a:srgbClr val="00577B"/>
    <a:srgbClr val="04638D"/>
    <a:srgbClr val="00789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p:scale>
          <a:sx n="66" d="100"/>
          <a:sy n="66" d="100"/>
        </p:scale>
        <p:origin x="2310"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1BC7514A-5FF9-4828-BCDC-5000467DCFB8}" type="datetimeFigureOut">
              <a:rPr lang="en-GB" smtClean="0"/>
              <a:t>31/07/2026</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976E6C2C-F119-4EE4-8E9D-9B5B22BBF3DC}" type="slidenum">
              <a:rPr lang="en-GB" smtClean="0"/>
              <a:t>‹#›</a:t>
            </a:fld>
            <a:endParaRPr lang="en-GB" dirty="0"/>
          </a:p>
        </p:txBody>
      </p:sp>
    </p:spTree>
    <p:extLst>
      <p:ext uri="{BB962C8B-B14F-4D97-AF65-F5344CB8AC3E}">
        <p14:creationId xmlns:p14="http://schemas.microsoft.com/office/powerpoint/2010/main" val="12841276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1BC7514A-5FF9-4828-BCDC-5000467DCFB8}" type="datetimeFigureOut">
              <a:rPr lang="en-GB" smtClean="0"/>
              <a:t>31/07/2026</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976E6C2C-F119-4EE4-8E9D-9B5B22BBF3DC}" type="slidenum">
              <a:rPr lang="en-GB" smtClean="0"/>
              <a:t>‹#›</a:t>
            </a:fld>
            <a:endParaRPr lang="en-GB" dirty="0"/>
          </a:p>
        </p:txBody>
      </p:sp>
    </p:spTree>
    <p:extLst>
      <p:ext uri="{BB962C8B-B14F-4D97-AF65-F5344CB8AC3E}">
        <p14:creationId xmlns:p14="http://schemas.microsoft.com/office/powerpoint/2010/main" val="21417641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1BC7514A-5FF9-4828-BCDC-5000467DCFB8}" type="datetimeFigureOut">
              <a:rPr lang="en-GB" smtClean="0"/>
              <a:t>31/07/2026</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976E6C2C-F119-4EE4-8E9D-9B5B22BBF3DC}" type="slidenum">
              <a:rPr lang="en-GB" smtClean="0"/>
              <a:t>‹#›</a:t>
            </a:fld>
            <a:endParaRPr lang="en-GB" dirty="0"/>
          </a:p>
        </p:txBody>
      </p:sp>
    </p:spTree>
    <p:extLst>
      <p:ext uri="{BB962C8B-B14F-4D97-AF65-F5344CB8AC3E}">
        <p14:creationId xmlns:p14="http://schemas.microsoft.com/office/powerpoint/2010/main" val="1788289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1BC7514A-5FF9-4828-BCDC-5000467DCFB8}" type="datetimeFigureOut">
              <a:rPr lang="en-GB" smtClean="0"/>
              <a:t>31/07/2026</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976E6C2C-F119-4EE4-8E9D-9B5B22BBF3DC}" type="slidenum">
              <a:rPr lang="en-GB" smtClean="0"/>
              <a:t>‹#›</a:t>
            </a:fld>
            <a:endParaRPr lang="en-GB" dirty="0"/>
          </a:p>
        </p:txBody>
      </p:sp>
    </p:spTree>
    <p:extLst>
      <p:ext uri="{BB962C8B-B14F-4D97-AF65-F5344CB8AC3E}">
        <p14:creationId xmlns:p14="http://schemas.microsoft.com/office/powerpoint/2010/main" val="38821229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1BC7514A-5FF9-4828-BCDC-5000467DCFB8}" type="datetimeFigureOut">
              <a:rPr lang="en-GB" smtClean="0"/>
              <a:t>31/07/2026</a:t>
            </a:fld>
            <a:endParaRPr lang="en-GB" dirty="0"/>
          </a:p>
        </p:txBody>
      </p:sp>
      <p:sp>
        <p:nvSpPr>
          <p:cNvPr id="8" name="Footer Placeholder 7"/>
          <p:cNvSpPr>
            <a:spLocks noGrp="1"/>
          </p:cNvSpPr>
          <p:nvPr>
            <p:ph type="ftr" sz="quarter" idx="11"/>
          </p:nvPr>
        </p:nvSpPr>
        <p:spPr/>
        <p:txBody>
          <a:bodyPr/>
          <a:lstStyle/>
          <a:p>
            <a:endParaRPr lang="en-GB" dirty="0"/>
          </a:p>
        </p:txBody>
      </p:sp>
      <p:sp>
        <p:nvSpPr>
          <p:cNvPr id="9" name="Slide Number Placeholder 8"/>
          <p:cNvSpPr>
            <a:spLocks noGrp="1"/>
          </p:cNvSpPr>
          <p:nvPr>
            <p:ph type="sldNum" sz="quarter" idx="12"/>
          </p:nvPr>
        </p:nvSpPr>
        <p:spPr/>
        <p:txBody>
          <a:bodyPr/>
          <a:lstStyle/>
          <a:p>
            <a:fld id="{976E6C2C-F119-4EE4-8E9D-9B5B22BBF3DC}" type="slidenum">
              <a:rPr lang="en-GB" smtClean="0"/>
              <a:t>‹#›</a:t>
            </a:fld>
            <a:endParaRPr lang="en-GB" dirty="0"/>
          </a:p>
        </p:txBody>
      </p:sp>
    </p:spTree>
    <p:extLst>
      <p:ext uri="{BB962C8B-B14F-4D97-AF65-F5344CB8AC3E}">
        <p14:creationId xmlns:p14="http://schemas.microsoft.com/office/powerpoint/2010/main" val="33479743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1BC7514A-5FF9-4828-BCDC-5000467DCFB8}" type="datetimeFigureOut">
              <a:rPr lang="en-GB" smtClean="0"/>
              <a:t>31/07/2026</a:t>
            </a:fld>
            <a:endParaRPr lang="en-GB" dirty="0"/>
          </a:p>
        </p:txBody>
      </p:sp>
      <p:sp>
        <p:nvSpPr>
          <p:cNvPr id="4" name="Footer Placeholder 3"/>
          <p:cNvSpPr>
            <a:spLocks noGrp="1"/>
          </p:cNvSpPr>
          <p:nvPr>
            <p:ph type="ftr" sz="quarter" idx="11"/>
          </p:nvPr>
        </p:nvSpPr>
        <p:spPr/>
        <p:txBody>
          <a:bodyPr/>
          <a:lstStyle/>
          <a:p>
            <a:endParaRPr lang="en-GB" dirty="0"/>
          </a:p>
        </p:txBody>
      </p:sp>
      <p:sp>
        <p:nvSpPr>
          <p:cNvPr id="5" name="Slide Number Placeholder 4"/>
          <p:cNvSpPr>
            <a:spLocks noGrp="1"/>
          </p:cNvSpPr>
          <p:nvPr>
            <p:ph type="sldNum" sz="quarter" idx="12"/>
          </p:nvPr>
        </p:nvSpPr>
        <p:spPr/>
        <p:txBody>
          <a:bodyPr/>
          <a:lstStyle/>
          <a:p>
            <a:fld id="{976E6C2C-F119-4EE4-8E9D-9B5B22BBF3DC}" type="slidenum">
              <a:rPr lang="en-GB" smtClean="0"/>
              <a:t>‹#›</a:t>
            </a:fld>
            <a:endParaRPr lang="en-GB" dirty="0"/>
          </a:p>
        </p:txBody>
      </p:sp>
    </p:spTree>
    <p:extLst>
      <p:ext uri="{BB962C8B-B14F-4D97-AF65-F5344CB8AC3E}">
        <p14:creationId xmlns:p14="http://schemas.microsoft.com/office/powerpoint/2010/main" val="32211071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BC7514A-5FF9-4828-BCDC-5000467DCFB8}" type="datetimeFigureOut">
              <a:rPr lang="en-GB" smtClean="0"/>
              <a:t>31/07/2026</a:t>
            </a:fld>
            <a:endParaRPr lang="en-GB" dirty="0"/>
          </a:p>
        </p:txBody>
      </p:sp>
      <p:sp>
        <p:nvSpPr>
          <p:cNvPr id="3" name="Footer Placeholder 2"/>
          <p:cNvSpPr>
            <a:spLocks noGrp="1"/>
          </p:cNvSpPr>
          <p:nvPr>
            <p:ph type="ftr" sz="quarter" idx="11"/>
          </p:nvPr>
        </p:nvSpPr>
        <p:spPr/>
        <p:txBody>
          <a:bodyPr/>
          <a:lstStyle/>
          <a:p>
            <a:endParaRPr lang="en-GB" dirty="0"/>
          </a:p>
        </p:txBody>
      </p:sp>
      <p:sp>
        <p:nvSpPr>
          <p:cNvPr id="4" name="Slide Number Placeholder 3"/>
          <p:cNvSpPr>
            <a:spLocks noGrp="1"/>
          </p:cNvSpPr>
          <p:nvPr>
            <p:ph type="sldNum" sz="quarter" idx="12"/>
          </p:nvPr>
        </p:nvSpPr>
        <p:spPr/>
        <p:txBody>
          <a:bodyPr/>
          <a:lstStyle/>
          <a:p>
            <a:fld id="{976E6C2C-F119-4EE4-8E9D-9B5B22BBF3DC}" type="slidenum">
              <a:rPr lang="en-GB" smtClean="0"/>
              <a:t>‹#›</a:t>
            </a:fld>
            <a:endParaRPr lang="en-GB" dirty="0"/>
          </a:p>
        </p:txBody>
      </p:sp>
    </p:spTree>
    <p:extLst>
      <p:ext uri="{BB962C8B-B14F-4D97-AF65-F5344CB8AC3E}">
        <p14:creationId xmlns:p14="http://schemas.microsoft.com/office/powerpoint/2010/main" val="11756933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1BC7514A-5FF9-4828-BCDC-5000467DCFB8}" type="datetimeFigureOut">
              <a:rPr lang="en-GB" smtClean="0"/>
              <a:t>31/07/2026</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976E6C2C-F119-4EE4-8E9D-9B5B22BBF3DC}" type="slidenum">
              <a:rPr lang="en-GB" smtClean="0"/>
              <a:t>‹#›</a:t>
            </a:fld>
            <a:endParaRPr lang="en-GB" dirty="0"/>
          </a:p>
        </p:txBody>
      </p:sp>
    </p:spTree>
    <p:extLst>
      <p:ext uri="{BB962C8B-B14F-4D97-AF65-F5344CB8AC3E}">
        <p14:creationId xmlns:p14="http://schemas.microsoft.com/office/powerpoint/2010/main" val="23424856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1BC7514A-5FF9-4828-BCDC-5000467DCFB8}" type="datetimeFigureOut">
              <a:rPr lang="en-GB" smtClean="0"/>
              <a:t>31/07/2026</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976E6C2C-F119-4EE4-8E9D-9B5B22BBF3DC}" type="slidenum">
              <a:rPr lang="en-GB" smtClean="0"/>
              <a:t>‹#›</a:t>
            </a:fld>
            <a:endParaRPr lang="en-GB" dirty="0"/>
          </a:p>
        </p:txBody>
      </p:sp>
    </p:spTree>
    <p:extLst>
      <p:ext uri="{BB962C8B-B14F-4D97-AF65-F5344CB8AC3E}">
        <p14:creationId xmlns:p14="http://schemas.microsoft.com/office/powerpoint/2010/main" val="27473838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1BC7514A-5FF9-4828-BCDC-5000467DCFB8}" type="datetimeFigureOut">
              <a:rPr lang="en-GB" smtClean="0"/>
              <a:t>31/07/2026</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976E6C2C-F119-4EE4-8E9D-9B5B22BBF3DC}" type="slidenum">
              <a:rPr lang="en-GB" smtClean="0"/>
              <a:t>‹#›</a:t>
            </a:fld>
            <a:endParaRPr lang="en-GB" dirty="0"/>
          </a:p>
        </p:txBody>
      </p:sp>
    </p:spTree>
    <p:extLst>
      <p:ext uri="{BB962C8B-B14F-4D97-AF65-F5344CB8AC3E}">
        <p14:creationId xmlns:p14="http://schemas.microsoft.com/office/powerpoint/2010/main" val="2530991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1BC7514A-5FF9-4828-BCDC-5000467DCFB8}" type="datetimeFigureOut">
              <a:rPr lang="en-GB" smtClean="0"/>
              <a:t>31/07/2026</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976E6C2C-F119-4EE4-8E9D-9B5B22BBF3DC}" type="slidenum">
              <a:rPr lang="en-GB" smtClean="0"/>
              <a:t>‹#›</a:t>
            </a:fld>
            <a:endParaRPr lang="en-GB" dirty="0"/>
          </a:p>
        </p:txBody>
      </p:sp>
    </p:spTree>
    <p:extLst>
      <p:ext uri="{BB962C8B-B14F-4D97-AF65-F5344CB8AC3E}">
        <p14:creationId xmlns:p14="http://schemas.microsoft.com/office/powerpoint/2010/main" val="33739483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BC7514A-5FF9-4828-BCDC-5000467DCFB8}" type="datetimeFigureOut">
              <a:rPr lang="en-GB" smtClean="0"/>
              <a:t>31/07/2026</a:t>
            </a:fld>
            <a:endParaRPr lang="en-GB"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76E6C2C-F119-4EE4-8E9D-9B5B22BBF3DC}" type="slidenum">
              <a:rPr lang="en-GB" smtClean="0"/>
              <a:t>‹#›</a:t>
            </a:fld>
            <a:endParaRPr lang="en-GB" dirty="0"/>
          </a:p>
        </p:txBody>
      </p:sp>
    </p:spTree>
    <p:extLst>
      <p:ext uri="{BB962C8B-B14F-4D97-AF65-F5344CB8AC3E}">
        <p14:creationId xmlns:p14="http://schemas.microsoft.com/office/powerpoint/2010/main" val="29318062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6.jpeg"/><Relationship Id="rId2" Type="http://schemas.openxmlformats.org/officeDocument/2006/relationships/slide" Target="slide2.xml"/><Relationship Id="rId1" Type="http://schemas.openxmlformats.org/officeDocument/2006/relationships/slideLayout" Target="../slideLayouts/slideLayout2.xml"/><Relationship Id="rId6" Type="http://schemas.openxmlformats.org/officeDocument/2006/relationships/image" Target="../media/image5.jpeg"/><Relationship Id="rId5" Type="http://schemas.openxmlformats.org/officeDocument/2006/relationships/image" Target="../media/image4.jpeg"/><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3" Type="http://schemas.openxmlformats.org/officeDocument/2006/relationships/image" Target="../media/image8.jpg"/><Relationship Id="rId7" Type="http://schemas.openxmlformats.org/officeDocument/2006/relationships/image" Target="../media/image12.sv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1.svg"/><Relationship Id="rId5" Type="http://schemas.openxmlformats.org/officeDocument/2006/relationships/image" Target="../media/image10.svg"/><Relationship Id="rId4" Type="http://schemas.openxmlformats.org/officeDocument/2006/relationships/image" Target="../media/image9.svg"/></Relationships>
</file>

<file path=ppt/slides/_rels/slide4.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2.svg"/><Relationship Id="rId5" Type="http://schemas.openxmlformats.org/officeDocument/2006/relationships/image" Target="../media/image11.svg"/><Relationship Id="rId4" Type="http://schemas.openxmlformats.org/officeDocument/2006/relationships/image" Target="../media/image10.svg"/></Relationships>
</file>

<file path=ppt/slides/_rels/slide5.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2.svg"/><Relationship Id="rId5" Type="http://schemas.openxmlformats.org/officeDocument/2006/relationships/image" Target="../media/image11.svg"/><Relationship Id="rId4" Type="http://schemas.openxmlformats.org/officeDocument/2006/relationships/image" Target="../media/image10.svg"/></Relationships>
</file>

<file path=ppt/slides/_rels/slide6.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2.svg"/><Relationship Id="rId5" Type="http://schemas.openxmlformats.org/officeDocument/2006/relationships/image" Target="../media/image11.svg"/><Relationship Id="rId4" Type="http://schemas.openxmlformats.org/officeDocument/2006/relationships/image" Target="../media/image10.svg"/></Relationships>
</file>

<file path=ppt/slides/_rels/slide7.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2.svg"/><Relationship Id="rId5" Type="http://schemas.openxmlformats.org/officeDocument/2006/relationships/image" Target="../media/image11.svg"/><Relationship Id="rId4" Type="http://schemas.openxmlformats.org/officeDocument/2006/relationships/image" Target="../media/image10.svg"/></Relationships>
</file>

<file path=ppt/slides/_rels/slide8.xml.rels><?xml version="1.0" encoding="UTF-8" standalone="yes"?>
<Relationships xmlns="http://schemas.openxmlformats.org/package/2006/relationships"><Relationship Id="rId8" Type="http://schemas.openxmlformats.org/officeDocument/2006/relationships/slide" Target="slide12.xml"/><Relationship Id="rId3" Type="http://schemas.openxmlformats.org/officeDocument/2006/relationships/image" Target="../media/image9.svg"/><Relationship Id="rId7" Type="http://schemas.openxmlformats.org/officeDocument/2006/relationships/slide" Target="slide10.xml"/><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2.svg"/><Relationship Id="rId5" Type="http://schemas.openxmlformats.org/officeDocument/2006/relationships/image" Target="../media/image11.svg"/><Relationship Id="rId4" Type="http://schemas.openxmlformats.org/officeDocument/2006/relationships/image" Target="../media/image10.svg"/><Relationship Id="rId9" Type="http://schemas.openxmlformats.org/officeDocument/2006/relationships/slide" Target="slide11.xml"/></Relationships>
</file>

<file path=ppt/slides/_rels/slide9.xml.rels><?xml version="1.0" encoding="UTF-8" standalone="yes"?>
<Relationships xmlns="http://schemas.openxmlformats.org/package/2006/relationships"><Relationship Id="rId3" Type="http://schemas.openxmlformats.org/officeDocument/2006/relationships/image" Target="../media/image14.jpg"/><Relationship Id="rId7" Type="http://schemas.openxmlformats.org/officeDocument/2006/relationships/slide" Target="slide13.xml"/><Relationship Id="rId2" Type="http://schemas.openxmlformats.org/officeDocument/2006/relationships/image" Target="../media/image13.jpeg"/><Relationship Id="rId1" Type="http://schemas.openxmlformats.org/officeDocument/2006/relationships/slideLayout" Target="../slideLayouts/slideLayout2.xml"/><Relationship Id="rId6" Type="http://schemas.openxmlformats.org/officeDocument/2006/relationships/slide" Target="slide11.xml"/><Relationship Id="rId5" Type="http://schemas.openxmlformats.org/officeDocument/2006/relationships/slide" Target="slide12.xml"/><Relationship Id="rId4" Type="http://schemas.openxmlformats.org/officeDocument/2006/relationships/slide" Target="slide10.xml"/></Relationships>
</file>

<file path=ppt/slides/_rels/slide10.xml.rels><?xml version="1.0" encoding="UTF-8" standalone="yes"?>
<Relationships xmlns="http://schemas.openxmlformats.org/package/2006/relationships"><Relationship Id="rId3" Type="http://schemas.openxmlformats.org/officeDocument/2006/relationships/slide" Target="slide9.xml"/><Relationship Id="rId2" Type="http://schemas.openxmlformats.org/officeDocument/2006/relationships/image" Target="../media/image8.jp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slide" Target="slide11.xml"/><Relationship Id="rId2" Type="http://schemas.openxmlformats.org/officeDocument/2006/relationships/image" Target="../media/image8.jpg"/><Relationship Id="rId1" Type="http://schemas.openxmlformats.org/officeDocument/2006/relationships/slideLayout" Target="../slideLayouts/slideLayout2.xml"/><Relationship Id="rId5" Type="http://schemas.openxmlformats.org/officeDocument/2006/relationships/slide" Target="slide9.xml"/><Relationship Id="rId4" Type="http://schemas.openxmlformats.org/officeDocument/2006/relationships/image" Target="../media/image16.gif"/></Relationships>
</file>

<file path=ppt/slides/_rels/slide12.xml.rels><?xml version="1.0" encoding="UTF-8" standalone="yes"?>
<Relationships xmlns="http://schemas.openxmlformats.org/package/2006/relationships"><Relationship Id="rId3" Type="http://schemas.openxmlformats.org/officeDocument/2006/relationships/slide" Target="slide9.xml"/><Relationship Id="rId2" Type="http://schemas.openxmlformats.org/officeDocument/2006/relationships/image" Target="../media/image8.jp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8" Type="http://schemas.openxmlformats.org/officeDocument/2006/relationships/image" Target="../media/image23.svg"/><Relationship Id="rId3" Type="http://schemas.openxmlformats.org/officeDocument/2006/relationships/image" Target="../media/image18.svg"/><Relationship Id="rId7" Type="http://schemas.openxmlformats.org/officeDocument/2006/relationships/image" Target="../media/image22.svg"/><Relationship Id="rId2" Type="http://schemas.openxmlformats.org/officeDocument/2006/relationships/image" Target="../media/image13.jpeg"/><Relationship Id="rId1" Type="http://schemas.openxmlformats.org/officeDocument/2006/relationships/slideLayout" Target="../slideLayouts/slideLayout2.xml"/><Relationship Id="rId6" Type="http://schemas.openxmlformats.org/officeDocument/2006/relationships/image" Target="../media/image21.svg"/><Relationship Id="rId5" Type="http://schemas.openxmlformats.org/officeDocument/2006/relationships/image" Target="../media/image20.svg"/><Relationship Id="rId4" Type="http://schemas.openxmlformats.org/officeDocument/2006/relationships/image" Target="../media/image19.svg"/></Relationships>
</file>

<file path=ppt/slides/_rels/slide14.xml.rels><?xml version="1.0" encoding="UTF-8" standalone="yes"?>
<Relationships xmlns="http://schemas.openxmlformats.org/package/2006/relationships"><Relationship Id="rId8" Type="http://schemas.openxmlformats.org/officeDocument/2006/relationships/image" Target="../media/image23.svg"/><Relationship Id="rId3" Type="http://schemas.openxmlformats.org/officeDocument/2006/relationships/image" Target="../media/image18.svg"/><Relationship Id="rId7" Type="http://schemas.openxmlformats.org/officeDocument/2006/relationships/image" Target="../media/image22.svg"/><Relationship Id="rId2" Type="http://schemas.openxmlformats.org/officeDocument/2006/relationships/image" Target="../media/image13.jpeg"/><Relationship Id="rId1" Type="http://schemas.openxmlformats.org/officeDocument/2006/relationships/slideLayout" Target="../slideLayouts/slideLayout2.xml"/><Relationship Id="rId6" Type="http://schemas.openxmlformats.org/officeDocument/2006/relationships/image" Target="../media/image21.svg"/><Relationship Id="rId5" Type="http://schemas.openxmlformats.org/officeDocument/2006/relationships/image" Target="../media/image20.svg"/><Relationship Id="rId4" Type="http://schemas.openxmlformats.org/officeDocument/2006/relationships/image" Target="../media/image19.svg"/></Relationships>
</file>

<file path=ppt/slides/_rels/slide15.xml.rels><?xml version="1.0" encoding="UTF-8" standalone="yes"?>
<Relationships xmlns="http://schemas.openxmlformats.org/package/2006/relationships"><Relationship Id="rId8" Type="http://schemas.openxmlformats.org/officeDocument/2006/relationships/image" Target="../media/image23.svg"/><Relationship Id="rId3" Type="http://schemas.openxmlformats.org/officeDocument/2006/relationships/image" Target="../media/image18.svg"/><Relationship Id="rId7" Type="http://schemas.openxmlformats.org/officeDocument/2006/relationships/image" Target="../media/image22.svg"/><Relationship Id="rId2" Type="http://schemas.openxmlformats.org/officeDocument/2006/relationships/image" Target="../media/image13.jpeg"/><Relationship Id="rId1" Type="http://schemas.openxmlformats.org/officeDocument/2006/relationships/slideLayout" Target="../slideLayouts/slideLayout2.xml"/><Relationship Id="rId6" Type="http://schemas.openxmlformats.org/officeDocument/2006/relationships/image" Target="../media/image21.svg"/><Relationship Id="rId5" Type="http://schemas.openxmlformats.org/officeDocument/2006/relationships/image" Target="../media/image20.svg"/><Relationship Id="rId4" Type="http://schemas.openxmlformats.org/officeDocument/2006/relationships/image" Target="../media/image19.svg"/></Relationships>
</file>

<file path=ppt/slides/_rels/slide16.xml.rels><?xml version="1.0" encoding="UTF-8" standalone="yes"?>
<Relationships xmlns="http://schemas.openxmlformats.org/package/2006/relationships"><Relationship Id="rId8" Type="http://schemas.openxmlformats.org/officeDocument/2006/relationships/image" Target="../media/image23.svg"/><Relationship Id="rId3" Type="http://schemas.openxmlformats.org/officeDocument/2006/relationships/image" Target="../media/image18.svg"/><Relationship Id="rId7" Type="http://schemas.openxmlformats.org/officeDocument/2006/relationships/image" Target="../media/image22.svg"/><Relationship Id="rId2" Type="http://schemas.openxmlformats.org/officeDocument/2006/relationships/image" Target="../media/image13.jpeg"/><Relationship Id="rId1" Type="http://schemas.openxmlformats.org/officeDocument/2006/relationships/slideLayout" Target="../slideLayouts/slideLayout2.xml"/><Relationship Id="rId6" Type="http://schemas.openxmlformats.org/officeDocument/2006/relationships/image" Target="../media/image21.svg"/><Relationship Id="rId5" Type="http://schemas.openxmlformats.org/officeDocument/2006/relationships/image" Target="../media/image20.svg"/><Relationship Id="rId4" Type="http://schemas.openxmlformats.org/officeDocument/2006/relationships/image" Target="../media/image19.svg"/></Relationships>
</file>

<file path=ppt/slides/_rels/slide17.xml.rels><?xml version="1.0" encoding="UTF-8" standalone="yes"?>
<Relationships xmlns="http://schemas.openxmlformats.org/package/2006/relationships"><Relationship Id="rId8" Type="http://schemas.openxmlformats.org/officeDocument/2006/relationships/image" Target="../media/image23.svg"/><Relationship Id="rId3" Type="http://schemas.openxmlformats.org/officeDocument/2006/relationships/image" Target="../media/image18.svg"/><Relationship Id="rId7" Type="http://schemas.openxmlformats.org/officeDocument/2006/relationships/image" Target="../media/image22.svg"/><Relationship Id="rId2" Type="http://schemas.openxmlformats.org/officeDocument/2006/relationships/image" Target="../media/image13.jpeg"/><Relationship Id="rId1" Type="http://schemas.openxmlformats.org/officeDocument/2006/relationships/slideLayout" Target="../slideLayouts/slideLayout2.xml"/><Relationship Id="rId6" Type="http://schemas.openxmlformats.org/officeDocument/2006/relationships/image" Target="../media/image21.svg"/><Relationship Id="rId5" Type="http://schemas.openxmlformats.org/officeDocument/2006/relationships/image" Target="../media/image20.svg"/><Relationship Id="rId4" Type="http://schemas.openxmlformats.org/officeDocument/2006/relationships/image" Target="../media/image19.svg"/></Relationships>
</file>

<file path=ppt/slides/_rels/slide18.xml.rels><?xml version="1.0" encoding="UTF-8" standalone="yes"?>
<Relationships xmlns="http://schemas.openxmlformats.org/package/2006/relationships"><Relationship Id="rId8" Type="http://schemas.openxmlformats.org/officeDocument/2006/relationships/image" Target="../media/image23.svg"/><Relationship Id="rId3" Type="http://schemas.openxmlformats.org/officeDocument/2006/relationships/image" Target="../media/image18.svg"/><Relationship Id="rId7" Type="http://schemas.openxmlformats.org/officeDocument/2006/relationships/image" Target="../media/image22.svg"/><Relationship Id="rId2" Type="http://schemas.openxmlformats.org/officeDocument/2006/relationships/image" Target="../media/image13.jpeg"/><Relationship Id="rId1" Type="http://schemas.openxmlformats.org/officeDocument/2006/relationships/slideLayout" Target="../slideLayouts/slideLayout2.xml"/><Relationship Id="rId6" Type="http://schemas.openxmlformats.org/officeDocument/2006/relationships/image" Target="../media/image21.svg"/><Relationship Id="rId5" Type="http://schemas.openxmlformats.org/officeDocument/2006/relationships/image" Target="../media/image20.svg"/><Relationship Id="rId4" Type="http://schemas.openxmlformats.org/officeDocument/2006/relationships/image" Target="../media/image19.svg"/></Relationships>
</file>

<file path=ppt/slides/_rels/slide19.xml.rels><?xml version="1.0" encoding="UTF-8" standalone="yes"?>
<Relationships xmlns="http://schemas.openxmlformats.org/package/2006/relationships"><Relationship Id="rId8" Type="http://schemas.openxmlformats.org/officeDocument/2006/relationships/image" Target="../media/image22.svg"/><Relationship Id="rId3" Type="http://schemas.openxmlformats.org/officeDocument/2006/relationships/image" Target="../media/image13.jpeg"/><Relationship Id="rId7" Type="http://schemas.openxmlformats.org/officeDocument/2006/relationships/image" Target="../media/image21.svg"/><Relationship Id="rId2" Type="http://schemas.openxmlformats.org/officeDocument/2006/relationships/image" Target="../media/image24.jpeg"/><Relationship Id="rId1" Type="http://schemas.openxmlformats.org/officeDocument/2006/relationships/slideLayout" Target="../slideLayouts/slideLayout2.xml"/><Relationship Id="rId6" Type="http://schemas.openxmlformats.org/officeDocument/2006/relationships/image" Target="../media/image20.svg"/><Relationship Id="rId5" Type="http://schemas.openxmlformats.org/officeDocument/2006/relationships/image" Target="../media/image19.svg"/><Relationship Id="rId4" Type="http://schemas.openxmlformats.org/officeDocument/2006/relationships/image" Target="../media/image18.svg"/><Relationship Id="rId9" Type="http://schemas.openxmlformats.org/officeDocument/2006/relationships/image" Target="../media/image23.svg"/></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jpeg"/><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21.xml.rels><?xml version="1.0" encoding="UTF-8" standalone="yes"?>
<Relationships xmlns="http://schemas.openxmlformats.org/package/2006/relationships"><Relationship Id="rId3" Type="http://schemas.openxmlformats.org/officeDocument/2006/relationships/image" Target="../media/image24.jpeg"/><Relationship Id="rId7" Type="http://schemas.openxmlformats.org/officeDocument/2006/relationships/image" Target="../media/image28.png"/><Relationship Id="rId2" Type="http://schemas.openxmlformats.org/officeDocument/2006/relationships/image" Target="../media/image29.jpeg"/><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22.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30.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31.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image" Target="../media/image32.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636776" y="0"/>
            <a:ext cx="10555224" cy="5705856"/>
            <a:chOff x="1740060" y="0"/>
            <a:chExt cx="10451940" cy="5631924"/>
          </a:xfrm>
        </p:grpSpPr>
        <p:sp>
          <p:nvSpPr>
            <p:cNvPr id="6" name="Rectangle 5"/>
            <p:cNvSpPr/>
            <p:nvPr/>
          </p:nvSpPr>
          <p:spPr>
            <a:xfrm>
              <a:off x="1740060" y="0"/>
              <a:ext cx="10451940" cy="5486400"/>
            </a:xfrm>
            <a:prstGeom prst="rect">
              <a:avLst/>
            </a:prstGeom>
            <a:solidFill>
              <a:srgbClr val="0A4664"/>
            </a:solidFill>
            <a:effectLst>
              <a:innerShdw blurRad="1270000">
                <a:srgbClr val="214D66"/>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p:cNvSpPr/>
            <p:nvPr/>
          </p:nvSpPr>
          <p:spPr>
            <a:xfrm>
              <a:off x="2577297" y="258501"/>
              <a:ext cx="9352344" cy="4163026"/>
            </a:xfrm>
            <a:prstGeom prst="rect">
              <a:avLst/>
            </a:prstGeom>
            <a:solidFill>
              <a:srgbClr val="00577B"/>
            </a:solidFill>
            <a:ln>
              <a:noFill/>
            </a:ln>
            <a:effectLst>
              <a:innerShdw blurRad="1270000">
                <a:srgbClr val="025776"/>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9" name="Rectangle 8"/>
            <p:cNvSpPr/>
            <p:nvPr/>
          </p:nvSpPr>
          <p:spPr>
            <a:xfrm>
              <a:off x="2884025" y="476137"/>
              <a:ext cx="8738887" cy="3581408"/>
            </a:xfrm>
            <a:prstGeom prst="rect">
              <a:avLst/>
            </a:prstGeom>
            <a:solidFill>
              <a:srgbClr val="03628D"/>
            </a:solidFill>
            <a:ln>
              <a:noFill/>
            </a:ln>
            <a:effectLst>
              <a:innerShdw blurRad="1270000">
                <a:srgbClr val="025776"/>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0" name="Rectangle 9"/>
            <p:cNvSpPr/>
            <p:nvPr/>
          </p:nvSpPr>
          <p:spPr>
            <a:xfrm>
              <a:off x="3122383" y="697735"/>
              <a:ext cx="8262169" cy="3138212"/>
            </a:xfrm>
            <a:prstGeom prst="rect">
              <a:avLst/>
            </a:prstGeom>
            <a:solidFill>
              <a:srgbClr val="00789B"/>
            </a:solidFill>
            <a:ln>
              <a:noFill/>
            </a:ln>
            <a:effectLst>
              <a:innerShdw blurRad="1270000">
                <a:srgbClr val="025776"/>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Rectangle 6"/>
            <p:cNvSpPr/>
            <p:nvPr/>
          </p:nvSpPr>
          <p:spPr>
            <a:xfrm>
              <a:off x="2341295" y="913312"/>
              <a:ext cx="8796760" cy="4718612"/>
            </a:xfrm>
            <a:prstGeom prst="rect">
              <a:avLst/>
            </a:prstGeom>
            <a:solidFill>
              <a:srgbClr val="0079A0"/>
            </a:solidFill>
            <a:effectLst>
              <a:innerShdw blurRad="1270000">
                <a:srgbClr val="0079A0"/>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15" name="Regular Pentagon 14"/>
          <p:cNvSpPr/>
          <p:nvPr/>
        </p:nvSpPr>
        <p:spPr>
          <a:xfrm rot="202360">
            <a:off x="3854949" y="1323513"/>
            <a:ext cx="9757458" cy="7441062"/>
          </a:xfrm>
          <a:prstGeom prst="pentagon">
            <a:avLst/>
          </a:prstGeom>
          <a:blipFill dpi="0" rotWithShape="1">
            <a:blip r:embed="rId2">
              <a:extLst>
                <a:ext uri="{28A0092B-C50C-407E-A947-70E740481C1C}">
                  <a14:useLocalDpi xmlns:a14="http://schemas.microsoft.com/office/drawing/2010/main" val="0"/>
                </a:ext>
              </a:extLst>
            </a:blip>
            <a:srcRect/>
            <a:stretch>
              <a:fillRect l="-4877" t="2081" r="3" b="-63"/>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p:cNvSpPr/>
          <p:nvPr/>
        </p:nvSpPr>
        <p:spPr>
          <a:xfrm rot="18481079">
            <a:off x="-2094508" y="125969"/>
            <a:ext cx="10634276" cy="6853390"/>
          </a:xfrm>
          <a:prstGeom prst="rect">
            <a:avLst/>
          </a:prstGeom>
          <a:solidFill>
            <a:srgbClr val="0079A0"/>
          </a:solidFill>
          <a:effectLst>
            <a:innerShdw blurRad="1219200">
              <a:prstClr val="black">
                <a:alpha val="4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6" name="Rectangle 15"/>
          <p:cNvSpPr/>
          <p:nvPr/>
        </p:nvSpPr>
        <p:spPr>
          <a:xfrm>
            <a:off x="6641" y="2429233"/>
            <a:ext cx="7258401" cy="23380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600" b="1" dirty="0">
                <a:latin typeface="Bahnschrift" panose="020B0502040204020203" pitchFamily="34" charset="0"/>
              </a:rPr>
              <a:t>LAUNDRY MANAGEMENT</a:t>
            </a:r>
          </a:p>
          <a:p>
            <a:pPr algn="ctr"/>
            <a:r>
              <a:rPr lang="en-GB" sz="3600" b="1" dirty="0">
                <a:latin typeface="Bahnschrift" panose="020B0502040204020203" pitchFamily="34" charset="0"/>
              </a:rPr>
              <a:t> SYSTEM</a:t>
            </a:r>
          </a:p>
        </p:txBody>
      </p:sp>
      <p:sp>
        <p:nvSpPr>
          <p:cNvPr id="17" name="Rectangle 16"/>
          <p:cNvSpPr/>
          <p:nvPr/>
        </p:nvSpPr>
        <p:spPr>
          <a:xfrm>
            <a:off x="0" y="1623579"/>
            <a:ext cx="7258401" cy="23380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000" dirty="0">
                <a:latin typeface="Bahnschrift Light" panose="020B0502040204020203" pitchFamily="34" charset="0"/>
                <a:cs typeface="Arial" panose="020B0604020202020204" pitchFamily="34" charset="0"/>
              </a:rPr>
              <a:t>The Project Titled on</a:t>
            </a:r>
          </a:p>
        </p:txBody>
      </p:sp>
    </p:spTree>
    <p:extLst>
      <p:ext uri="{BB962C8B-B14F-4D97-AF65-F5344CB8AC3E}">
        <p14:creationId xmlns:p14="http://schemas.microsoft.com/office/powerpoint/2010/main" val="383629897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1B6F95-CC89-C233-C82B-BC7F6918066B}"/>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F4F9481F-805D-B13B-033F-631AE843F214}"/>
              </a:ext>
            </a:extLst>
          </p:cNvPr>
          <p:cNvSpPr/>
          <p:nvPr/>
        </p:nvSpPr>
        <p:spPr>
          <a:xfrm>
            <a:off x="1" y="0"/>
            <a:ext cx="12192000" cy="6877199"/>
          </a:xfrm>
          <a:prstGeom prst="rect">
            <a:avLst/>
          </a:prstGeom>
          <a:solidFill>
            <a:srgbClr val="00537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7" name="Rectangle 16">
            <a:extLst>
              <a:ext uri="{FF2B5EF4-FFF2-40B4-BE49-F238E27FC236}">
                <a16:creationId xmlns:a16="http://schemas.microsoft.com/office/drawing/2014/main" id="{36C60790-BD0E-2305-69EC-A770F346265B}"/>
              </a:ext>
            </a:extLst>
          </p:cNvPr>
          <p:cNvSpPr/>
          <p:nvPr/>
        </p:nvSpPr>
        <p:spPr>
          <a:xfrm>
            <a:off x="-27869" y="-233032"/>
            <a:ext cx="12247738" cy="7110232"/>
          </a:xfrm>
          <a:prstGeom prst="rect">
            <a:avLst/>
          </a:prstGeom>
          <a:solidFill>
            <a:srgbClr val="000000">
              <a:alpha val="60000"/>
            </a:srgb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GB"/>
          </a:p>
        </p:txBody>
      </p:sp>
      <p:sp>
        <p:nvSpPr>
          <p:cNvPr id="6" name="Week 1">
            <a:hlinkClick r:id="rId2" action="ppaction://hlinksldjump"/>
            <a:extLst>
              <a:ext uri="{FF2B5EF4-FFF2-40B4-BE49-F238E27FC236}">
                <a16:creationId xmlns:a16="http://schemas.microsoft.com/office/drawing/2014/main" id="{84AB1559-2B8C-8C7C-BB60-077102D0092A}"/>
              </a:ext>
            </a:extLst>
          </p:cNvPr>
          <p:cNvSpPr/>
          <p:nvPr/>
        </p:nvSpPr>
        <p:spPr>
          <a:xfrm>
            <a:off x="3803534" y="773744"/>
            <a:ext cx="4584932" cy="527514"/>
          </a:xfrm>
          <a:prstGeom prst="homePlate">
            <a:avLst/>
          </a:prstGeom>
          <a:no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400" b="1" dirty="0">
                <a:solidFill>
                  <a:schemeClr val="bg1"/>
                </a:solidFill>
                <a:latin typeface="Bahnschrift SemiBold" panose="020B0502040204020203" pitchFamily="34" charset="0"/>
                <a:cs typeface="Dubai Light" panose="020B0303030403030204" pitchFamily="34" charset="-78"/>
              </a:rPr>
              <a:t>TEAM MEMBERS</a:t>
            </a:r>
          </a:p>
        </p:txBody>
      </p:sp>
      <p:sp>
        <p:nvSpPr>
          <p:cNvPr id="38" name="Rectangle 37">
            <a:extLst>
              <a:ext uri="{FF2B5EF4-FFF2-40B4-BE49-F238E27FC236}">
                <a16:creationId xmlns:a16="http://schemas.microsoft.com/office/drawing/2014/main" id="{51286421-4BB2-1A6F-0E53-CFB7CC93E956}"/>
              </a:ext>
            </a:extLst>
          </p:cNvPr>
          <p:cNvSpPr/>
          <p:nvPr/>
        </p:nvSpPr>
        <p:spPr>
          <a:xfrm>
            <a:off x="810332" y="3989295"/>
            <a:ext cx="2286000" cy="708197"/>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en-GB" sz="1600" dirty="0">
                <a:solidFill>
                  <a:schemeClr val="bg1"/>
                </a:solidFill>
                <a:latin typeface="Bahnschrift" panose="020B0502040204020203" pitchFamily="34" charset="0"/>
              </a:rPr>
              <a:t>SAMRAT ADHIKARI</a:t>
            </a:r>
          </a:p>
        </p:txBody>
      </p:sp>
      <p:sp>
        <p:nvSpPr>
          <p:cNvPr id="46" name="Rectangle 45">
            <a:extLst>
              <a:ext uri="{FF2B5EF4-FFF2-40B4-BE49-F238E27FC236}">
                <a16:creationId xmlns:a16="http://schemas.microsoft.com/office/drawing/2014/main" id="{5F23F3E1-553D-4D15-6748-9898F38687AB}"/>
              </a:ext>
            </a:extLst>
          </p:cNvPr>
          <p:cNvSpPr/>
          <p:nvPr/>
        </p:nvSpPr>
        <p:spPr>
          <a:xfrm>
            <a:off x="6889378" y="3968212"/>
            <a:ext cx="2286000" cy="708197"/>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en-GB" sz="1600" dirty="0">
                <a:solidFill>
                  <a:schemeClr val="bg1"/>
                </a:solidFill>
                <a:latin typeface="Bahnschrift" panose="020B0502040204020203" pitchFamily="34" charset="0"/>
              </a:rPr>
              <a:t>MILAN AWASTHI</a:t>
            </a:r>
          </a:p>
        </p:txBody>
      </p:sp>
      <p:sp>
        <p:nvSpPr>
          <p:cNvPr id="53" name="Rectangle 52">
            <a:extLst>
              <a:ext uri="{FF2B5EF4-FFF2-40B4-BE49-F238E27FC236}">
                <a16:creationId xmlns:a16="http://schemas.microsoft.com/office/drawing/2014/main" id="{C8C57AEC-40ED-0D93-1915-B6D7E51DAD82}"/>
              </a:ext>
            </a:extLst>
          </p:cNvPr>
          <p:cNvSpPr/>
          <p:nvPr/>
        </p:nvSpPr>
        <p:spPr>
          <a:xfrm>
            <a:off x="8962953" y="3968211"/>
            <a:ext cx="2286000" cy="708197"/>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en-GB" sz="1600" dirty="0">
                <a:solidFill>
                  <a:schemeClr val="bg1"/>
                </a:solidFill>
                <a:latin typeface="Bahnschrift" panose="020B0502040204020203" pitchFamily="34" charset="0"/>
              </a:rPr>
              <a:t>BIRAT KUMAR BARAL</a:t>
            </a:r>
          </a:p>
        </p:txBody>
      </p:sp>
      <p:sp>
        <p:nvSpPr>
          <p:cNvPr id="59" name="Rectangle 58">
            <a:extLst>
              <a:ext uri="{FF2B5EF4-FFF2-40B4-BE49-F238E27FC236}">
                <a16:creationId xmlns:a16="http://schemas.microsoft.com/office/drawing/2014/main" id="{5F93D90F-EF18-6088-B40B-E4EF7FA342EF}"/>
              </a:ext>
            </a:extLst>
          </p:cNvPr>
          <p:cNvSpPr/>
          <p:nvPr/>
        </p:nvSpPr>
        <p:spPr>
          <a:xfrm>
            <a:off x="3016624" y="3989295"/>
            <a:ext cx="2286000" cy="708197"/>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en-GB" sz="1600" dirty="0">
                <a:solidFill>
                  <a:schemeClr val="bg1"/>
                </a:solidFill>
                <a:latin typeface="Bahnschrift" panose="020B0502040204020203" pitchFamily="34" charset="0"/>
              </a:rPr>
              <a:t>SHUVAM ADHIKARI</a:t>
            </a:r>
          </a:p>
        </p:txBody>
      </p:sp>
      <p:sp>
        <p:nvSpPr>
          <p:cNvPr id="62" name="Rectangle 61">
            <a:extLst>
              <a:ext uri="{FF2B5EF4-FFF2-40B4-BE49-F238E27FC236}">
                <a16:creationId xmlns:a16="http://schemas.microsoft.com/office/drawing/2014/main" id="{7AA8BCED-7085-49D1-B4C5-12E8E9AAA4DE}"/>
              </a:ext>
            </a:extLst>
          </p:cNvPr>
          <p:cNvSpPr/>
          <p:nvPr/>
        </p:nvSpPr>
        <p:spPr>
          <a:xfrm>
            <a:off x="5053853" y="3968213"/>
            <a:ext cx="2286000" cy="708197"/>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en-GB" sz="1600" dirty="0">
                <a:solidFill>
                  <a:schemeClr val="bg1"/>
                </a:solidFill>
                <a:latin typeface="Bahnschrift" panose="020B0502040204020203" pitchFamily="34" charset="0"/>
              </a:rPr>
              <a:t>PRAJWAL BADAL</a:t>
            </a:r>
          </a:p>
        </p:txBody>
      </p:sp>
      <p:sp>
        <p:nvSpPr>
          <p:cNvPr id="69" name="Flowchart: Connector 68">
            <a:extLst>
              <a:ext uri="{FF2B5EF4-FFF2-40B4-BE49-F238E27FC236}">
                <a16:creationId xmlns:a16="http://schemas.microsoft.com/office/drawing/2014/main" id="{FCA307CE-FFDE-B365-5D46-52E10D57A9F4}"/>
              </a:ext>
            </a:extLst>
          </p:cNvPr>
          <p:cNvSpPr/>
          <p:nvPr/>
        </p:nvSpPr>
        <p:spPr>
          <a:xfrm>
            <a:off x="956983" y="2145151"/>
            <a:ext cx="1795182" cy="1844144"/>
          </a:xfrm>
          <a:prstGeom prst="flowChartConnector">
            <a:avLst/>
          </a:prstGeom>
          <a:blipFill>
            <a:blip r:embed="rId3"/>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2" name="Flowchart: Connector 71">
            <a:extLst>
              <a:ext uri="{FF2B5EF4-FFF2-40B4-BE49-F238E27FC236}">
                <a16:creationId xmlns:a16="http://schemas.microsoft.com/office/drawing/2014/main" id="{CAE8B55E-1AD5-F969-290C-C9DFA68AC7A3}"/>
              </a:ext>
            </a:extLst>
          </p:cNvPr>
          <p:cNvSpPr/>
          <p:nvPr/>
        </p:nvSpPr>
        <p:spPr>
          <a:xfrm>
            <a:off x="3262033" y="2134610"/>
            <a:ext cx="1795182" cy="1844144"/>
          </a:xfrm>
          <a:prstGeom prst="flowChartConnector">
            <a:avLst/>
          </a:prstGeom>
          <a:blipFill dpi="0" rotWithShape="1">
            <a:blip r:embed="rId4" cstate="print">
              <a:extLst>
                <a:ext uri="{28A0092B-C50C-407E-A947-70E740481C1C}">
                  <a14:useLocalDpi xmlns:a14="http://schemas.microsoft.com/office/drawing/2010/main" val="0"/>
                </a:ext>
              </a:extLst>
            </a:blip>
            <a:srcRect/>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4" name="Flowchart: Connector 73">
            <a:extLst>
              <a:ext uri="{FF2B5EF4-FFF2-40B4-BE49-F238E27FC236}">
                <a16:creationId xmlns:a16="http://schemas.microsoft.com/office/drawing/2014/main" id="{979870DC-BDC5-7162-16D2-66E223BF6476}"/>
              </a:ext>
            </a:extLst>
          </p:cNvPr>
          <p:cNvSpPr/>
          <p:nvPr/>
        </p:nvSpPr>
        <p:spPr>
          <a:xfrm>
            <a:off x="5299262" y="2207904"/>
            <a:ext cx="1795182" cy="1844144"/>
          </a:xfrm>
          <a:prstGeom prst="flowChartConnector">
            <a:avLst/>
          </a:prstGeom>
          <a:blipFill dpi="0" rotWithShape="1">
            <a:blip r:embed="rId5" cstate="print">
              <a:extLst>
                <a:ext uri="{28A0092B-C50C-407E-A947-70E740481C1C}">
                  <a14:useLocalDpi xmlns:a14="http://schemas.microsoft.com/office/drawing/2010/main" val="0"/>
                </a:ext>
              </a:extLst>
            </a:blip>
            <a:srcRect/>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6" name="Flowchart: Connector 75">
            <a:extLst>
              <a:ext uri="{FF2B5EF4-FFF2-40B4-BE49-F238E27FC236}">
                <a16:creationId xmlns:a16="http://schemas.microsoft.com/office/drawing/2014/main" id="{7523B705-6613-C403-8179-E1A36C3CD712}"/>
              </a:ext>
            </a:extLst>
          </p:cNvPr>
          <p:cNvSpPr/>
          <p:nvPr/>
        </p:nvSpPr>
        <p:spPr>
          <a:xfrm>
            <a:off x="7280707" y="2207904"/>
            <a:ext cx="1795182" cy="1844144"/>
          </a:xfrm>
          <a:prstGeom prst="flowChartConnector">
            <a:avLst/>
          </a:prstGeom>
          <a:blipFill>
            <a:blip r:embed="rId6" cstate="print">
              <a:extLst>
                <a:ext uri="{28A0092B-C50C-407E-A947-70E740481C1C}">
                  <a14:useLocalDpi xmlns:a14="http://schemas.microsoft.com/office/drawing/2010/main" val="0"/>
                </a:ext>
              </a:extLst>
            </a:blip>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8" name="Flowchart: Connector 77">
            <a:extLst>
              <a:ext uri="{FF2B5EF4-FFF2-40B4-BE49-F238E27FC236}">
                <a16:creationId xmlns:a16="http://schemas.microsoft.com/office/drawing/2014/main" id="{20A50A2D-E9EA-3710-1AFA-CE801436E0C9}"/>
              </a:ext>
            </a:extLst>
          </p:cNvPr>
          <p:cNvSpPr/>
          <p:nvPr/>
        </p:nvSpPr>
        <p:spPr>
          <a:xfrm>
            <a:off x="9334746" y="2145151"/>
            <a:ext cx="1795182" cy="1844144"/>
          </a:xfrm>
          <a:prstGeom prst="flowChartConnector">
            <a:avLst/>
          </a:prstGeom>
          <a:blipFill dpi="0" rotWithShape="1">
            <a:blip r:embed="rId7" cstate="print">
              <a:extLst>
                <a:ext uri="{28A0092B-C50C-407E-A947-70E740481C1C}">
                  <a14:useLocalDpi xmlns:a14="http://schemas.microsoft.com/office/drawing/2010/main" val="0"/>
                </a:ext>
              </a:extLst>
            </a:blip>
            <a:srcRect/>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0" name="Pentagon 57">
            <a:extLst>
              <a:ext uri="{FF2B5EF4-FFF2-40B4-BE49-F238E27FC236}">
                <a16:creationId xmlns:a16="http://schemas.microsoft.com/office/drawing/2014/main" id="{364FBFA0-707E-8D9A-C02B-D1A07CC03689}"/>
              </a:ext>
            </a:extLst>
          </p:cNvPr>
          <p:cNvSpPr/>
          <p:nvPr/>
        </p:nvSpPr>
        <p:spPr>
          <a:xfrm>
            <a:off x="-670915" y="7777586"/>
            <a:ext cx="6475561" cy="527514"/>
          </a:xfrm>
          <a:prstGeom prst="homePlate">
            <a:avLst/>
          </a:prstGeom>
          <a:no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400" b="1" dirty="0">
                <a:solidFill>
                  <a:schemeClr val="bg1"/>
                </a:solidFill>
                <a:latin typeface="Bahnschrift" panose="020B0502040204020203" pitchFamily="34" charset="0"/>
                <a:cs typeface="Dubai Light" panose="020B0303030403030204" pitchFamily="34" charset="-78"/>
              </a:rPr>
              <a:t>ABOUT OUR</a:t>
            </a:r>
          </a:p>
          <a:p>
            <a:pPr algn="ctr"/>
            <a:r>
              <a:rPr lang="en-GB" sz="4400" b="1" dirty="0">
                <a:solidFill>
                  <a:schemeClr val="bg1"/>
                </a:solidFill>
                <a:latin typeface="Bahnschrift" panose="020B0502040204020203" pitchFamily="34" charset="0"/>
                <a:cs typeface="Dubai Light" panose="020B0303030403030204" pitchFamily="34" charset="-78"/>
              </a:rPr>
              <a:t> PROJECT</a:t>
            </a:r>
          </a:p>
        </p:txBody>
      </p:sp>
      <p:sp>
        <p:nvSpPr>
          <p:cNvPr id="82" name="Rectangle 2">
            <a:extLst>
              <a:ext uri="{FF2B5EF4-FFF2-40B4-BE49-F238E27FC236}">
                <a16:creationId xmlns:a16="http://schemas.microsoft.com/office/drawing/2014/main" id="{0BB83528-004C-430E-2C09-D481148B9595}"/>
              </a:ext>
            </a:extLst>
          </p:cNvPr>
          <p:cNvSpPr>
            <a:spLocks noChangeArrowheads="1"/>
          </p:cNvSpPr>
          <p:nvPr/>
        </p:nvSpPr>
        <p:spPr bwMode="auto">
          <a:xfrm>
            <a:off x="5364067" y="-2653003"/>
            <a:ext cx="6855802" cy="15195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GB" sz="1600" dirty="0">
                <a:solidFill>
                  <a:schemeClr val="bg1"/>
                </a:solidFill>
                <a:latin typeface="Bahnschrift" panose="020B0502040204020203" pitchFamily="34" charset="0"/>
              </a:rPr>
              <a:t>Desktop-based Laundry Management System. Designed to simplify daily laundry operations. Allows owners to add and manage customer orders. Tracks order progress by updating laundry status. Generates bills for completed orders quickly and accurately.</a:t>
            </a:r>
          </a:p>
        </p:txBody>
      </p:sp>
    </p:spTree>
    <p:extLst>
      <p:ext uri="{BB962C8B-B14F-4D97-AF65-F5344CB8AC3E}">
        <p14:creationId xmlns:p14="http://schemas.microsoft.com/office/powerpoint/2010/main" val="200751555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190756-572D-29E8-A9AF-9E4780D087DC}"/>
            </a:ext>
          </a:extLst>
        </p:cNvPr>
        <p:cNvGrpSpPr/>
        <p:nvPr/>
      </p:nvGrpSpPr>
      <p:grpSpPr>
        <a:xfrm>
          <a:off x="0" y="0"/>
          <a:ext cx="0" cy="0"/>
          <a:chOff x="0" y="0"/>
          <a:chExt cx="0" cy="0"/>
        </a:xfrm>
      </p:grpSpPr>
      <p:pic>
        <p:nvPicPr>
          <p:cNvPr id="69" name="Picture 68">
            <a:extLst>
              <a:ext uri="{FF2B5EF4-FFF2-40B4-BE49-F238E27FC236}">
                <a16:creationId xmlns:a16="http://schemas.microsoft.com/office/drawing/2014/main" id="{0A103449-B344-F069-6182-AB08BC659DC5}"/>
              </a:ext>
            </a:extLst>
          </p:cNvPr>
          <p:cNvPicPr>
            <a:picLocks noChangeAspect="1"/>
          </p:cNvPicPr>
          <p:nvPr/>
        </p:nvPicPr>
        <p:blipFill>
          <a:blip r:embed="rId2">
            <a:extLst>
              <a:ext uri="{28A0092B-C50C-407E-A947-70E740481C1C}">
                <a14:useLocalDpi xmlns:a14="http://schemas.microsoft.com/office/drawing/2010/main" val="0"/>
              </a:ext>
            </a:extLst>
          </a:blip>
          <a:srcRect l="429" r="429"/>
          <a:stretch/>
        </p:blipFill>
        <p:spPr>
          <a:xfrm>
            <a:off x="1" y="7491212"/>
            <a:ext cx="12192000" cy="6862830"/>
          </a:xfrm>
          <a:prstGeom prst="rect">
            <a:avLst/>
          </a:prstGeom>
        </p:spPr>
      </p:pic>
      <p:sp>
        <p:nvSpPr>
          <p:cNvPr id="71" name="Rectangle 70">
            <a:extLst>
              <a:ext uri="{FF2B5EF4-FFF2-40B4-BE49-F238E27FC236}">
                <a16:creationId xmlns:a16="http://schemas.microsoft.com/office/drawing/2014/main" id="{C47E0938-F976-58F0-A666-B8F0E97D505A}"/>
              </a:ext>
            </a:extLst>
          </p:cNvPr>
          <p:cNvSpPr/>
          <p:nvPr/>
        </p:nvSpPr>
        <p:spPr>
          <a:xfrm>
            <a:off x="-9524" y="7491212"/>
            <a:ext cx="12201524" cy="6894869"/>
          </a:xfrm>
          <a:prstGeom prst="rect">
            <a:avLst/>
          </a:prstGeom>
          <a:solidFill>
            <a:schemeClr val="tx1">
              <a:alpha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5" name="Picture 4">
            <a:extLst>
              <a:ext uri="{FF2B5EF4-FFF2-40B4-BE49-F238E27FC236}">
                <a16:creationId xmlns:a16="http://schemas.microsoft.com/office/drawing/2014/main" id="{9858D0BF-1E7B-5235-5FE1-E24A6E492448}"/>
              </a:ext>
            </a:extLst>
          </p:cNvPr>
          <p:cNvPicPr>
            <a:picLocks noChangeAspect="1"/>
          </p:cNvPicPr>
          <p:nvPr/>
        </p:nvPicPr>
        <p:blipFill>
          <a:blip r:embed="rId3">
            <a:extLst>
              <a:ext uri="{28A0092B-C50C-407E-A947-70E740481C1C}">
                <a14:useLocalDpi xmlns:a14="http://schemas.microsoft.com/office/drawing/2010/main" val="0"/>
              </a:ext>
            </a:extLst>
          </a:blip>
          <a:srcRect l="-151" t="-396" r="312" b="396"/>
          <a:stretch>
            <a:fillRect/>
          </a:stretch>
        </p:blipFill>
        <p:spPr>
          <a:xfrm>
            <a:off x="1" y="-27195"/>
            <a:ext cx="12192000" cy="6862830"/>
          </a:xfrm>
          <a:prstGeom prst="rect">
            <a:avLst/>
          </a:prstGeom>
        </p:spPr>
      </p:pic>
      <p:sp>
        <p:nvSpPr>
          <p:cNvPr id="12" name="Rectangle 11">
            <a:extLst>
              <a:ext uri="{FF2B5EF4-FFF2-40B4-BE49-F238E27FC236}">
                <a16:creationId xmlns:a16="http://schemas.microsoft.com/office/drawing/2014/main" id="{F328CDB2-06E4-53DF-EF55-1BBE4CF60F1A}"/>
              </a:ext>
            </a:extLst>
          </p:cNvPr>
          <p:cNvSpPr/>
          <p:nvPr/>
        </p:nvSpPr>
        <p:spPr>
          <a:xfrm>
            <a:off x="1" y="0"/>
            <a:ext cx="12192000" cy="6877199"/>
          </a:xfrm>
          <a:prstGeom prst="rect">
            <a:avLst/>
          </a:prstGeom>
          <a:solidFill>
            <a:schemeClr val="tx1">
              <a:alpha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Pentagon 57">
            <a:extLst>
              <a:ext uri="{FF2B5EF4-FFF2-40B4-BE49-F238E27FC236}">
                <a16:creationId xmlns:a16="http://schemas.microsoft.com/office/drawing/2014/main" id="{48CBE6F0-0A35-F0BE-28CA-12FD29BD37A8}"/>
              </a:ext>
            </a:extLst>
          </p:cNvPr>
          <p:cNvSpPr/>
          <p:nvPr/>
        </p:nvSpPr>
        <p:spPr>
          <a:xfrm>
            <a:off x="-594715" y="2476526"/>
            <a:ext cx="6475561" cy="527514"/>
          </a:xfrm>
          <a:prstGeom prst="homePlate">
            <a:avLst/>
          </a:prstGeom>
          <a:no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400" b="1" dirty="0">
                <a:solidFill>
                  <a:schemeClr val="bg1"/>
                </a:solidFill>
                <a:latin typeface="Bahnschrift" panose="020B0502040204020203" pitchFamily="34" charset="0"/>
                <a:cs typeface="Dubai Light" panose="020B0303030403030204" pitchFamily="34" charset="-78"/>
              </a:rPr>
              <a:t>ABOUT OUR</a:t>
            </a:r>
          </a:p>
          <a:p>
            <a:pPr algn="ctr"/>
            <a:r>
              <a:rPr lang="en-GB" sz="4400" b="1" dirty="0">
                <a:solidFill>
                  <a:schemeClr val="bg1"/>
                </a:solidFill>
                <a:latin typeface="Bahnschrift" panose="020B0502040204020203" pitchFamily="34" charset="0"/>
                <a:cs typeface="Dubai Light" panose="020B0303030403030204" pitchFamily="34" charset="-78"/>
              </a:rPr>
              <a:t> PROJECT</a:t>
            </a:r>
          </a:p>
        </p:txBody>
      </p:sp>
      <p:cxnSp>
        <p:nvCxnSpPr>
          <p:cNvPr id="58" name="Straight Connector 57">
            <a:extLst>
              <a:ext uri="{FF2B5EF4-FFF2-40B4-BE49-F238E27FC236}">
                <a16:creationId xmlns:a16="http://schemas.microsoft.com/office/drawing/2014/main" id="{C40E1C5B-7350-BF79-111D-460393594351}"/>
              </a:ext>
            </a:extLst>
          </p:cNvPr>
          <p:cNvCxnSpPr>
            <a:cxnSpLocks/>
          </p:cNvCxnSpPr>
          <p:nvPr/>
        </p:nvCxnSpPr>
        <p:spPr>
          <a:xfrm flipV="1">
            <a:off x="5495925" y="8297904"/>
            <a:ext cx="0" cy="4391025"/>
          </a:xfrm>
          <a:prstGeom prst="line">
            <a:avLst/>
          </a:prstGeom>
          <a:ln w="3175" cmpd="thickThi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92C1E085-02CE-5E36-7199-877C6316261D}"/>
              </a:ext>
            </a:extLst>
          </p:cNvPr>
          <p:cNvCxnSpPr>
            <a:cxnSpLocks/>
          </p:cNvCxnSpPr>
          <p:nvPr/>
        </p:nvCxnSpPr>
        <p:spPr>
          <a:xfrm flipV="1">
            <a:off x="5105400" y="1"/>
            <a:ext cx="0" cy="6857999"/>
          </a:xfrm>
          <a:prstGeom prst="line">
            <a:avLst/>
          </a:prstGeom>
          <a:ln w="60325" cmpd="thickThin">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Rectangle 2">
            <a:extLst>
              <a:ext uri="{FF2B5EF4-FFF2-40B4-BE49-F238E27FC236}">
                <a16:creationId xmlns:a16="http://schemas.microsoft.com/office/drawing/2014/main" id="{96271A0F-B442-9CA0-5A0E-068D30F4DCEE}"/>
              </a:ext>
            </a:extLst>
          </p:cNvPr>
          <p:cNvSpPr>
            <a:spLocks noChangeArrowheads="1"/>
          </p:cNvSpPr>
          <p:nvPr/>
        </p:nvSpPr>
        <p:spPr bwMode="auto">
          <a:xfrm>
            <a:off x="5282288" y="2078139"/>
            <a:ext cx="6855802" cy="15195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GB" sz="1600" dirty="0">
                <a:solidFill>
                  <a:schemeClr val="bg1"/>
                </a:solidFill>
                <a:latin typeface="Bahnschrift" panose="020B0502040204020203" pitchFamily="34" charset="0"/>
              </a:rPr>
              <a:t>Desktop-based Laundry Management System. Designed to simplify daily laundry operations. Allows owners to add and manage customer orders. Tracks order progress by updating laundry status. Generates bills for completed orders quickly and accurately.</a:t>
            </a:r>
          </a:p>
        </p:txBody>
      </p:sp>
      <p:sp>
        <p:nvSpPr>
          <p:cNvPr id="17" name="Pentagon 57">
            <a:extLst>
              <a:ext uri="{FF2B5EF4-FFF2-40B4-BE49-F238E27FC236}">
                <a16:creationId xmlns:a16="http://schemas.microsoft.com/office/drawing/2014/main" id="{44AEF749-5348-C4B7-F97F-090F04A61370}"/>
              </a:ext>
            </a:extLst>
          </p:cNvPr>
          <p:cNvSpPr/>
          <p:nvPr/>
        </p:nvSpPr>
        <p:spPr>
          <a:xfrm>
            <a:off x="-768887" y="7903851"/>
            <a:ext cx="6475561" cy="527514"/>
          </a:xfrm>
          <a:prstGeom prst="homePlate">
            <a:avLst/>
          </a:prstGeom>
          <a:no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400" b="1" dirty="0">
                <a:solidFill>
                  <a:schemeClr val="bg1"/>
                </a:solidFill>
                <a:latin typeface="Bahnschrift" panose="020B0502040204020203" pitchFamily="34" charset="0"/>
                <a:cs typeface="Dubai Light" panose="020B0303030403030204" pitchFamily="34" charset="-78"/>
              </a:rPr>
              <a:t>OBJECTIVES</a:t>
            </a:r>
          </a:p>
        </p:txBody>
      </p:sp>
      <p:sp>
        <p:nvSpPr>
          <p:cNvPr id="40" name="Flowchart: Connector 39" descr="Laptop with solid fill">
            <a:extLst>
              <a:ext uri="{FF2B5EF4-FFF2-40B4-BE49-F238E27FC236}">
                <a16:creationId xmlns:a16="http://schemas.microsoft.com/office/drawing/2014/main" id="{BCEF2D32-7814-12C6-A672-E5F9AB1E4E76}"/>
              </a:ext>
            </a:extLst>
          </p:cNvPr>
          <p:cNvSpPr/>
          <p:nvPr/>
        </p:nvSpPr>
        <p:spPr>
          <a:xfrm>
            <a:off x="14275067" y="3218355"/>
            <a:ext cx="1064728" cy="1038633"/>
          </a:xfrm>
          <a:prstGeom prst="flowChartConnector">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42" name="Graphic 41" descr="Laptop with solid fill">
            <a:extLst>
              <a:ext uri="{FF2B5EF4-FFF2-40B4-BE49-F238E27FC236}">
                <a16:creationId xmlns:a16="http://schemas.microsoft.com/office/drawing/2014/main" id="{79CB290F-0205-0A4A-BE0C-C5261E66F1A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4405055" y="3347146"/>
            <a:ext cx="791012" cy="759251"/>
          </a:xfrm>
          <a:prstGeom prst="rect">
            <a:avLst/>
          </a:prstGeom>
        </p:spPr>
      </p:pic>
      <p:sp>
        <p:nvSpPr>
          <p:cNvPr id="44" name="Flowchart: Connector 43" descr="Laptop with solid fill">
            <a:extLst>
              <a:ext uri="{FF2B5EF4-FFF2-40B4-BE49-F238E27FC236}">
                <a16:creationId xmlns:a16="http://schemas.microsoft.com/office/drawing/2014/main" id="{4DC098B5-1DA8-F978-AE03-56096CA65639}"/>
              </a:ext>
            </a:extLst>
          </p:cNvPr>
          <p:cNvSpPr/>
          <p:nvPr/>
        </p:nvSpPr>
        <p:spPr>
          <a:xfrm>
            <a:off x="14259187" y="3201672"/>
            <a:ext cx="1064728" cy="1038633"/>
          </a:xfrm>
          <a:prstGeom prst="flowChartConnector">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46" name="Graphic 45" descr="Newspaper with solid fill">
            <a:extLst>
              <a:ext uri="{FF2B5EF4-FFF2-40B4-BE49-F238E27FC236}">
                <a16:creationId xmlns:a16="http://schemas.microsoft.com/office/drawing/2014/main" id="{4ED02FF1-E388-8C34-589A-540B07282679}"/>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14405055" y="3330463"/>
            <a:ext cx="759251" cy="759251"/>
          </a:xfrm>
          <a:prstGeom prst="rect">
            <a:avLst/>
          </a:prstGeom>
        </p:spPr>
      </p:pic>
      <p:sp>
        <p:nvSpPr>
          <p:cNvPr id="48" name="Flowchart: Connector 47" descr="Laptop with solid fill">
            <a:extLst>
              <a:ext uri="{FF2B5EF4-FFF2-40B4-BE49-F238E27FC236}">
                <a16:creationId xmlns:a16="http://schemas.microsoft.com/office/drawing/2014/main" id="{93723CDD-6382-725F-A1AB-0D794242FB65}"/>
              </a:ext>
            </a:extLst>
          </p:cNvPr>
          <p:cNvSpPr/>
          <p:nvPr/>
        </p:nvSpPr>
        <p:spPr>
          <a:xfrm>
            <a:off x="14250941" y="3201672"/>
            <a:ext cx="1064728" cy="1038633"/>
          </a:xfrm>
          <a:prstGeom prst="flowChartConnector">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50" name="Graphic 49" descr="Research with solid fill">
            <a:extLst>
              <a:ext uri="{FF2B5EF4-FFF2-40B4-BE49-F238E27FC236}">
                <a16:creationId xmlns:a16="http://schemas.microsoft.com/office/drawing/2014/main" id="{965F9D49-B9A6-5C2D-3046-FA77270591AA}"/>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14396809" y="3330463"/>
            <a:ext cx="759251" cy="759251"/>
          </a:xfrm>
          <a:prstGeom prst="rect">
            <a:avLst/>
          </a:prstGeom>
        </p:spPr>
      </p:pic>
      <p:sp>
        <p:nvSpPr>
          <p:cNvPr id="52" name="Flowchart: Connector 51" descr="Laptop with solid fill">
            <a:extLst>
              <a:ext uri="{FF2B5EF4-FFF2-40B4-BE49-F238E27FC236}">
                <a16:creationId xmlns:a16="http://schemas.microsoft.com/office/drawing/2014/main" id="{046231A2-8EF2-3A65-5EA3-28A23235640F}"/>
              </a:ext>
            </a:extLst>
          </p:cNvPr>
          <p:cNvSpPr/>
          <p:nvPr/>
        </p:nvSpPr>
        <p:spPr>
          <a:xfrm>
            <a:off x="14299193" y="3184989"/>
            <a:ext cx="1064728" cy="1038633"/>
          </a:xfrm>
          <a:prstGeom prst="flowChartConnector">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57" name="Graphic 56" descr="Downward trend graph with solid fill">
            <a:extLst>
              <a:ext uri="{FF2B5EF4-FFF2-40B4-BE49-F238E27FC236}">
                <a16:creationId xmlns:a16="http://schemas.microsoft.com/office/drawing/2014/main" id="{56F5AD8D-C8A1-C763-FE0F-B1E4B258C000}"/>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14427806" y="3296533"/>
            <a:ext cx="759251" cy="759251"/>
          </a:xfrm>
          <a:prstGeom prst="rect">
            <a:avLst/>
          </a:prstGeom>
        </p:spPr>
      </p:pic>
    </p:spTree>
    <p:extLst>
      <p:ext uri="{BB962C8B-B14F-4D97-AF65-F5344CB8AC3E}">
        <p14:creationId xmlns:p14="http://schemas.microsoft.com/office/powerpoint/2010/main" val="337280702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AE6A04-217B-4ABD-7329-131DEFAAAB51}"/>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B3534E0-A914-ED92-50E0-ACED90507EC9}"/>
              </a:ext>
            </a:extLst>
          </p:cNvPr>
          <p:cNvPicPr>
            <a:picLocks noChangeAspect="1"/>
          </p:cNvPicPr>
          <p:nvPr/>
        </p:nvPicPr>
        <p:blipFill>
          <a:blip r:embed="rId2">
            <a:extLst>
              <a:ext uri="{28A0092B-C50C-407E-A947-70E740481C1C}">
                <a14:useLocalDpi xmlns:a14="http://schemas.microsoft.com/office/drawing/2010/main" val="0"/>
              </a:ext>
            </a:extLst>
          </a:blip>
          <a:srcRect l="429" r="429"/>
          <a:stretch/>
        </p:blipFill>
        <p:spPr>
          <a:xfrm>
            <a:off x="1" y="-27195"/>
            <a:ext cx="12192000" cy="6862830"/>
          </a:xfrm>
          <a:prstGeom prst="rect">
            <a:avLst/>
          </a:prstGeom>
        </p:spPr>
      </p:pic>
      <p:sp>
        <p:nvSpPr>
          <p:cNvPr id="12" name="Rectangle 11">
            <a:extLst>
              <a:ext uri="{FF2B5EF4-FFF2-40B4-BE49-F238E27FC236}">
                <a16:creationId xmlns:a16="http://schemas.microsoft.com/office/drawing/2014/main" id="{C0938439-74C7-B1B0-EA20-3B00B096FB6B}"/>
              </a:ext>
            </a:extLst>
          </p:cNvPr>
          <p:cNvSpPr/>
          <p:nvPr/>
        </p:nvSpPr>
        <p:spPr>
          <a:xfrm>
            <a:off x="-9524" y="-27195"/>
            <a:ext cx="12201524" cy="6894869"/>
          </a:xfrm>
          <a:prstGeom prst="rect">
            <a:avLst/>
          </a:prstGeom>
          <a:solidFill>
            <a:schemeClr val="tx1">
              <a:alpha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Pentagon 57">
            <a:extLst>
              <a:ext uri="{FF2B5EF4-FFF2-40B4-BE49-F238E27FC236}">
                <a16:creationId xmlns:a16="http://schemas.microsoft.com/office/drawing/2014/main" id="{6971DCBC-4F04-DD43-A34F-E4A6367F07B9}"/>
              </a:ext>
            </a:extLst>
          </p:cNvPr>
          <p:cNvSpPr/>
          <p:nvPr/>
        </p:nvSpPr>
        <p:spPr>
          <a:xfrm>
            <a:off x="-594715" y="2476526"/>
            <a:ext cx="6475561" cy="527514"/>
          </a:xfrm>
          <a:prstGeom prst="homePlate">
            <a:avLst/>
          </a:prstGeom>
          <a:no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400" b="1" dirty="0">
                <a:solidFill>
                  <a:schemeClr val="bg1"/>
                </a:solidFill>
                <a:latin typeface="Bahnschrift" panose="020B0502040204020203" pitchFamily="34" charset="0"/>
                <a:cs typeface="Dubai Light" panose="020B0303030403030204" pitchFamily="34" charset="-78"/>
              </a:rPr>
              <a:t>OBJECTIVES</a:t>
            </a:r>
          </a:p>
        </p:txBody>
      </p:sp>
      <p:cxnSp>
        <p:nvCxnSpPr>
          <p:cNvPr id="7" name="Straight Connector 6">
            <a:extLst>
              <a:ext uri="{FF2B5EF4-FFF2-40B4-BE49-F238E27FC236}">
                <a16:creationId xmlns:a16="http://schemas.microsoft.com/office/drawing/2014/main" id="{E8ACF162-98A2-040B-3172-95F1AC3D2D6E}"/>
              </a:ext>
            </a:extLst>
          </p:cNvPr>
          <p:cNvCxnSpPr>
            <a:cxnSpLocks/>
          </p:cNvCxnSpPr>
          <p:nvPr/>
        </p:nvCxnSpPr>
        <p:spPr>
          <a:xfrm flipV="1">
            <a:off x="5495925" y="808527"/>
            <a:ext cx="0" cy="4391025"/>
          </a:xfrm>
          <a:prstGeom prst="line">
            <a:avLst/>
          </a:prstGeom>
          <a:ln w="3175" cmpd="thickThin">
            <a:solidFill>
              <a:schemeClr val="bg1"/>
            </a:solidFill>
          </a:ln>
        </p:spPr>
        <p:style>
          <a:lnRef idx="1">
            <a:schemeClr val="accent1"/>
          </a:lnRef>
          <a:fillRef idx="0">
            <a:schemeClr val="accent1"/>
          </a:fillRef>
          <a:effectRef idx="0">
            <a:schemeClr val="accent1"/>
          </a:effectRef>
          <a:fontRef idx="minor">
            <a:schemeClr val="tx1"/>
          </a:fontRef>
        </p:style>
      </p:cxnSp>
      <p:sp>
        <p:nvSpPr>
          <p:cNvPr id="6" name="Flowchart: Connector 5" descr="Laptop with solid fill">
            <a:extLst>
              <a:ext uri="{FF2B5EF4-FFF2-40B4-BE49-F238E27FC236}">
                <a16:creationId xmlns:a16="http://schemas.microsoft.com/office/drawing/2014/main" id="{150D2D22-26B7-B58D-974F-283B49200D89}"/>
              </a:ext>
            </a:extLst>
          </p:cNvPr>
          <p:cNvSpPr/>
          <p:nvPr/>
        </p:nvSpPr>
        <p:spPr>
          <a:xfrm>
            <a:off x="4984936" y="514350"/>
            <a:ext cx="1064728" cy="1038633"/>
          </a:xfrm>
          <a:prstGeom prst="flowChartConnector">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14" name="Graphic 13" descr="Laptop with solid fill">
            <a:extLst>
              <a:ext uri="{FF2B5EF4-FFF2-40B4-BE49-F238E27FC236}">
                <a16:creationId xmlns:a16="http://schemas.microsoft.com/office/drawing/2014/main" id="{168BE988-51FB-BFEE-688D-45F7B28D308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114924" y="643141"/>
            <a:ext cx="791012" cy="759251"/>
          </a:xfrm>
          <a:prstGeom prst="rect">
            <a:avLst/>
          </a:prstGeom>
        </p:spPr>
      </p:pic>
      <p:sp>
        <p:nvSpPr>
          <p:cNvPr id="15" name="Rectangle 14">
            <a:extLst>
              <a:ext uri="{FF2B5EF4-FFF2-40B4-BE49-F238E27FC236}">
                <a16:creationId xmlns:a16="http://schemas.microsoft.com/office/drawing/2014/main" id="{3B18529F-CEBE-E58C-8EDC-9318991F1C8A}"/>
              </a:ext>
            </a:extLst>
          </p:cNvPr>
          <p:cNvSpPr/>
          <p:nvPr/>
        </p:nvSpPr>
        <p:spPr>
          <a:xfrm>
            <a:off x="12085653" y="643141"/>
            <a:ext cx="5930662" cy="759251"/>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en-GB" dirty="0">
                <a:solidFill>
                  <a:schemeClr val="bg1"/>
                </a:solidFill>
                <a:latin typeface="Bahnschrift" panose="020B0502040204020203" pitchFamily="34" charset="0"/>
              </a:rPr>
              <a:t>To develop a desktop-based application for efficient Laundry management.</a:t>
            </a:r>
          </a:p>
        </p:txBody>
      </p:sp>
      <p:sp>
        <p:nvSpPr>
          <p:cNvPr id="18" name="Flowchart: Connector 17" descr="Laptop with solid fill">
            <a:extLst>
              <a:ext uri="{FF2B5EF4-FFF2-40B4-BE49-F238E27FC236}">
                <a16:creationId xmlns:a16="http://schemas.microsoft.com/office/drawing/2014/main" id="{31946268-DA76-A922-A703-C1C79312CDFD}"/>
              </a:ext>
            </a:extLst>
          </p:cNvPr>
          <p:cNvSpPr/>
          <p:nvPr/>
        </p:nvSpPr>
        <p:spPr>
          <a:xfrm>
            <a:off x="4963561" y="2076858"/>
            <a:ext cx="1064728" cy="1038633"/>
          </a:xfrm>
          <a:prstGeom prst="flowChartConnector">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20" name="Graphic 19" descr="Newspaper with solid fill">
            <a:extLst>
              <a:ext uri="{FF2B5EF4-FFF2-40B4-BE49-F238E27FC236}">
                <a16:creationId xmlns:a16="http://schemas.microsoft.com/office/drawing/2014/main" id="{E739E338-132E-56FD-7186-583D5EE46F72}"/>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5109429" y="2205649"/>
            <a:ext cx="759251" cy="759251"/>
          </a:xfrm>
          <a:prstGeom prst="rect">
            <a:avLst/>
          </a:prstGeom>
        </p:spPr>
      </p:pic>
      <p:sp>
        <p:nvSpPr>
          <p:cNvPr id="26" name="Flowchart: Connector 25" descr="Laptop with solid fill">
            <a:extLst>
              <a:ext uri="{FF2B5EF4-FFF2-40B4-BE49-F238E27FC236}">
                <a16:creationId xmlns:a16="http://schemas.microsoft.com/office/drawing/2014/main" id="{F0516F5D-8D44-ED3F-AD29-E27DC3713A16}"/>
              </a:ext>
            </a:extLst>
          </p:cNvPr>
          <p:cNvSpPr/>
          <p:nvPr/>
        </p:nvSpPr>
        <p:spPr>
          <a:xfrm>
            <a:off x="4939435" y="3519717"/>
            <a:ext cx="1064728" cy="1038633"/>
          </a:xfrm>
          <a:prstGeom prst="flowChartConnector">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28" name="Graphic 27" descr="Research with solid fill">
            <a:extLst>
              <a:ext uri="{FF2B5EF4-FFF2-40B4-BE49-F238E27FC236}">
                <a16:creationId xmlns:a16="http://schemas.microsoft.com/office/drawing/2014/main" id="{A69C039F-0D27-F9E0-10ED-075E4BE59380}"/>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5085303" y="3648508"/>
            <a:ext cx="759251" cy="759251"/>
          </a:xfrm>
          <a:prstGeom prst="rect">
            <a:avLst/>
          </a:prstGeom>
        </p:spPr>
      </p:pic>
      <p:sp>
        <p:nvSpPr>
          <p:cNvPr id="32" name="Flowchart: Connector 31" descr="Laptop with solid fill">
            <a:extLst>
              <a:ext uri="{FF2B5EF4-FFF2-40B4-BE49-F238E27FC236}">
                <a16:creationId xmlns:a16="http://schemas.microsoft.com/office/drawing/2014/main" id="{7DBC21CE-EE35-EB40-4204-B595330BE155}"/>
              </a:ext>
            </a:extLst>
          </p:cNvPr>
          <p:cNvSpPr/>
          <p:nvPr/>
        </p:nvSpPr>
        <p:spPr>
          <a:xfrm>
            <a:off x="4956690" y="4979259"/>
            <a:ext cx="1064728" cy="1038633"/>
          </a:xfrm>
          <a:prstGeom prst="flowChartConnector">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34" name="Graphic 33" descr="Downward trend graph with solid fill">
            <a:extLst>
              <a:ext uri="{FF2B5EF4-FFF2-40B4-BE49-F238E27FC236}">
                <a16:creationId xmlns:a16="http://schemas.microsoft.com/office/drawing/2014/main" id="{B6C8C38F-0097-AE69-BB30-E449EA6262D0}"/>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5085303" y="5090803"/>
            <a:ext cx="759251" cy="759251"/>
          </a:xfrm>
          <a:prstGeom prst="rect">
            <a:avLst/>
          </a:prstGeom>
        </p:spPr>
      </p:pic>
      <p:sp>
        <p:nvSpPr>
          <p:cNvPr id="9" name="Pentagon 57">
            <a:extLst>
              <a:ext uri="{FF2B5EF4-FFF2-40B4-BE49-F238E27FC236}">
                <a16:creationId xmlns:a16="http://schemas.microsoft.com/office/drawing/2014/main" id="{A9DF4920-C1BE-B8FD-8691-AB11EF379D72}"/>
              </a:ext>
            </a:extLst>
          </p:cNvPr>
          <p:cNvSpPr/>
          <p:nvPr/>
        </p:nvSpPr>
        <p:spPr>
          <a:xfrm>
            <a:off x="-442315" y="-1667305"/>
            <a:ext cx="6475561" cy="527514"/>
          </a:xfrm>
          <a:prstGeom prst="homePlate">
            <a:avLst/>
          </a:prstGeom>
          <a:no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400" b="1" dirty="0">
                <a:solidFill>
                  <a:schemeClr val="bg1"/>
                </a:solidFill>
                <a:latin typeface="Bahnschrift" panose="020B0502040204020203" pitchFamily="34" charset="0"/>
                <a:cs typeface="Dubai Light" panose="020B0303030403030204" pitchFamily="34" charset="-78"/>
              </a:rPr>
              <a:t>ABOUT OUR</a:t>
            </a:r>
          </a:p>
          <a:p>
            <a:pPr algn="ctr"/>
            <a:r>
              <a:rPr lang="en-GB" sz="4400" b="1" dirty="0">
                <a:solidFill>
                  <a:schemeClr val="bg1"/>
                </a:solidFill>
                <a:latin typeface="Bahnschrift" panose="020B0502040204020203" pitchFamily="34" charset="0"/>
                <a:cs typeface="Dubai Light" panose="020B0303030403030204" pitchFamily="34" charset="-78"/>
              </a:rPr>
              <a:t> PROJECT</a:t>
            </a:r>
          </a:p>
        </p:txBody>
      </p:sp>
    </p:spTree>
    <p:extLst>
      <p:ext uri="{BB962C8B-B14F-4D97-AF65-F5344CB8AC3E}">
        <p14:creationId xmlns:p14="http://schemas.microsoft.com/office/powerpoint/2010/main" val="58026093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56156A-9B5C-B67B-DD05-01FAB9ACD12D}"/>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0519871-351C-636B-02B5-859B4B4407C5}"/>
              </a:ext>
            </a:extLst>
          </p:cNvPr>
          <p:cNvPicPr>
            <a:picLocks noChangeAspect="1"/>
          </p:cNvPicPr>
          <p:nvPr/>
        </p:nvPicPr>
        <p:blipFill>
          <a:blip r:embed="rId2">
            <a:extLst>
              <a:ext uri="{28A0092B-C50C-407E-A947-70E740481C1C}">
                <a14:useLocalDpi xmlns:a14="http://schemas.microsoft.com/office/drawing/2010/main" val="0"/>
              </a:ext>
            </a:extLst>
          </a:blip>
          <a:srcRect l="429" r="429"/>
          <a:stretch/>
        </p:blipFill>
        <p:spPr>
          <a:xfrm>
            <a:off x="1" y="-27195"/>
            <a:ext cx="12192000" cy="6862830"/>
          </a:xfrm>
          <a:prstGeom prst="rect">
            <a:avLst/>
          </a:prstGeom>
        </p:spPr>
      </p:pic>
      <p:sp>
        <p:nvSpPr>
          <p:cNvPr id="12" name="Rectangle 11">
            <a:extLst>
              <a:ext uri="{FF2B5EF4-FFF2-40B4-BE49-F238E27FC236}">
                <a16:creationId xmlns:a16="http://schemas.microsoft.com/office/drawing/2014/main" id="{D985E4C9-C658-2035-95C6-C5E2AE5A0204}"/>
              </a:ext>
            </a:extLst>
          </p:cNvPr>
          <p:cNvSpPr/>
          <p:nvPr/>
        </p:nvSpPr>
        <p:spPr>
          <a:xfrm>
            <a:off x="-9524" y="-174171"/>
            <a:ext cx="12201524" cy="7041845"/>
          </a:xfrm>
          <a:prstGeom prst="rect">
            <a:avLst/>
          </a:prstGeom>
          <a:solidFill>
            <a:schemeClr val="tx1">
              <a:alpha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Pentagon 57">
            <a:extLst>
              <a:ext uri="{FF2B5EF4-FFF2-40B4-BE49-F238E27FC236}">
                <a16:creationId xmlns:a16="http://schemas.microsoft.com/office/drawing/2014/main" id="{B623875D-287E-5F68-B1F1-EDEC2067BF37}"/>
              </a:ext>
            </a:extLst>
          </p:cNvPr>
          <p:cNvSpPr/>
          <p:nvPr/>
        </p:nvSpPr>
        <p:spPr>
          <a:xfrm>
            <a:off x="-594715" y="2476526"/>
            <a:ext cx="6475561" cy="527514"/>
          </a:xfrm>
          <a:prstGeom prst="homePlate">
            <a:avLst/>
          </a:prstGeom>
          <a:no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400" b="1" dirty="0">
                <a:solidFill>
                  <a:schemeClr val="bg1"/>
                </a:solidFill>
                <a:latin typeface="Bahnschrift" panose="020B0502040204020203" pitchFamily="34" charset="0"/>
                <a:cs typeface="Dubai Light" panose="020B0303030403030204" pitchFamily="34" charset="-78"/>
              </a:rPr>
              <a:t>OBJECTIVES</a:t>
            </a:r>
          </a:p>
        </p:txBody>
      </p:sp>
      <p:cxnSp>
        <p:nvCxnSpPr>
          <p:cNvPr id="7" name="Straight Connector 6">
            <a:extLst>
              <a:ext uri="{FF2B5EF4-FFF2-40B4-BE49-F238E27FC236}">
                <a16:creationId xmlns:a16="http://schemas.microsoft.com/office/drawing/2014/main" id="{184C5794-3E8A-86E0-67AF-CD6BA61232AC}"/>
              </a:ext>
            </a:extLst>
          </p:cNvPr>
          <p:cNvCxnSpPr>
            <a:cxnSpLocks/>
          </p:cNvCxnSpPr>
          <p:nvPr/>
        </p:nvCxnSpPr>
        <p:spPr>
          <a:xfrm flipV="1">
            <a:off x="5495925" y="808527"/>
            <a:ext cx="0" cy="4391025"/>
          </a:xfrm>
          <a:prstGeom prst="line">
            <a:avLst/>
          </a:prstGeom>
          <a:ln w="3175" cmpd="thickThin">
            <a:solidFill>
              <a:schemeClr val="bg1"/>
            </a:solidFill>
          </a:ln>
        </p:spPr>
        <p:style>
          <a:lnRef idx="1">
            <a:schemeClr val="accent1"/>
          </a:lnRef>
          <a:fillRef idx="0">
            <a:schemeClr val="accent1"/>
          </a:fillRef>
          <a:effectRef idx="0">
            <a:schemeClr val="accent1"/>
          </a:effectRef>
          <a:fontRef idx="minor">
            <a:schemeClr val="tx1"/>
          </a:fontRef>
        </p:style>
      </p:cxnSp>
      <p:sp>
        <p:nvSpPr>
          <p:cNvPr id="6" name="Flowchart: Connector 5" descr="Laptop with solid fill">
            <a:extLst>
              <a:ext uri="{FF2B5EF4-FFF2-40B4-BE49-F238E27FC236}">
                <a16:creationId xmlns:a16="http://schemas.microsoft.com/office/drawing/2014/main" id="{D6A40EEB-3BB9-39C2-B824-632C6C8961FF}"/>
              </a:ext>
            </a:extLst>
          </p:cNvPr>
          <p:cNvSpPr/>
          <p:nvPr/>
        </p:nvSpPr>
        <p:spPr>
          <a:xfrm>
            <a:off x="4984936" y="514350"/>
            <a:ext cx="1064728" cy="1038633"/>
          </a:xfrm>
          <a:prstGeom prst="flowChartConnector">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14" name="Graphic 13" descr="Laptop with solid fill">
            <a:extLst>
              <a:ext uri="{FF2B5EF4-FFF2-40B4-BE49-F238E27FC236}">
                <a16:creationId xmlns:a16="http://schemas.microsoft.com/office/drawing/2014/main" id="{9EF00DCC-84AA-04AB-1C2E-6D87D616C8C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114924" y="643141"/>
            <a:ext cx="791012" cy="759251"/>
          </a:xfrm>
          <a:prstGeom prst="rect">
            <a:avLst/>
          </a:prstGeom>
        </p:spPr>
      </p:pic>
      <p:sp>
        <p:nvSpPr>
          <p:cNvPr id="15" name="Rectangle 14">
            <a:extLst>
              <a:ext uri="{FF2B5EF4-FFF2-40B4-BE49-F238E27FC236}">
                <a16:creationId xmlns:a16="http://schemas.microsoft.com/office/drawing/2014/main" id="{86AB6739-5042-641A-64AB-04B5782E1415}"/>
              </a:ext>
            </a:extLst>
          </p:cNvPr>
          <p:cNvSpPr/>
          <p:nvPr/>
        </p:nvSpPr>
        <p:spPr>
          <a:xfrm>
            <a:off x="6004163" y="643141"/>
            <a:ext cx="5930662" cy="759251"/>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en-GB" dirty="0">
                <a:solidFill>
                  <a:schemeClr val="bg1"/>
                </a:solidFill>
                <a:latin typeface="Bahnschrift" panose="020B0502040204020203" pitchFamily="34" charset="0"/>
              </a:rPr>
              <a:t>To develop a desktop-based application for efficient Laundry management.</a:t>
            </a:r>
          </a:p>
        </p:txBody>
      </p:sp>
      <p:sp>
        <p:nvSpPr>
          <p:cNvPr id="18" name="Flowchart: Connector 17" descr="Laptop with solid fill">
            <a:extLst>
              <a:ext uri="{FF2B5EF4-FFF2-40B4-BE49-F238E27FC236}">
                <a16:creationId xmlns:a16="http://schemas.microsoft.com/office/drawing/2014/main" id="{09D92478-05F5-606E-79A9-4B6E7C3FD5D4}"/>
              </a:ext>
            </a:extLst>
          </p:cNvPr>
          <p:cNvSpPr/>
          <p:nvPr/>
        </p:nvSpPr>
        <p:spPr>
          <a:xfrm>
            <a:off x="4963561" y="2076858"/>
            <a:ext cx="1064728" cy="1038633"/>
          </a:xfrm>
          <a:prstGeom prst="flowChartConnector">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20" name="Graphic 19" descr="Newspaper with solid fill">
            <a:extLst>
              <a:ext uri="{FF2B5EF4-FFF2-40B4-BE49-F238E27FC236}">
                <a16:creationId xmlns:a16="http://schemas.microsoft.com/office/drawing/2014/main" id="{996F39BF-3929-BA1D-6C28-37C1DDD46EC8}"/>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5109429" y="2205649"/>
            <a:ext cx="759251" cy="759251"/>
          </a:xfrm>
          <a:prstGeom prst="rect">
            <a:avLst/>
          </a:prstGeom>
        </p:spPr>
      </p:pic>
      <p:sp>
        <p:nvSpPr>
          <p:cNvPr id="24" name="Rectangle 23">
            <a:extLst>
              <a:ext uri="{FF2B5EF4-FFF2-40B4-BE49-F238E27FC236}">
                <a16:creationId xmlns:a16="http://schemas.microsoft.com/office/drawing/2014/main" id="{1177CC7A-0F1E-1AA9-69D2-A43DAD05E355}"/>
              </a:ext>
            </a:extLst>
          </p:cNvPr>
          <p:cNvSpPr/>
          <p:nvPr/>
        </p:nvSpPr>
        <p:spPr>
          <a:xfrm>
            <a:off x="12186800" y="2195716"/>
            <a:ext cx="5930662" cy="759251"/>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en-GB" dirty="0">
                <a:solidFill>
                  <a:schemeClr val="bg1"/>
                </a:solidFill>
                <a:latin typeface="Bahnschrift" panose="020B0502040204020203" pitchFamily="34" charset="0"/>
              </a:rPr>
              <a:t>To maintain customer information and laundry order records in a centralized database.</a:t>
            </a:r>
          </a:p>
        </p:txBody>
      </p:sp>
      <p:sp>
        <p:nvSpPr>
          <p:cNvPr id="26" name="Flowchart: Connector 25" descr="Laptop with solid fill">
            <a:extLst>
              <a:ext uri="{FF2B5EF4-FFF2-40B4-BE49-F238E27FC236}">
                <a16:creationId xmlns:a16="http://schemas.microsoft.com/office/drawing/2014/main" id="{C7EFF583-96B7-4B1C-A1F9-2000C2F1EF50}"/>
              </a:ext>
            </a:extLst>
          </p:cNvPr>
          <p:cNvSpPr/>
          <p:nvPr/>
        </p:nvSpPr>
        <p:spPr>
          <a:xfrm>
            <a:off x="4939435" y="3519717"/>
            <a:ext cx="1064728" cy="1038633"/>
          </a:xfrm>
          <a:prstGeom prst="flowChartConnector">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28" name="Graphic 27" descr="Research with solid fill">
            <a:extLst>
              <a:ext uri="{FF2B5EF4-FFF2-40B4-BE49-F238E27FC236}">
                <a16:creationId xmlns:a16="http://schemas.microsoft.com/office/drawing/2014/main" id="{FF2F924B-5484-8B56-F515-275BB8CDED63}"/>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5085303" y="3648508"/>
            <a:ext cx="759251" cy="759251"/>
          </a:xfrm>
          <a:prstGeom prst="rect">
            <a:avLst/>
          </a:prstGeom>
        </p:spPr>
      </p:pic>
      <p:sp>
        <p:nvSpPr>
          <p:cNvPr id="32" name="Flowchart: Connector 31" descr="Laptop with solid fill">
            <a:extLst>
              <a:ext uri="{FF2B5EF4-FFF2-40B4-BE49-F238E27FC236}">
                <a16:creationId xmlns:a16="http://schemas.microsoft.com/office/drawing/2014/main" id="{54507B1C-6FAB-3772-DBA0-28B0BA3701C4}"/>
              </a:ext>
            </a:extLst>
          </p:cNvPr>
          <p:cNvSpPr/>
          <p:nvPr/>
        </p:nvSpPr>
        <p:spPr>
          <a:xfrm>
            <a:off x="4956690" y="4979259"/>
            <a:ext cx="1064728" cy="1038633"/>
          </a:xfrm>
          <a:prstGeom prst="flowChartConnector">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34" name="Graphic 33" descr="Downward trend graph with solid fill">
            <a:extLst>
              <a:ext uri="{FF2B5EF4-FFF2-40B4-BE49-F238E27FC236}">
                <a16:creationId xmlns:a16="http://schemas.microsoft.com/office/drawing/2014/main" id="{E0876FBC-F85D-248D-5C1D-A39733B96FA8}"/>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5085303" y="5090803"/>
            <a:ext cx="759251" cy="759251"/>
          </a:xfrm>
          <a:prstGeom prst="rect">
            <a:avLst/>
          </a:prstGeom>
        </p:spPr>
      </p:pic>
      <p:sp>
        <p:nvSpPr>
          <p:cNvPr id="9" name="Pentagon 57">
            <a:extLst>
              <a:ext uri="{FF2B5EF4-FFF2-40B4-BE49-F238E27FC236}">
                <a16:creationId xmlns:a16="http://schemas.microsoft.com/office/drawing/2014/main" id="{3F8D892A-2D25-A72D-9A36-FE024285E8D7}"/>
              </a:ext>
            </a:extLst>
          </p:cNvPr>
          <p:cNvSpPr/>
          <p:nvPr/>
        </p:nvSpPr>
        <p:spPr>
          <a:xfrm>
            <a:off x="-442315" y="-1667305"/>
            <a:ext cx="6475561" cy="527514"/>
          </a:xfrm>
          <a:prstGeom prst="homePlate">
            <a:avLst/>
          </a:prstGeom>
          <a:no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400" b="1" dirty="0">
                <a:solidFill>
                  <a:schemeClr val="bg1"/>
                </a:solidFill>
                <a:latin typeface="Bahnschrift" panose="020B0502040204020203" pitchFamily="34" charset="0"/>
                <a:cs typeface="Dubai Light" panose="020B0303030403030204" pitchFamily="34" charset="-78"/>
              </a:rPr>
              <a:t>ABOUT OUR</a:t>
            </a:r>
          </a:p>
          <a:p>
            <a:pPr algn="ctr"/>
            <a:r>
              <a:rPr lang="en-GB" sz="4400" b="1" dirty="0">
                <a:solidFill>
                  <a:schemeClr val="bg1"/>
                </a:solidFill>
                <a:latin typeface="Bahnschrift" panose="020B0502040204020203" pitchFamily="34" charset="0"/>
                <a:cs typeface="Dubai Light" panose="020B0303030403030204" pitchFamily="34" charset="-78"/>
              </a:rPr>
              <a:t> PROJECT</a:t>
            </a:r>
          </a:p>
        </p:txBody>
      </p:sp>
    </p:spTree>
    <p:extLst>
      <p:ext uri="{BB962C8B-B14F-4D97-AF65-F5344CB8AC3E}">
        <p14:creationId xmlns:p14="http://schemas.microsoft.com/office/powerpoint/2010/main" val="150559521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69A227-59A6-2C88-4364-7E5E0CA3410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72748D9-C30A-952A-13A2-63B6707862B5}"/>
              </a:ext>
            </a:extLst>
          </p:cNvPr>
          <p:cNvPicPr>
            <a:picLocks noChangeAspect="1"/>
          </p:cNvPicPr>
          <p:nvPr/>
        </p:nvPicPr>
        <p:blipFill>
          <a:blip r:embed="rId2">
            <a:extLst>
              <a:ext uri="{28A0092B-C50C-407E-A947-70E740481C1C}">
                <a14:useLocalDpi xmlns:a14="http://schemas.microsoft.com/office/drawing/2010/main" val="0"/>
              </a:ext>
            </a:extLst>
          </a:blip>
          <a:srcRect l="429" r="429"/>
          <a:stretch/>
        </p:blipFill>
        <p:spPr>
          <a:xfrm>
            <a:off x="1" y="-27195"/>
            <a:ext cx="12192000" cy="6862830"/>
          </a:xfrm>
          <a:prstGeom prst="rect">
            <a:avLst/>
          </a:prstGeom>
        </p:spPr>
      </p:pic>
      <p:sp>
        <p:nvSpPr>
          <p:cNvPr id="12" name="Rectangle 11">
            <a:extLst>
              <a:ext uri="{FF2B5EF4-FFF2-40B4-BE49-F238E27FC236}">
                <a16:creationId xmlns:a16="http://schemas.microsoft.com/office/drawing/2014/main" id="{EC434534-907F-4C6F-FBB2-5EFEE99DA082}"/>
              </a:ext>
            </a:extLst>
          </p:cNvPr>
          <p:cNvSpPr/>
          <p:nvPr/>
        </p:nvSpPr>
        <p:spPr>
          <a:xfrm>
            <a:off x="-9524" y="-9525"/>
            <a:ext cx="12201524" cy="6877199"/>
          </a:xfrm>
          <a:prstGeom prst="rect">
            <a:avLst/>
          </a:prstGeom>
          <a:solidFill>
            <a:schemeClr val="tx1">
              <a:alpha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Pentagon 57">
            <a:extLst>
              <a:ext uri="{FF2B5EF4-FFF2-40B4-BE49-F238E27FC236}">
                <a16:creationId xmlns:a16="http://schemas.microsoft.com/office/drawing/2014/main" id="{60E46526-7662-2F15-5F91-F41CB3C3D4D4}"/>
              </a:ext>
            </a:extLst>
          </p:cNvPr>
          <p:cNvSpPr/>
          <p:nvPr/>
        </p:nvSpPr>
        <p:spPr>
          <a:xfrm>
            <a:off x="-594715" y="2476526"/>
            <a:ext cx="6475561" cy="527514"/>
          </a:xfrm>
          <a:prstGeom prst="homePlate">
            <a:avLst/>
          </a:prstGeom>
          <a:no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400" b="1" dirty="0">
                <a:solidFill>
                  <a:schemeClr val="bg1"/>
                </a:solidFill>
                <a:latin typeface="Bahnschrift" panose="020B0502040204020203" pitchFamily="34" charset="0"/>
                <a:cs typeface="Dubai Light" panose="020B0303030403030204" pitchFamily="34" charset="-78"/>
              </a:rPr>
              <a:t>OBJECTIVES</a:t>
            </a:r>
          </a:p>
        </p:txBody>
      </p:sp>
      <p:cxnSp>
        <p:nvCxnSpPr>
          <p:cNvPr id="7" name="Straight Connector 6">
            <a:extLst>
              <a:ext uri="{FF2B5EF4-FFF2-40B4-BE49-F238E27FC236}">
                <a16:creationId xmlns:a16="http://schemas.microsoft.com/office/drawing/2014/main" id="{3135D08F-98D1-39BF-C1B5-B7E5557ECBC5}"/>
              </a:ext>
            </a:extLst>
          </p:cNvPr>
          <p:cNvCxnSpPr>
            <a:cxnSpLocks/>
          </p:cNvCxnSpPr>
          <p:nvPr/>
        </p:nvCxnSpPr>
        <p:spPr>
          <a:xfrm flipV="1">
            <a:off x="5495925" y="808527"/>
            <a:ext cx="0" cy="4391025"/>
          </a:xfrm>
          <a:prstGeom prst="line">
            <a:avLst/>
          </a:prstGeom>
          <a:ln w="3175" cmpd="thickThin">
            <a:solidFill>
              <a:schemeClr val="bg1"/>
            </a:solidFill>
          </a:ln>
        </p:spPr>
        <p:style>
          <a:lnRef idx="1">
            <a:schemeClr val="accent1"/>
          </a:lnRef>
          <a:fillRef idx="0">
            <a:schemeClr val="accent1"/>
          </a:fillRef>
          <a:effectRef idx="0">
            <a:schemeClr val="accent1"/>
          </a:effectRef>
          <a:fontRef idx="minor">
            <a:schemeClr val="tx1"/>
          </a:fontRef>
        </p:style>
      </p:cxnSp>
      <p:sp>
        <p:nvSpPr>
          <p:cNvPr id="6" name="Flowchart: Connector 5" descr="Laptop with solid fill">
            <a:extLst>
              <a:ext uri="{FF2B5EF4-FFF2-40B4-BE49-F238E27FC236}">
                <a16:creationId xmlns:a16="http://schemas.microsoft.com/office/drawing/2014/main" id="{0AEA7C62-2B00-A515-1B7A-0FAE139E1B60}"/>
              </a:ext>
            </a:extLst>
          </p:cNvPr>
          <p:cNvSpPr/>
          <p:nvPr/>
        </p:nvSpPr>
        <p:spPr>
          <a:xfrm>
            <a:off x="4984936" y="514350"/>
            <a:ext cx="1064728" cy="1038633"/>
          </a:xfrm>
          <a:prstGeom prst="flowChartConnector">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14" name="Graphic 13" descr="Laptop with solid fill">
            <a:extLst>
              <a:ext uri="{FF2B5EF4-FFF2-40B4-BE49-F238E27FC236}">
                <a16:creationId xmlns:a16="http://schemas.microsoft.com/office/drawing/2014/main" id="{21EC984D-77F2-156A-6452-BB9F2BCE7FC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114924" y="643141"/>
            <a:ext cx="791012" cy="759251"/>
          </a:xfrm>
          <a:prstGeom prst="rect">
            <a:avLst/>
          </a:prstGeom>
        </p:spPr>
      </p:pic>
      <p:sp>
        <p:nvSpPr>
          <p:cNvPr id="15" name="Rectangle 14">
            <a:extLst>
              <a:ext uri="{FF2B5EF4-FFF2-40B4-BE49-F238E27FC236}">
                <a16:creationId xmlns:a16="http://schemas.microsoft.com/office/drawing/2014/main" id="{0C16B0AA-F218-12A2-2430-F4BA9D3083BC}"/>
              </a:ext>
            </a:extLst>
          </p:cNvPr>
          <p:cNvSpPr/>
          <p:nvPr/>
        </p:nvSpPr>
        <p:spPr>
          <a:xfrm>
            <a:off x="6004163" y="643141"/>
            <a:ext cx="5930662" cy="759251"/>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en-GB" dirty="0">
                <a:solidFill>
                  <a:schemeClr val="bg1"/>
                </a:solidFill>
                <a:latin typeface="Bahnschrift" panose="020B0502040204020203" pitchFamily="34" charset="0"/>
              </a:rPr>
              <a:t>To develop a desktop-based application for efficient Laundry management.</a:t>
            </a:r>
          </a:p>
        </p:txBody>
      </p:sp>
      <p:sp>
        <p:nvSpPr>
          <p:cNvPr id="18" name="Flowchart: Connector 17" descr="Laptop with solid fill">
            <a:extLst>
              <a:ext uri="{FF2B5EF4-FFF2-40B4-BE49-F238E27FC236}">
                <a16:creationId xmlns:a16="http://schemas.microsoft.com/office/drawing/2014/main" id="{C334F5F6-ECC9-1529-63B2-716CC17C40D8}"/>
              </a:ext>
            </a:extLst>
          </p:cNvPr>
          <p:cNvSpPr/>
          <p:nvPr/>
        </p:nvSpPr>
        <p:spPr>
          <a:xfrm>
            <a:off x="4963561" y="2076858"/>
            <a:ext cx="1064728" cy="1038633"/>
          </a:xfrm>
          <a:prstGeom prst="flowChartConnector">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20" name="Graphic 19" descr="Newspaper with solid fill">
            <a:extLst>
              <a:ext uri="{FF2B5EF4-FFF2-40B4-BE49-F238E27FC236}">
                <a16:creationId xmlns:a16="http://schemas.microsoft.com/office/drawing/2014/main" id="{CA50AD59-DD8B-D504-FDFD-14A679B152A5}"/>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5109429" y="2205649"/>
            <a:ext cx="759251" cy="759251"/>
          </a:xfrm>
          <a:prstGeom prst="rect">
            <a:avLst/>
          </a:prstGeom>
        </p:spPr>
      </p:pic>
      <p:sp>
        <p:nvSpPr>
          <p:cNvPr id="24" name="Rectangle 23">
            <a:extLst>
              <a:ext uri="{FF2B5EF4-FFF2-40B4-BE49-F238E27FC236}">
                <a16:creationId xmlns:a16="http://schemas.microsoft.com/office/drawing/2014/main" id="{4068C33C-CB5E-8FE5-BECF-1282EE4B7379}"/>
              </a:ext>
            </a:extLst>
          </p:cNvPr>
          <p:cNvSpPr/>
          <p:nvPr/>
        </p:nvSpPr>
        <p:spPr>
          <a:xfrm>
            <a:off x="6032738" y="2195716"/>
            <a:ext cx="5930662" cy="759251"/>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en-GB" dirty="0">
                <a:solidFill>
                  <a:schemeClr val="bg1"/>
                </a:solidFill>
                <a:latin typeface="Bahnschrift" panose="020B0502040204020203" pitchFamily="34" charset="0"/>
              </a:rPr>
              <a:t>To maintain customer information and laundry order records in a centralized database.</a:t>
            </a:r>
          </a:p>
        </p:txBody>
      </p:sp>
      <p:sp>
        <p:nvSpPr>
          <p:cNvPr id="26" name="Flowchart: Connector 25" descr="Laptop with solid fill">
            <a:extLst>
              <a:ext uri="{FF2B5EF4-FFF2-40B4-BE49-F238E27FC236}">
                <a16:creationId xmlns:a16="http://schemas.microsoft.com/office/drawing/2014/main" id="{12234102-546A-65DE-B45C-B1E5D7D2D355}"/>
              </a:ext>
            </a:extLst>
          </p:cNvPr>
          <p:cNvSpPr/>
          <p:nvPr/>
        </p:nvSpPr>
        <p:spPr>
          <a:xfrm>
            <a:off x="4939435" y="3519717"/>
            <a:ext cx="1064728" cy="1038633"/>
          </a:xfrm>
          <a:prstGeom prst="flowChartConnector">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28" name="Graphic 27" descr="Research with solid fill">
            <a:extLst>
              <a:ext uri="{FF2B5EF4-FFF2-40B4-BE49-F238E27FC236}">
                <a16:creationId xmlns:a16="http://schemas.microsoft.com/office/drawing/2014/main" id="{AE58433D-30CC-235E-A543-E97C66280723}"/>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5085303" y="3648508"/>
            <a:ext cx="759251" cy="759251"/>
          </a:xfrm>
          <a:prstGeom prst="rect">
            <a:avLst/>
          </a:prstGeom>
        </p:spPr>
      </p:pic>
      <p:sp>
        <p:nvSpPr>
          <p:cNvPr id="30" name="Rectangle 29">
            <a:extLst>
              <a:ext uri="{FF2B5EF4-FFF2-40B4-BE49-F238E27FC236}">
                <a16:creationId xmlns:a16="http://schemas.microsoft.com/office/drawing/2014/main" id="{F18A1BB6-5F62-E625-DA90-784CDCA305C0}"/>
              </a:ext>
            </a:extLst>
          </p:cNvPr>
          <p:cNvSpPr/>
          <p:nvPr/>
        </p:nvSpPr>
        <p:spPr>
          <a:xfrm>
            <a:off x="12342006" y="3567342"/>
            <a:ext cx="5930662" cy="759251"/>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en-GB" dirty="0">
                <a:solidFill>
                  <a:schemeClr val="bg1"/>
                </a:solidFill>
                <a:latin typeface="Bahnschrift" panose="020B0502040204020203" pitchFamily="34" charset="0"/>
              </a:rPr>
              <a:t>To simplify the tracking of laundry orders and generate invoices accurately.</a:t>
            </a:r>
          </a:p>
        </p:txBody>
      </p:sp>
      <p:sp>
        <p:nvSpPr>
          <p:cNvPr id="32" name="Flowchart: Connector 31" descr="Laptop with solid fill">
            <a:extLst>
              <a:ext uri="{FF2B5EF4-FFF2-40B4-BE49-F238E27FC236}">
                <a16:creationId xmlns:a16="http://schemas.microsoft.com/office/drawing/2014/main" id="{A011D2FA-7394-A9DB-8C8F-4BB240477B3E}"/>
              </a:ext>
            </a:extLst>
          </p:cNvPr>
          <p:cNvSpPr/>
          <p:nvPr/>
        </p:nvSpPr>
        <p:spPr>
          <a:xfrm>
            <a:off x="4956690" y="4979259"/>
            <a:ext cx="1064728" cy="1038633"/>
          </a:xfrm>
          <a:prstGeom prst="flowChartConnector">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34" name="Graphic 33" descr="Downward trend graph with solid fill">
            <a:extLst>
              <a:ext uri="{FF2B5EF4-FFF2-40B4-BE49-F238E27FC236}">
                <a16:creationId xmlns:a16="http://schemas.microsoft.com/office/drawing/2014/main" id="{D10573BA-2E52-D58F-2BAF-C4CBE10080C7}"/>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5085303" y="5090803"/>
            <a:ext cx="759251" cy="759251"/>
          </a:xfrm>
          <a:prstGeom prst="rect">
            <a:avLst/>
          </a:prstGeom>
        </p:spPr>
      </p:pic>
      <p:sp>
        <p:nvSpPr>
          <p:cNvPr id="9" name="Pentagon 57">
            <a:extLst>
              <a:ext uri="{FF2B5EF4-FFF2-40B4-BE49-F238E27FC236}">
                <a16:creationId xmlns:a16="http://schemas.microsoft.com/office/drawing/2014/main" id="{AC0DC0D6-96BC-860A-170A-91B7936A0CE9}"/>
              </a:ext>
            </a:extLst>
          </p:cNvPr>
          <p:cNvSpPr/>
          <p:nvPr/>
        </p:nvSpPr>
        <p:spPr>
          <a:xfrm>
            <a:off x="-442315" y="-1667305"/>
            <a:ext cx="6475561" cy="527514"/>
          </a:xfrm>
          <a:prstGeom prst="homePlate">
            <a:avLst/>
          </a:prstGeom>
          <a:no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400" b="1" dirty="0">
                <a:solidFill>
                  <a:schemeClr val="bg1"/>
                </a:solidFill>
                <a:latin typeface="Bahnschrift" panose="020B0502040204020203" pitchFamily="34" charset="0"/>
                <a:cs typeface="Dubai Light" panose="020B0303030403030204" pitchFamily="34" charset="-78"/>
              </a:rPr>
              <a:t>ABOUT OUR</a:t>
            </a:r>
          </a:p>
          <a:p>
            <a:pPr algn="ctr"/>
            <a:r>
              <a:rPr lang="en-GB" sz="4400" b="1" dirty="0">
                <a:solidFill>
                  <a:schemeClr val="bg1"/>
                </a:solidFill>
                <a:latin typeface="Bahnschrift" panose="020B0502040204020203" pitchFamily="34" charset="0"/>
                <a:cs typeface="Dubai Light" panose="020B0303030403030204" pitchFamily="34" charset="-78"/>
              </a:rPr>
              <a:t> PROJECT</a:t>
            </a:r>
          </a:p>
        </p:txBody>
      </p:sp>
    </p:spTree>
    <p:extLst>
      <p:ext uri="{BB962C8B-B14F-4D97-AF65-F5344CB8AC3E}">
        <p14:creationId xmlns:p14="http://schemas.microsoft.com/office/powerpoint/2010/main" val="106998136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F68988-6B3D-EEEE-2B0D-F6C6E938F3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8392CA92-A64F-8B10-E618-2E2E04FBFAE1}"/>
              </a:ext>
            </a:extLst>
          </p:cNvPr>
          <p:cNvPicPr>
            <a:picLocks noChangeAspect="1"/>
          </p:cNvPicPr>
          <p:nvPr/>
        </p:nvPicPr>
        <p:blipFill>
          <a:blip r:embed="rId2">
            <a:extLst>
              <a:ext uri="{28A0092B-C50C-407E-A947-70E740481C1C}">
                <a14:useLocalDpi xmlns:a14="http://schemas.microsoft.com/office/drawing/2010/main" val="0"/>
              </a:ext>
            </a:extLst>
          </a:blip>
          <a:srcRect l="429" r="429"/>
          <a:stretch/>
        </p:blipFill>
        <p:spPr>
          <a:xfrm>
            <a:off x="1" y="-27195"/>
            <a:ext cx="12192000" cy="6862830"/>
          </a:xfrm>
          <a:prstGeom prst="rect">
            <a:avLst/>
          </a:prstGeom>
        </p:spPr>
      </p:pic>
      <p:sp>
        <p:nvSpPr>
          <p:cNvPr id="12" name="Rectangle 11">
            <a:extLst>
              <a:ext uri="{FF2B5EF4-FFF2-40B4-BE49-F238E27FC236}">
                <a16:creationId xmlns:a16="http://schemas.microsoft.com/office/drawing/2014/main" id="{4AD87A2B-925D-19B3-52ED-B3B92546BD85}"/>
              </a:ext>
            </a:extLst>
          </p:cNvPr>
          <p:cNvSpPr/>
          <p:nvPr/>
        </p:nvSpPr>
        <p:spPr>
          <a:xfrm>
            <a:off x="0" y="-27195"/>
            <a:ext cx="12201524" cy="6877199"/>
          </a:xfrm>
          <a:prstGeom prst="rect">
            <a:avLst/>
          </a:prstGeom>
          <a:solidFill>
            <a:schemeClr val="tx1">
              <a:alpha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Pentagon 57">
            <a:extLst>
              <a:ext uri="{FF2B5EF4-FFF2-40B4-BE49-F238E27FC236}">
                <a16:creationId xmlns:a16="http://schemas.microsoft.com/office/drawing/2014/main" id="{5D8E51FC-02D4-EA7A-E810-794F3B4E9AFA}"/>
              </a:ext>
            </a:extLst>
          </p:cNvPr>
          <p:cNvSpPr/>
          <p:nvPr/>
        </p:nvSpPr>
        <p:spPr>
          <a:xfrm>
            <a:off x="-594715" y="2476526"/>
            <a:ext cx="6475561" cy="527514"/>
          </a:xfrm>
          <a:prstGeom prst="homePlate">
            <a:avLst/>
          </a:prstGeom>
          <a:no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400" b="1" dirty="0">
                <a:solidFill>
                  <a:schemeClr val="bg1"/>
                </a:solidFill>
                <a:latin typeface="Bahnschrift" panose="020B0502040204020203" pitchFamily="34" charset="0"/>
                <a:cs typeface="Dubai Light" panose="020B0303030403030204" pitchFamily="34" charset="-78"/>
              </a:rPr>
              <a:t>OBJECTIVES</a:t>
            </a:r>
          </a:p>
        </p:txBody>
      </p:sp>
      <p:cxnSp>
        <p:nvCxnSpPr>
          <p:cNvPr id="7" name="Straight Connector 6">
            <a:extLst>
              <a:ext uri="{FF2B5EF4-FFF2-40B4-BE49-F238E27FC236}">
                <a16:creationId xmlns:a16="http://schemas.microsoft.com/office/drawing/2014/main" id="{F8691F42-6E22-1B87-9917-5F85D76A2168}"/>
              </a:ext>
            </a:extLst>
          </p:cNvPr>
          <p:cNvCxnSpPr>
            <a:cxnSpLocks/>
          </p:cNvCxnSpPr>
          <p:nvPr/>
        </p:nvCxnSpPr>
        <p:spPr>
          <a:xfrm flipV="1">
            <a:off x="5495925" y="808527"/>
            <a:ext cx="0" cy="4391025"/>
          </a:xfrm>
          <a:prstGeom prst="line">
            <a:avLst/>
          </a:prstGeom>
          <a:ln w="3175" cmpd="thickThin">
            <a:solidFill>
              <a:schemeClr val="bg1"/>
            </a:solidFill>
          </a:ln>
        </p:spPr>
        <p:style>
          <a:lnRef idx="1">
            <a:schemeClr val="accent1"/>
          </a:lnRef>
          <a:fillRef idx="0">
            <a:schemeClr val="accent1"/>
          </a:fillRef>
          <a:effectRef idx="0">
            <a:schemeClr val="accent1"/>
          </a:effectRef>
          <a:fontRef idx="minor">
            <a:schemeClr val="tx1"/>
          </a:fontRef>
        </p:style>
      </p:cxnSp>
      <p:sp>
        <p:nvSpPr>
          <p:cNvPr id="6" name="Flowchart: Connector 5" descr="Laptop with solid fill">
            <a:extLst>
              <a:ext uri="{FF2B5EF4-FFF2-40B4-BE49-F238E27FC236}">
                <a16:creationId xmlns:a16="http://schemas.microsoft.com/office/drawing/2014/main" id="{64B675E2-9EE0-D952-C141-BA6D2071184A}"/>
              </a:ext>
            </a:extLst>
          </p:cNvPr>
          <p:cNvSpPr/>
          <p:nvPr/>
        </p:nvSpPr>
        <p:spPr>
          <a:xfrm>
            <a:off x="4984936" y="514350"/>
            <a:ext cx="1064728" cy="1038633"/>
          </a:xfrm>
          <a:prstGeom prst="flowChartConnector">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14" name="Graphic 13" descr="Laptop with solid fill">
            <a:extLst>
              <a:ext uri="{FF2B5EF4-FFF2-40B4-BE49-F238E27FC236}">
                <a16:creationId xmlns:a16="http://schemas.microsoft.com/office/drawing/2014/main" id="{0A724E39-D0BC-E2AF-904F-FE50CC05C20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114924" y="643141"/>
            <a:ext cx="791012" cy="759251"/>
          </a:xfrm>
          <a:prstGeom prst="rect">
            <a:avLst/>
          </a:prstGeom>
        </p:spPr>
      </p:pic>
      <p:sp>
        <p:nvSpPr>
          <p:cNvPr id="15" name="Rectangle 14">
            <a:extLst>
              <a:ext uri="{FF2B5EF4-FFF2-40B4-BE49-F238E27FC236}">
                <a16:creationId xmlns:a16="http://schemas.microsoft.com/office/drawing/2014/main" id="{F1E17EDA-4F22-481F-B09A-6E05E2CC8F63}"/>
              </a:ext>
            </a:extLst>
          </p:cNvPr>
          <p:cNvSpPr/>
          <p:nvPr/>
        </p:nvSpPr>
        <p:spPr>
          <a:xfrm>
            <a:off x="6004163" y="643141"/>
            <a:ext cx="5930662" cy="759251"/>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en-GB" dirty="0">
                <a:solidFill>
                  <a:schemeClr val="bg1"/>
                </a:solidFill>
                <a:latin typeface="Bahnschrift" panose="020B0502040204020203" pitchFamily="34" charset="0"/>
              </a:rPr>
              <a:t>To develop a desktop-based application for efficient Laundry management.</a:t>
            </a:r>
          </a:p>
        </p:txBody>
      </p:sp>
      <p:sp>
        <p:nvSpPr>
          <p:cNvPr id="18" name="Flowchart: Connector 17" descr="Laptop with solid fill">
            <a:extLst>
              <a:ext uri="{FF2B5EF4-FFF2-40B4-BE49-F238E27FC236}">
                <a16:creationId xmlns:a16="http://schemas.microsoft.com/office/drawing/2014/main" id="{442F5796-73DE-CBA9-3491-22CC4162EE30}"/>
              </a:ext>
            </a:extLst>
          </p:cNvPr>
          <p:cNvSpPr/>
          <p:nvPr/>
        </p:nvSpPr>
        <p:spPr>
          <a:xfrm>
            <a:off x="4963561" y="2076858"/>
            <a:ext cx="1064728" cy="1038633"/>
          </a:xfrm>
          <a:prstGeom prst="flowChartConnector">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20" name="Graphic 19" descr="Newspaper with solid fill">
            <a:extLst>
              <a:ext uri="{FF2B5EF4-FFF2-40B4-BE49-F238E27FC236}">
                <a16:creationId xmlns:a16="http://schemas.microsoft.com/office/drawing/2014/main" id="{C743148F-C096-928A-A5B8-A97BF3211D25}"/>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5109429" y="2205649"/>
            <a:ext cx="759251" cy="759251"/>
          </a:xfrm>
          <a:prstGeom prst="rect">
            <a:avLst/>
          </a:prstGeom>
        </p:spPr>
      </p:pic>
      <p:sp>
        <p:nvSpPr>
          <p:cNvPr id="24" name="Rectangle 23">
            <a:extLst>
              <a:ext uri="{FF2B5EF4-FFF2-40B4-BE49-F238E27FC236}">
                <a16:creationId xmlns:a16="http://schemas.microsoft.com/office/drawing/2014/main" id="{6C3F6CF7-3CD3-5BF5-AD92-910E995BEBB7}"/>
              </a:ext>
            </a:extLst>
          </p:cNvPr>
          <p:cNvSpPr/>
          <p:nvPr/>
        </p:nvSpPr>
        <p:spPr>
          <a:xfrm>
            <a:off x="6032738" y="2195716"/>
            <a:ext cx="5930662" cy="759251"/>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en-GB" dirty="0">
                <a:solidFill>
                  <a:schemeClr val="bg1"/>
                </a:solidFill>
                <a:latin typeface="Bahnschrift" panose="020B0502040204020203" pitchFamily="34" charset="0"/>
              </a:rPr>
              <a:t>To maintain customer information and laundry order records in a centralized database.</a:t>
            </a:r>
          </a:p>
        </p:txBody>
      </p:sp>
      <p:sp>
        <p:nvSpPr>
          <p:cNvPr id="26" name="Flowchart: Connector 25" descr="Laptop with solid fill">
            <a:extLst>
              <a:ext uri="{FF2B5EF4-FFF2-40B4-BE49-F238E27FC236}">
                <a16:creationId xmlns:a16="http://schemas.microsoft.com/office/drawing/2014/main" id="{55848CDD-21CE-B4E5-2789-BE705F07F260}"/>
              </a:ext>
            </a:extLst>
          </p:cNvPr>
          <p:cNvSpPr/>
          <p:nvPr/>
        </p:nvSpPr>
        <p:spPr>
          <a:xfrm>
            <a:off x="4939435" y="3519717"/>
            <a:ext cx="1064728" cy="1038633"/>
          </a:xfrm>
          <a:prstGeom prst="flowChartConnector">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28" name="Graphic 27" descr="Research with solid fill">
            <a:extLst>
              <a:ext uri="{FF2B5EF4-FFF2-40B4-BE49-F238E27FC236}">
                <a16:creationId xmlns:a16="http://schemas.microsoft.com/office/drawing/2014/main" id="{4F6982BA-D8AF-0C92-3501-7BC1B0762E81}"/>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5085303" y="3648508"/>
            <a:ext cx="759251" cy="759251"/>
          </a:xfrm>
          <a:prstGeom prst="rect">
            <a:avLst/>
          </a:prstGeom>
        </p:spPr>
      </p:pic>
      <p:sp>
        <p:nvSpPr>
          <p:cNvPr id="30" name="Rectangle 29">
            <a:extLst>
              <a:ext uri="{FF2B5EF4-FFF2-40B4-BE49-F238E27FC236}">
                <a16:creationId xmlns:a16="http://schemas.microsoft.com/office/drawing/2014/main" id="{F9C0ECA3-D278-1B83-44B8-A07334D6280C}"/>
              </a:ext>
            </a:extLst>
          </p:cNvPr>
          <p:cNvSpPr/>
          <p:nvPr/>
        </p:nvSpPr>
        <p:spPr>
          <a:xfrm>
            <a:off x="6028289" y="3567342"/>
            <a:ext cx="5930662" cy="759251"/>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en-GB" dirty="0">
                <a:solidFill>
                  <a:schemeClr val="bg1"/>
                </a:solidFill>
                <a:latin typeface="Bahnschrift" panose="020B0502040204020203" pitchFamily="34" charset="0"/>
              </a:rPr>
              <a:t>To simplify the tracking of laundry orders and generate invoices accurately.</a:t>
            </a:r>
          </a:p>
        </p:txBody>
      </p:sp>
      <p:sp>
        <p:nvSpPr>
          <p:cNvPr id="32" name="Flowchart: Connector 31" descr="Laptop with solid fill">
            <a:extLst>
              <a:ext uri="{FF2B5EF4-FFF2-40B4-BE49-F238E27FC236}">
                <a16:creationId xmlns:a16="http://schemas.microsoft.com/office/drawing/2014/main" id="{25172C90-8457-ABE8-5ECA-EA4E727BF641}"/>
              </a:ext>
            </a:extLst>
          </p:cNvPr>
          <p:cNvSpPr/>
          <p:nvPr/>
        </p:nvSpPr>
        <p:spPr>
          <a:xfrm>
            <a:off x="4956690" y="4979259"/>
            <a:ext cx="1064728" cy="1038633"/>
          </a:xfrm>
          <a:prstGeom prst="flowChartConnector">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34" name="Graphic 33" descr="Downward trend graph with solid fill">
            <a:extLst>
              <a:ext uri="{FF2B5EF4-FFF2-40B4-BE49-F238E27FC236}">
                <a16:creationId xmlns:a16="http://schemas.microsoft.com/office/drawing/2014/main" id="{8362A876-899B-6FCE-D5C6-9C1E9D60BA88}"/>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5085303" y="5090803"/>
            <a:ext cx="759251" cy="759251"/>
          </a:xfrm>
          <a:prstGeom prst="rect">
            <a:avLst/>
          </a:prstGeom>
        </p:spPr>
      </p:pic>
      <p:sp>
        <p:nvSpPr>
          <p:cNvPr id="39" name="Rectangle 38">
            <a:extLst>
              <a:ext uri="{FF2B5EF4-FFF2-40B4-BE49-F238E27FC236}">
                <a16:creationId xmlns:a16="http://schemas.microsoft.com/office/drawing/2014/main" id="{428E7929-FCA9-2A6A-1631-744CB90100BA}"/>
              </a:ext>
            </a:extLst>
          </p:cNvPr>
          <p:cNvSpPr/>
          <p:nvPr/>
        </p:nvSpPr>
        <p:spPr>
          <a:xfrm>
            <a:off x="12087622" y="4984251"/>
            <a:ext cx="5930662" cy="759251"/>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en-GB" dirty="0">
                <a:solidFill>
                  <a:schemeClr val="bg1"/>
                </a:solidFill>
                <a:latin typeface="Bahnschrift" panose="020B0502040204020203" pitchFamily="34" charset="0"/>
              </a:rPr>
              <a:t>To reduce manual paperwork and improve the overall efficiency of daily </a:t>
            </a:r>
            <a:r>
              <a:rPr lang="en-GB" dirty="0" err="1">
                <a:solidFill>
                  <a:schemeClr val="bg1"/>
                </a:solidFill>
                <a:latin typeface="Bahnschrift" panose="020B0502040204020203" pitchFamily="34" charset="0"/>
              </a:rPr>
              <a:t>laun</a:t>
            </a:r>
            <a:r>
              <a:rPr lang="en-GB" dirty="0">
                <a:solidFill>
                  <a:schemeClr val="bg1"/>
                </a:solidFill>
                <a:latin typeface="Bahnschrift" panose="020B0502040204020203" pitchFamily="34" charset="0"/>
              </a:rPr>
              <a:t>-dry operations.</a:t>
            </a:r>
          </a:p>
        </p:txBody>
      </p:sp>
      <p:sp>
        <p:nvSpPr>
          <p:cNvPr id="9" name="Pentagon 57">
            <a:extLst>
              <a:ext uri="{FF2B5EF4-FFF2-40B4-BE49-F238E27FC236}">
                <a16:creationId xmlns:a16="http://schemas.microsoft.com/office/drawing/2014/main" id="{5E056676-E9C4-6330-D39F-C8C984C5FDA3}"/>
              </a:ext>
            </a:extLst>
          </p:cNvPr>
          <p:cNvSpPr/>
          <p:nvPr/>
        </p:nvSpPr>
        <p:spPr>
          <a:xfrm>
            <a:off x="-442315" y="-1667305"/>
            <a:ext cx="6475561" cy="527514"/>
          </a:xfrm>
          <a:prstGeom prst="homePlate">
            <a:avLst/>
          </a:prstGeom>
          <a:no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400" b="1" dirty="0">
                <a:solidFill>
                  <a:schemeClr val="bg1"/>
                </a:solidFill>
                <a:latin typeface="Bahnschrift" panose="020B0502040204020203" pitchFamily="34" charset="0"/>
                <a:cs typeface="Dubai Light" panose="020B0303030403030204" pitchFamily="34" charset="-78"/>
              </a:rPr>
              <a:t>ABOUT OUR</a:t>
            </a:r>
          </a:p>
          <a:p>
            <a:pPr algn="ctr"/>
            <a:r>
              <a:rPr lang="en-GB" sz="4400" b="1" dirty="0">
                <a:solidFill>
                  <a:schemeClr val="bg1"/>
                </a:solidFill>
                <a:latin typeface="Bahnschrift" panose="020B0502040204020203" pitchFamily="34" charset="0"/>
                <a:cs typeface="Dubai Light" panose="020B0303030403030204" pitchFamily="34" charset="-78"/>
              </a:rPr>
              <a:t> PROJECT</a:t>
            </a:r>
          </a:p>
        </p:txBody>
      </p:sp>
    </p:spTree>
    <p:extLst>
      <p:ext uri="{BB962C8B-B14F-4D97-AF65-F5344CB8AC3E}">
        <p14:creationId xmlns:p14="http://schemas.microsoft.com/office/powerpoint/2010/main" val="15264343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EA8765-BBC6-A782-5102-AD9FB5D22EB4}"/>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B3ADF8D-2427-A449-26B6-DBF6F062524B}"/>
              </a:ext>
            </a:extLst>
          </p:cNvPr>
          <p:cNvPicPr>
            <a:picLocks noChangeAspect="1"/>
          </p:cNvPicPr>
          <p:nvPr/>
        </p:nvPicPr>
        <p:blipFill>
          <a:blip r:embed="rId2">
            <a:extLst>
              <a:ext uri="{28A0092B-C50C-407E-A947-70E740481C1C}">
                <a14:useLocalDpi xmlns:a14="http://schemas.microsoft.com/office/drawing/2010/main" val="0"/>
              </a:ext>
            </a:extLst>
          </a:blip>
          <a:srcRect l="429" r="429"/>
          <a:stretch/>
        </p:blipFill>
        <p:spPr>
          <a:xfrm>
            <a:off x="1" y="-27195"/>
            <a:ext cx="12192000" cy="6862830"/>
          </a:xfrm>
          <a:prstGeom prst="rect">
            <a:avLst/>
          </a:prstGeom>
        </p:spPr>
      </p:pic>
      <p:sp>
        <p:nvSpPr>
          <p:cNvPr id="12" name="Rectangle 11">
            <a:extLst>
              <a:ext uri="{FF2B5EF4-FFF2-40B4-BE49-F238E27FC236}">
                <a16:creationId xmlns:a16="http://schemas.microsoft.com/office/drawing/2014/main" id="{4932FF0C-715C-8FD6-8BBE-74B02A52E22D}"/>
              </a:ext>
            </a:extLst>
          </p:cNvPr>
          <p:cNvSpPr/>
          <p:nvPr/>
        </p:nvSpPr>
        <p:spPr>
          <a:xfrm>
            <a:off x="-9524" y="-38553"/>
            <a:ext cx="12201524" cy="6896553"/>
          </a:xfrm>
          <a:prstGeom prst="rect">
            <a:avLst/>
          </a:prstGeom>
          <a:solidFill>
            <a:schemeClr val="tx1">
              <a:alpha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Pentagon 57">
            <a:extLst>
              <a:ext uri="{FF2B5EF4-FFF2-40B4-BE49-F238E27FC236}">
                <a16:creationId xmlns:a16="http://schemas.microsoft.com/office/drawing/2014/main" id="{B63EDC4D-6B56-E64E-5722-EB0A4A3F33AE}"/>
              </a:ext>
            </a:extLst>
          </p:cNvPr>
          <p:cNvSpPr/>
          <p:nvPr/>
        </p:nvSpPr>
        <p:spPr>
          <a:xfrm>
            <a:off x="-594715" y="2476526"/>
            <a:ext cx="6475561" cy="527514"/>
          </a:xfrm>
          <a:prstGeom prst="homePlate">
            <a:avLst/>
          </a:prstGeom>
          <a:no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400" b="1" dirty="0">
                <a:solidFill>
                  <a:schemeClr val="bg1"/>
                </a:solidFill>
                <a:latin typeface="Bahnschrift" panose="020B0502040204020203" pitchFamily="34" charset="0"/>
                <a:cs typeface="Dubai Light" panose="020B0303030403030204" pitchFamily="34" charset="-78"/>
              </a:rPr>
              <a:t>OBJECTIVES</a:t>
            </a:r>
          </a:p>
        </p:txBody>
      </p:sp>
      <p:cxnSp>
        <p:nvCxnSpPr>
          <p:cNvPr id="7" name="Straight Connector 6">
            <a:extLst>
              <a:ext uri="{FF2B5EF4-FFF2-40B4-BE49-F238E27FC236}">
                <a16:creationId xmlns:a16="http://schemas.microsoft.com/office/drawing/2014/main" id="{B54FDA25-50A8-64E4-6935-5AA157C041D0}"/>
              </a:ext>
            </a:extLst>
          </p:cNvPr>
          <p:cNvCxnSpPr>
            <a:cxnSpLocks/>
          </p:cNvCxnSpPr>
          <p:nvPr/>
        </p:nvCxnSpPr>
        <p:spPr>
          <a:xfrm flipV="1">
            <a:off x="5495925" y="808527"/>
            <a:ext cx="0" cy="4391025"/>
          </a:xfrm>
          <a:prstGeom prst="line">
            <a:avLst/>
          </a:prstGeom>
          <a:ln w="3175" cmpd="thickThin">
            <a:solidFill>
              <a:schemeClr val="bg1"/>
            </a:solidFill>
          </a:ln>
        </p:spPr>
        <p:style>
          <a:lnRef idx="1">
            <a:schemeClr val="accent1"/>
          </a:lnRef>
          <a:fillRef idx="0">
            <a:schemeClr val="accent1"/>
          </a:fillRef>
          <a:effectRef idx="0">
            <a:schemeClr val="accent1"/>
          </a:effectRef>
          <a:fontRef idx="minor">
            <a:schemeClr val="tx1"/>
          </a:fontRef>
        </p:style>
      </p:cxnSp>
      <p:sp>
        <p:nvSpPr>
          <p:cNvPr id="6" name="Flowchart: Connector 5" descr="Laptop with solid fill">
            <a:extLst>
              <a:ext uri="{FF2B5EF4-FFF2-40B4-BE49-F238E27FC236}">
                <a16:creationId xmlns:a16="http://schemas.microsoft.com/office/drawing/2014/main" id="{459C8BA8-5218-F370-F32B-C9D6D631E144}"/>
              </a:ext>
            </a:extLst>
          </p:cNvPr>
          <p:cNvSpPr/>
          <p:nvPr/>
        </p:nvSpPr>
        <p:spPr>
          <a:xfrm>
            <a:off x="4984936" y="514350"/>
            <a:ext cx="1064728" cy="1038633"/>
          </a:xfrm>
          <a:prstGeom prst="flowChartConnector">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14" name="Graphic 13" descr="Laptop with solid fill">
            <a:extLst>
              <a:ext uri="{FF2B5EF4-FFF2-40B4-BE49-F238E27FC236}">
                <a16:creationId xmlns:a16="http://schemas.microsoft.com/office/drawing/2014/main" id="{5F4BD3FA-0FAA-6BA0-929C-26F0D2423E2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114924" y="643141"/>
            <a:ext cx="791012" cy="759251"/>
          </a:xfrm>
          <a:prstGeom prst="rect">
            <a:avLst/>
          </a:prstGeom>
        </p:spPr>
      </p:pic>
      <p:sp>
        <p:nvSpPr>
          <p:cNvPr id="15" name="Rectangle 14">
            <a:extLst>
              <a:ext uri="{FF2B5EF4-FFF2-40B4-BE49-F238E27FC236}">
                <a16:creationId xmlns:a16="http://schemas.microsoft.com/office/drawing/2014/main" id="{3699CF59-42E8-B452-81E4-9C41687C28E9}"/>
              </a:ext>
            </a:extLst>
          </p:cNvPr>
          <p:cNvSpPr/>
          <p:nvPr/>
        </p:nvSpPr>
        <p:spPr>
          <a:xfrm>
            <a:off x="6004163" y="643141"/>
            <a:ext cx="5930662" cy="759251"/>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en-GB" dirty="0">
                <a:solidFill>
                  <a:schemeClr val="bg1"/>
                </a:solidFill>
                <a:latin typeface="Bahnschrift" panose="020B0502040204020203" pitchFamily="34" charset="0"/>
              </a:rPr>
              <a:t>To develop a desktop-based application for efficient Laundry management.</a:t>
            </a:r>
          </a:p>
        </p:txBody>
      </p:sp>
      <p:sp>
        <p:nvSpPr>
          <p:cNvPr id="18" name="Flowchart: Connector 17" descr="Laptop with solid fill">
            <a:extLst>
              <a:ext uri="{FF2B5EF4-FFF2-40B4-BE49-F238E27FC236}">
                <a16:creationId xmlns:a16="http://schemas.microsoft.com/office/drawing/2014/main" id="{0C6968B3-CE26-63D2-11B1-22E2F6062260}"/>
              </a:ext>
            </a:extLst>
          </p:cNvPr>
          <p:cNvSpPr/>
          <p:nvPr/>
        </p:nvSpPr>
        <p:spPr>
          <a:xfrm>
            <a:off x="4963561" y="2076858"/>
            <a:ext cx="1064728" cy="1038633"/>
          </a:xfrm>
          <a:prstGeom prst="flowChartConnector">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20" name="Graphic 19" descr="Newspaper with solid fill">
            <a:extLst>
              <a:ext uri="{FF2B5EF4-FFF2-40B4-BE49-F238E27FC236}">
                <a16:creationId xmlns:a16="http://schemas.microsoft.com/office/drawing/2014/main" id="{6C120103-6836-5712-0671-E38BE2052275}"/>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5109429" y="2205649"/>
            <a:ext cx="759251" cy="759251"/>
          </a:xfrm>
          <a:prstGeom prst="rect">
            <a:avLst/>
          </a:prstGeom>
        </p:spPr>
      </p:pic>
      <p:sp>
        <p:nvSpPr>
          <p:cNvPr id="24" name="Rectangle 23">
            <a:extLst>
              <a:ext uri="{FF2B5EF4-FFF2-40B4-BE49-F238E27FC236}">
                <a16:creationId xmlns:a16="http://schemas.microsoft.com/office/drawing/2014/main" id="{A14D5621-6D6D-8981-ED9E-98DE890346E5}"/>
              </a:ext>
            </a:extLst>
          </p:cNvPr>
          <p:cNvSpPr/>
          <p:nvPr/>
        </p:nvSpPr>
        <p:spPr>
          <a:xfrm>
            <a:off x="6032738" y="2195716"/>
            <a:ext cx="5930662" cy="759251"/>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en-GB" dirty="0">
                <a:solidFill>
                  <a:schemeClr val="bg1"/>
                </a:solidFill>
                <a:latin typeface="Bahnschrift" panose="020B0502040204020203" pitchFamily="34" charset="0"/>
              </a:rPr>
              <a:t>To maintain customer information and laundry order records in a centralized database.</a:t>
            </a:r>
          </a:p>
        </p:txBody>
      </p:sp>
      <p:sp>
        <p:nvSpPr>
          <p:cNvPr id="26" name="Flowchart: Connector 25" descr="Laptop with solid fill">
            <a:extLst>
              <a:ext uri="{FF2B5EF4-FFF2-40B4-BE49-F238E27FC236}">
                <a16:creationId xmlns:a16="http://schemas.microsoft.com/office/drawing/2014/main" id="{F5B64655-D4FA-8BDE-9244-A7B74CE58576}"/>
              </a:ext>
            </a:extLst>
          </p:cNvPr>
          <p:cNvSpPr/>
          <p:nvPr/>
        </p:nvSpPr>
        <p:spPr>
          <a:xfrm>
            <a:off x="4939435" y="3519717"/>
            <a:ext cx="1064728" cy="1038633"/>
          </a:xfrm>
          <a:prstGeom prst="flowChartConnector">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28" name="Graphic 27" descr="Research with solid fill">
            <a:extLst>
              <a:ext uri="{FF2B5EF4-FFF2-40B4-BE49-F238E27FC236}">
                <a16:creationId xmlns:a16="http://schemas.microsoft.com/office/drawing/2014/main" id="{447D6018-044F-53C2-E45A-72EAE1BA68C2}"/>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5085303" y="3648508"/>
            <a:ext cx="759251" cy="759251"/>
          </a:xfrm>
          <a:prstGeom prst="rect">
            <a:avLst/>
          </a:prstGeom>
        </p:spPr>
      </p:pic>
      <p:sp>
        <p:nvSpPr>
          <p:cNvPr id="30" name="Rectangle 29">
            <a:extLst>
              <a:ext uri="{FF2B5EF4-FFF2-40B4-BE49-F238E27FC236}">
                <a16:creationId xmlns:a16="http://schemas.microsoft.com/office/drawing/2014/main" id="{EDCCBB6E-0663-BA9F-6B91-6617081C5023}"/>
              </a:ext>
            </a:extLst>
          </p:cNvPr>
          <p:cNvSpPr/>
          <p:nvPr/>
        </p:nvSpPr>
        <p:spPr>
          <a:xfrm>
            <a:off x="6028289" y="3567342"/>
            <a:ext cx="5930662" cy="759251"/>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en-GB" dirty="0">
                <a:solidFill>
                  <a:schemeClr val="bg1"/>
                </a:solidFill>
                <a:latin typeface="Bahnschrift" panose="020B0502040204020203" pitchFamily="34" charset="0"/>
              </a:rPr>
              <a:t>To simplify the tracking of laundry orders and generate invoices accurately.</a:t>
            </a:r>
          </a:p>
        </p:txBody>
      </p:sp>
      <p:sp>
        <p:nvSpPr>
          <p:cNvPr id="32" name="Flowchart: Connector 31" descr="Laptop with solid fill">
            <a:extLst>
              <a:ext uri="{FF2B5EF4-FFF2-40B4-BE49-F238E27FC236}">
                <a16:creationId xmlns:a16="http://schemas.microsoft.com/office/drawing/2014/main" id="{3C9063C7-0A98-F6E8-EC44-62BF86C7FD28}"/>
              </a:ext>
            </a:extLst>
          </p:cNvPr>
          <p:cNvSpPr/>
          <p:nvPr/>
        </p:nvSpPr>
        <p:spPr>
          <a:xfrm>
            <a:off x="4956690" y="4979259"/>
            <a:ext cx="1064728" cy="1038633"/>
          </a:xfrm>
          <a:prstGeom prst="flowChartConnector">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34" name="Graphic 33" descr="Downward trend graph with solid fill">
            <a:extLst>
              <a:ext uri="{FF2B5EF4-FFF2-40B4-BE49-F238E27FC236}">
                <a16:creationId xmlns:a16="http://schemas.microsoft.com/office/drawing/2014/main" id="{BF42A4C1-CDCE-4A99-91E9-4EAE409C6491}"/>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5085303" y="5090803"/>
            <a:ext cx="759251" cy="759251"/>
          </a:xfrm>
          <a:prstGeom prst="rect">
            <a:avLst/>
          </a:prstGeom>
        </p:spPr>
      </p:pic>
      <p:sp>
        <p:nvSpPr>
          <p:cNvPr id="39" name="Rectangle 38">
            <a:extLst>
              <a:ext uri="{FF2B5EF4-FFF2-40B4-BE49-F238E27FC236}">
                <a16:creationId xmlns:a16="http://schemas.microsoft.com/office/drawing/2014/main" id="{DBB60A5E-9D97-6D03-9A83-FE5F5BDFC85A}"/>
              </a:ext>
            </a:extLst>
          </p:cNvPr>
          <p:cNvSpPr/>
          <p:nvPr/>
        </p:nvSpPr>
        <p:spPr>
          <a:xfrm>
            <a:off x="6035161" y="4984251"/>
            <a:ext cx="5930662" cy="759251"/>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en-GB" dirty="0">
                <a:solidFill>
                  <a:schemeClr val="bg1"/>
                </a:solidFill>
                <a:latin typeface="Bahnschrift" panose="020B0502040204020203" pitchFamily="34" charset="0"/>
              </a:rPr>
              <a:t>To reduce manual paperwork and improve the overall efficiency of daily </a:t>
            </a:r>
            <a:r>
              <a:rPr lang="en-GB" dirty="0" err="1">
                <a:solidFill>
                  <a:schemeClr val="bg1"/>
                </a:solidFill>
                <a:latin typeface="Bahnschrift" panose="020B0502040204020203" pitchFamily="34" charset="0"/>
              </a:rPr>
              <a:t>laun</a:t>
            </a:r>
            <a:r>
              <a:rPr lang="en-GB" dirty="0">
                <a:solidFill>
                  <a:schemeClr val="bg1"/>
                </a:solidFill>
                <a:latin typeface="Bahnschrift" panose="020B0502040204020203" pitchFamily="34" charset="0"/>
              </a:rPr>
              <a:t>-dry operations.</a:t>
            </a:r>
          </a:p>
        </p:txBody>
      </p:sp>
      <p:sp>
        <p:nvSpPr>
          <p:cNvPr id="9" name="Pentagon 57">
            <a:extLst>
              <a:ext uri="{FF2B5EF4-FFF2-40B4-BE49-F238E27FC236}">
                <a16:creationId xmlns:a16="http://schemas.microsoft.com/office/drawing/2014/main" id="{75E6EB0C-8C1F-9E19-193D-17EF5804A6AA}"/>
              </a:ext>
            </a:extLst>
          </p:cNvPr>
          <p:cNvSpPr/>
          <p:nvPr/>
        </p:nvSpPr>
        <p:spPr>
          <a:xfrm>
            <a:off x="-442315" y="-1667305"/>
            <a:ext cx="6475561" cy="527514"/>
          </a:xfrm>
          <a:prstGeom prst="homePlate">
            <a:avLst/>
          </a:prstGeom>
          <a:no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400" b="1" dirty="0">
                <a:solidFill>
                  <a:schemeClr val="bg1"/>
                </a:solidFill>
                <a:latin typeface="Bahnschrift" panose="020B0502040204020203" pitchFamily="34" charset="0"/>
                <a:cs typeface="Dubai Light" panose="020B0303030403030204" pitchFamily="34" charset="-78"/>
              </a:rPr>
              <a:t>ABOUT OUR</a:t>
            </a:r>
          </a:p>
          <a:p>
            <a:pPr algn="ctr"/>
            <a:r>
              <a:rPr lang="en-GB" sz="4400" b="1" dirty="0">
                <a:solidFill>
                  <a:schemeClr val="bg1"/>
                </a:solidFill>
                <a:latin typeface="Bahnschrift" panose="020B0502040204020203" pitchFamily="34" charset="0"/>
                <a:cs typeface="Dubai Light" panose="020B0303030403030204" pitchFamily="34" charset="-78"/>
              </a:rPr>
              <a:t> PROJECT</a:t>
            </a:r>
          </a:p>
        </p:txBody>
      </p:sp>
      <p:sp>
        <p:nvSpPr>
          <p:cNvPr id="8" name="Pentagon 57">
            <a:extLst>
              <a:ext uri="{FF2B5EF4-FFF2-40B4-BE49-F238E27FC236}">
                <a16:creationId xmlns:a16="http://schemas.microsoft.com/office/drawing/2014/main" id="{65786B4F-1F2C-9216-75CD-ADFA0FF75508}"/>
              </a:ext>
            </a:extLst>
          </p:cNvPr>
          <p:cNvSpPr/>
          <p:nvPr/>
        </p:nvSpPr>
        <p:spPr>
          <a:xfrm>
            <a:off x="2736313" y="7650872"/>
            <a:ext cx="6475561" cy="527514"/>
          </a:xfrm>
          <a:prstGeom prst="homePlate">
            <a:avLst/>
          </a:prstGeom>
          <a:no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400" b="1" dirty="0">
                <a:solidFill>
                  <a:schemeClr val="bg1"/>
                </a:solidFill>
                <a:latin typeface="Bahnschrift" panose="020B0502040204020203" pitchFamily="34" charset="0"/>
                <a:cs typeface="Dubai Light" panose="020B0303030403030204" pitchFamily="34" charset="-78"/>
              </a:rPr>
              <a:t>RELATED WORKS</a:t>
            </a:r>
          </a:p>
        </p:txBody>
      </p:sp>
      <p:sp>
        <p:nvSpPr>
          <p:cNvPr id="11" name="Rectangle: Rounded Corners 10">
            <a:hlinkClick r:id="rId7" action="ppaction://hlinksldjump"/>
            <a:extLst>
              <a:ext uri="{FF2B5EF4-FFF2-40B4-BE49-F238E27FC236}">
                <a16:creationId xmlns:a16="http://schemas.microsoft.com/office/drawing/2014/main" id="{C4CAB543-0C93-B7DD-7989-1EEF2E8D0FDC}"/>
              </a:ext>
            </a:extLst>
          </p:cNvPr>
          <p:cNvSpPr/>
          <p:nvPr/>
        </p:nvSpPr>
        <p:spPr>
          <a:xfrm>
            <a:off x="-4347608" y="952501"/>
            <a:ext cx="2743322" cy="1114424"/>
          </a:xfrm>
          <a:prstGeom prst="roundRect">
            <a:avLst/>
          </a:prstGeom>
          <a:noFill/>
          <a:ln w="38100">
            <a:solidFill>
              <a:schemeClr val="bg1">
                <a:lumMod val="95000"/>
              </a:schemeClr>
            </a:solidFill>
          </a:ln>
        </p:spPr>
        <p:style>
          <a:lnRef idx="0">
            <a:scrgbClr r="0" g="0" b="0"/>
          </a:lnRef>
          <a:fillRef idx="0">
            <a:scrgbClr r="0" g="0" b="0"/>
          </a:fillRef>
          <a:effectRef idx="0">
            <a:scrgbClr r="0" g="0" b="0"/>
          </a:effectRef>
          <a:fontRef idx="minor">
            <a:schemeClr val="dk1"/>
          </a:fontRef>
        </p:style>
        <p:txBody>
          <a:bodyPr rtlCol="0" anchor="ctr"/>
          <a:lstStyle/>
          <a:p>
            <a:pPr algn="ctr"/>
            <a:r>
              <a:rPr lang="en-GB" sz="2000" dirty="0">
                <a:solidFill>
                  <a:schemeClr val="bg1"/>
                </a:solidFill>
                <a:latin typeface="Bahnschrift" panose="020B0502040204020203" pitchFamily="34" charset="0"/>
              </a:rPr>
              <a:t>SMRT SYSTEM</a:t>
            </a:r>
          </a:p>
        </p:txBody>
      </p:sp>
      <p:sp>
        <p:nvSpPr>
          <p:cNvPr id="16" name="Rectangle: Rounded Corners 15">
            <a:hlinkClick r:id="rId8" action="ppaction://hlinksldjump"/>
            <a:extLst>
              <a:ext uri="{FF2B5EF4-FFF2-40B4-BE49-F238E27FC236}">
                <a16:creationId xmlns:a16="http://schemas.microsoft.com/office/drawing/2014/main" id="{886DC89A-8B82-92D4-5ABB-5E8253723C0C}"/>
              </a:ext>
            </a:extLst>
          </p:cNvPr>
          <p:cNvSpPr/>
          <p:nvPr/>
        </p:nvSpPr>
        <p:spPr>
          <a:xfrm>
            <a:off x="12809191" y="952501"/>
            <a:ext cx="2743322" cy="1114424"/>
          </a:xfrm>
          <a:prstGeom prst="roundRect">
            <a:avLst/>
          </a:prstGeom>
          <a:noFill/>
          <a:ln w="38100">
            <a:solidFill>
              <a:schemeClr val="bg1">
                <a:lumMod val="95000"/>
              </a:schemeClr>
            </a:solidFill>
          </a:ln>
        </p:spPr>
        <p:style>
          <a:lnRef idx="0">
            <a:scrgbClr r="0" g="0" b="0"/>
          </a:lnRef>
          <a:fillRef idx="0">
            <a:scrgbClr r="0" g="0" b="0"/>
          </a:fillRef>
          <a:effectRef idx="0">
            <a:scrgbClr r="0" g="0" b="0"/>
          </a:effectRef>
          <a:fontRef idx="minor">
            <a:schemeClr val="dk1"/>
          </a:fontRef>
        </p:style>
        <p:txBody>
          <a:bodyPr rtlCol="0" anchor="ctr"/>
          <a:lstStyle/>
          <a:p>
            <a:pPr algn="ctr"/>
            <a:r>
              <a:rPr lang="en-GB" sz="2000" dirty="0">
                <a:solidFill>
                  <a:schemeClr val="bg1"/>
                </a:solidFill>
                <a:latin typeface="Bahnschrift" panose="020B0502040204020203" pitchFamily="34" charset="0"/>
              </a:rPr>
              <a:t>CLEAN CLOUD</a:t>
            </a:r>
          </a:p>
        </p:txBody>
      </p:sp>
      <p:sp>
        <p:nvSpPr>
          <p:cNvPr id="19" name="Rectangle: Rounded Corners 18">
            <a:hlinkClick r:id="rId9" action="ppaction://hlinksldjump"/>
            <a:extLst>
              <a:ext uri="{FF2B5EF4-FFF2-40B4-BE49-F238E27FC236}">
                <a16:creationId xmlns:a16="http://schemas.microsoft.com/office/drawing/2014/main" id="{0F5C5713-C6A0-8D92-34A9-10A3FF72FA1D}"/>
              </a:ext>
            </a:extLst>
          </p:cNvPr>
          <p:cNvSpPr/>
          <p:nvPr/>
        </p:nvSpPr>
        <p:spPr>
          <a:xfrm>
            <a:off x="4376677" y="9391654"/>
            <a:ext cx="2743322" cy="1114424"/>
          </a:xfrm>
          <a:prstGeom prst="roundRect">
            <a:avLst/>
          </a:prstGeom>
          <a:noFill/>
          <a:ln w="38100">
            <a:solidFill>
              <a:schemeClr val="bg1">
                <a:lumMod val="95000"/>
              </a:schemeClr>
            </a:solidFill>
          </a:ln>
        </p:spPr>
        <p:style>
          <a:lnRef idx="0">
            <a:scrgbClr r="0" g="0" b="0"/>
          </a:lnRef>
          <a:fillRef idx="0">
            <a:scrgbClr r="0" g="0" b="0"/>
          </a:fillRef>
          <a:effectRef idx="0">
            <a:scrgbClr r="0" g="0" b="0"/>
          </a:effectRef>
          <a:fontRef idx="minor">
            <a:schemeClr val="dk1"/>
          </a:fontRef>
        </p:style>
        <p:txBody>
          <a:bodyPr rtlCol="0" anchor="ctr"/>
          <a:lstStyle/>
          <a:p>
            <a:pPr algn="ctr"/>
            <a:r>
              <a:rPr lang="en-GB" sz="2000" dirty="0">
                <a:solidFill>
                  <a:schemeClr val="bg1"/>
                </a:solidFill>
                <a:latin typeface="Bahnschrift" panose="020B0502040204020203" pitchFamily="34" charset="0"/>
              </a:rPr>
              <a:t>Manual Laundry Management</a:t>
            </a:r>
          </a:p>
        </p:txBody>
      </p:sp>
    </p:spTree>
    <p:extLst>
      <p:ext uri="{BB962C8B-B14F-4D97-AF65-F5344CB8AC3E}">
        <p14:creationId xmlns:p14="http://schemas.microsoft.com/office/powerpoint/2010/main" val="144531076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6EA9E7-6F1C-5E55-3757-E092CCF40235}"/>
            </a:ext>
          </a:extLst>
        </p:cNvPr>
        <p:cNvGrpSpPr/>
        <p:nvPr/>
      </p:nvGrpSpPr>
      <p:grpSpPr>
        <a:xfrm>
          <a:off x="0" y="0"/>
          <a:ext cx="0" cy="0"/>
          <a:chOff x="0" y="0"/>
          <a:chExt cx="0" cy="0"/>
        </a:xfrm>
      </p:grpSpPr>
      <p:pic>
        <p:nvPicPr>
          <p:cNvPr id="63" name="Picture 62">
            <a:extLst>
              <a:ext uri="{FF2B5EF4-FFF2-40B4-BE49-F238E27FC236}">
                <a16:creationId xmlns:a16="http://schemas.microsoft.com/office/drawing/2014/main" id="{BAD7F999-AB76-B229-7554-1C3A1EE82F19}"/>
              </a:ext>
            </a:extLst>
          </p:cNvPr>
          <p:cNvPicPr>
            <a:picLocks noChangeAspect="1"/>
          </p:cNvPicPr>
          <p:nvPr/>
        </p:nvPicPr>
        <p:blipFill>
          <a:blip r:embed="rId2">
            <a:extLst>
              <a:ext uri="{28A0092B-C50C-407E-A947-70E740481C1C}">
                <a14:useLocalDpi xmlns:a14="http://schemas.microsoft.com/office/drawing/2010/main" val="0"/>
              </a:ext>
            </a:extLst>
          </a:blip>
          <a:srcRect t="7057" b="7057"/>
          <a:stretch/>
        </p:blipFill>
        <p:spPr>
          <a:xfrm>
            <a:off x="1" y="8333040"/>
            <a:ext cx="12192000" cy="6862830"/>
          </a:xfrm>
          <a:prstGeom prst="rect">
            <a:avLst/>
          </a:prstGeom>
        </p:spPr>
      </p:pic>
      <p:sp>
        <p:nvSpPr>
          <p:cNvPr id="65" name="Rectangle 64">
            <a:extLst>
              <a:ext uri="{FF2B5EF4-FFF2-40B4-BE49-F238E27FC236}">
                <a16:creationId xmlns:a16="http://schemas.microsoft.com/office/drawing/2014/main" id="{F2B4D0CF-5155-5D4D-A705-0BBB3C4CFC05}"/>
              </a:ext>
            </a:extLst>
          </p:cNvPr>
          <p:cNvSpPr/>
          <p:nvPr/>
        </p:nvSpPr>
        <p:spPr>
          <a:xfrm>
            <a:off x="-9524" y="8040922"/>
            <a:ext cx="12201524" cy="7186988"/>
          </a:xfrm>
          <a:prstGeom prst="rect">
            <a:avLst/>
          </a:prstGeom>
          <a:solidFill>
            <a:schemeClr val="tx1">
              <a:alpha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5" name="Picture 4">
            <a:extLst>
              <a:ext uri="{FF2B5EF4-FFF2-40B4-BE49-F238E27FC236}">
                <a16:creationId xmlns:a16="http://schemas.microsoft.com/office/drawing/2014/main" id="{A7894D99-C71C-BA82-602C-86AFFE95F6B1}"/>
              </a:ext>
            </a:extLst>
          </p:cNvPr>
          <p:cNvPicPr>
            <a:picLocks noChangeAspect="1"/>
          </p:cNvPicPr>
          <p:nvPr/>
        </p:nvPicPr>
        <p:blipFill>
          <a:blip r:embed="rId3">
            <a:extLst>
              <a:ext uri="{28A0092B-C50C-407E-A947-70E740481C1C}">
                <a14:useLocalDpi xmlns:a14="http://schemas.microsoft.com/office/drawing/2010/main" val="0"/>
              </a:ext>
            </a:extLst>
          </a:blip>
          <a:srcRect t="7825" b="7825"/>
          <a:stretch/>
        </p:blipFill>
        <p:spPr>
          <a:xfrm>
            <a:off x="1" y="-27195"/>
            <a:ext cx="12192000" cy="6862830"/>
          </a:xfrm>
          <a:prstGeom prst="rect">
            <a:avLst/>
          </a:prstGeom>
        </p:spPr>
      </p:pic>
      <p:sp>
        <p:nvSpPr>
          <p:cNvPr id="12" name="Rectangle 11">
            <a:extLst>
              <a:ext uri="{FF2B5EF4-FFF2-40B4-BE49-F238E27FC236}">
                <a16:creationId xmlns:a16="http://schemas.microsoft.com/office/drawing/2014/main" id="{DD0142F0-87BD-2E30-868A-F2227AB52170}"/>
              </a:ext>
            </a:extLst>
          </p:cNvPr>
          <p:cNvSpPr/>
          <p:nvPr/>
        </p:nvSpPr>
        <p:spPr>
          <a:xfrm>
            <a:off x="-9524" y="-27195"/>
            <a:ext cx="12201524" cy="6894869"/>
          </a:xfrm>
          <a:prstGeom prst="rect">
            <a:avLst/>
          </a:prstGeom>
          <a:solidFill>
            <a:schemeClr val="tx1">
              <a:alpha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Pentagon 57">
            <a:extLst>
              <a:ext uri="{FF2B5EF4-FFF2-40B4-BE49-F238E27FC236}">
                <a16:creationId xmlns:a16="http://schemas.microsoft.com/office/drawing/2014/main" id="{D7E92522-F67D-CDDD-FDBC-693F2FE8618F}"/>
              </a:ext>
            </a:extLst>
          </p:cNvPr>
          <p:cNvSpPr/>
          <p:nvPr/>
        </p:nvSpPr>
        <p:spPr>
          <a:xfrm>
            <a:off x="-594715" y="-2893757"/>
            <a:ext cx="6475561" cy="527514"/>
          </a:xfrm>
          <a:prstGeom prst="homePlate">
            <a:avLst/>
          </a:prstGeom>
          <a:no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400" b="1" dirty="0">
                <a:solidFill>
                  <a:schemeClr val="bg1"/>
                </a:solidFill>
                <a:latin typeface="Bahnschrift" panose="020B0502040204020203" pitchFamily="34" charset="0"/>
                <a:cs typeface="Dubai Light" panose="020B0303030403030204" pitchFamily="34" charset="-78"/>
              </a:rPr>
              <a:t>OBJECTIVES</a:t>
            </a:r>
          </a:p>
        </p:txBody>
      </p:sp>
      <p:sp>
        <p:nvSpPr>
          <p:cNvPr id="11" name="Pentagon 57">
            <a:extLst>
              <a:ext uri="{FF2B5EF4-FFF2-40B4-BE49-F238E27FC236}">
                <a16:creationId xmlns:a16="http://schemas.microsoft.com/office/drawing/2014/main" id="{CE64D45A-745A-76AA-34D3-1BB2786E13C7}"/>
              </a:ext>
            </a:extLst>
          </p:cNvPr>
          <p:cNvSpPr/>
          <p:nvPr/>
        </p:nvSpPr>
        <p:spPr>
          <a:xfrm>
            <a:off x="2721800" y="2890180"/>
            <a:ext cx="6475561" cy="527514"/>
          </a:xfrm>
          <a:prstGeom prst="homePlate">
            <a:avLst/>
          </a:prstGeom>
          <a:no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400" b="1" dirty="0">
                <a:solidFill>
                  <a:schemeClr val="bg1"/>
                </a:solidFill>
                <a:latin typeface="Bahnschrift" panose="020B0502040204020203" pitchFamily="34" charset="0"/>
                <a:cs typeface="Dubai Light" panose="020B0303030403030204" pitchFamily="34" charset="-78"/>
              </a:rPr>
              <a:t>RELATED WORKS</a:t>
            </a:r>
          </a:p>
        </p:txBody>
      </p:sp>
      <p:sp>
        <p:nvSpPr>
          <p:cNvPr id="25" name="Rectangle 24">
            <a:extLst>
              <a:ext uri="{FF2B5EF4-FFF2-40B4-BE49-F238E27FC236}">
                <a16:creationId xmlns:a16="http://schemas.microsoft.com/office/drawing/2014/main" id="{D0205803-7635-A05A-31A3-0BA50C0C0B56}"/>
              </a:ext>
            </a:extLst>
          </p:cNvPr>
          <p:cNvSpPr/>
          <p:nvPr/>
        </p:nvSpPr>
        <p:spPr>
          <a:xfrm>
            <a:off x="1257300" y="723900"/>
            <a:ext cx="2409825" cy="885825"/>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endParaRPr lang="en-GB">
              <a:solidFill>
                <a:schemeClr val="bg1"/>
              </a:solidFill>
            </a:endParaRPr>
          </a:p>
        </p:txBody>
      </p:sp>
      <p:sp>
        <p:nvSpPr>
          <p:cNvPr id="27" name="Rectangle: Rounded Corners 26">
            <a:hlinkClick r:id="rId4" action="ppaction://hlinksldjump"/>
            <a:extLst>
              <a:ext uri="{FF2B5EF4-FFF2-40B4-BE49-F238E27FC236}">
                <a16:creationId xmlns:a16="http://schemas.microsoft.com/office/drawing/2014/main" id="{22F895C8-83C8-C8BD-044A-950083503CEF}"/>
              </a:ext>
            </a:extLst>
          </p:cNvPr>
          <p:cNvSpPr/>
          <p:nvPr/>
        </p:nvSpPr>
        <p:spPr>
          <a:xfrm>
            <a:off x="1400053" y="952501"/>
            <a:ext cx="2743322" cy="1114424"/>
          </a:xfrm>
          <a:prstGeom prst="roundRect">
            <a:avLst/>
          </a:prstGeom>
          <a:noFill/>
          <a:ln w="38100">
            <a:solidFill>
              <a:schemeClr val="bg1">
                <a:lumMod val="95000"/>
              </a:schemeClr>
            </a:solidFill>
          </a:ln>
        </p:spPr>
        <p:style>
          <a:lnRef idx="0">
            <a:scrgbClr r="0" g="0" b="0"/>
          </a:lnRef>
          <a:fillRef idx="0">
            <a:scrgbClr r="0" g="0" b="0"/>
          </a:fillRef>
          <a:effectRef idx="0">
            <a:scrgbClr r="0" g="0" b="0"/>
          </a:effectRef>
          <a:fontRef idx="minor">
            <a:schemeClr val="dk1"/>
          </a:fontRef>
        </p:style>
        <p:txBody>
          <a:bodyPr rtlCol="0" anchor="ctr"/>
          <a:lstStyle/>
          <a:p>
            <a:pPr algn="ctr"/>
            <a:r>
              <a:rPr lang="en-GB" sz="2000" dirty="0">
                <a:solidFill>
                  <a:schemeClr val="bg1"/>
                </a:solidFill>
                <a:latin typeface="Bahnschrift" panose="020B0502040204020203" pitchFamily="34" charset="0"/>
              </a:rPr>
              <a:t>SMRT SYSTEM</a:t>
            </a:r>
          </a:p>
        </p:txBody>
      </p:sp>
      <p:sp>
        <p:nvSpPr>
          <p:cNvPr id="33" name="Rectangle: Rounded Corners 32">
            <a:hlinkClick r:id="rId5" action="ppaction://hlinksldjump"/>
            <a:extLst>
              <a:ext uri="{FF2B5EF4-FFF2-40B4-BE49-F238E27FC236}">
                <a16:creationId xmlns:a16="http://schemas.microsoft.com/office/drawing/2014/main" id="{3B524481-7CF7-8B6F-4649-3119BB27DBF7}"/>
              </a:ext>
            </a:extLst>
          </p:cNvPr>
          <p:cNvSpPr/>
          <p:nvPr/>
        </p:nvSpPr>
        <p:spPr>
          <a:xfrm>
            <a:off x="7438903" y="952501"/>
            <a:ext cx="2743322" cy="1114424"/>
          </a:xfrm>
          <a:prstGeom prst="roundRect">
            <a:avLst/>
          </a:prstGeom>
          <a:noFill/>
          <a:ln w="38100">
            <a:solidFill>
              <a:schemeClr val="bg1">
                <a:lumMod val="95000"/>
              </a:schemeClr>
            </a:solidFill>
          </a:ln>
        </p:spPr>
        <p:style>
          <a:lnRef idx="0">
            <a:scrgbClr r="0" g="0" b="0"/>
          </a:lnRef>
          <a:fillRef idx="0">
            <a:scrgbClr r="0" g="0" b="0"/>
          </a:fillRef>
          <a:effectRef idx="0">
            <a:scrgbClr r="0" g="0" b="0"/>
          </a:effectRef>
          <a:fontRef idx="minor">
            <a:schemeClr val="dk1"/>
          </a:fontRef>
        </p:style>
        <p:txBody>
          <a:bodyPr rtlCol="0" anchor="ctr"/>
          <a:lstStyle/>
          <a:p>
            <a:pPr algn="ctr"/>
            <a:r>
              <a:rPr lang="en-GB" sz="2000" dirty="0">
                <a:solidFill>
                  <a:schemeClr val="bg1"/>
                </a:solidFill>
                <a:latin typeface="Bahnschrift" panose="020B0502040204020203" pitchFamily="34" charset="0"/>
              </a:rPr>
              <a:t>CLEAN CLOUD</a:t>
            </a:r>
          </a:p>
        </p:txBody>
      </p:sp>
      <p:sp>
        <p:nvSpPr>
          <p:cNvPr id="37" name="Rectangle: Rounded Corners 36">
            <a:hlinkClick r:id="rId6" action="ppaction://hlinksldjump"/>
            <a:extLst>
              <a:ext uri="{FF2B5EF4-FFF2-40B4-BE49-F238E27FC236}">
                <a16:creationId xmlns:a16="http://schemas.microsoft.com/office/drawing/2014/main" id="{559B3880-2384-EE53-72D7-ED4FE1FE6285}"/>
              </a:ext>
            </a:extLst>
          </p:cNvPr>
          <p:cNvSpPr/>
          <p:nvPr/>
        </p:nvSpPr>
        <p:spPr>
          <a:xfrm>
            <a:off x="4376677" y="4514851"/>
            <a:ext cx="2743322" cy="1114424"/>
          </a:xfrm>
          <a:prstGeom prst="roundRect">
            <a:avLst/>
          </a:prstGeom>
          <a:noFill/>
          <a:ln w="38100">
            <a:solidFill>
              <a:schemeClr val="bg1">
                <a:lumMod val="95000"/>
              </a:schemeClr>
            </a:solidFill>
          </a:ln>
        </p:spPr>
        <p:style>
          <a:lnRef idx="0">
            <a:scrgbClr r="0" g="0" b="0"/>
          </a:lnRef>
          <a:fillRef idx="0">
            <a:scrgbClr r="0" g="0" b="0"/>
          </a:fillRef>
          <a:effectRef idx="0">
            <a:scrgbClr r="0" g="0" b="0"/>
          </a:effectRef>
          <a:fontRef idx="minor">
            <a:schemeClr val="dk1"/>
          </a:fontRef>
        </p:style>
        <p:txBody>
          <a:bodyPr rtlCol="0" anchor="ctr"/>
          <a:lstStyle/>
          <a:p>
            <a:pPr algn="ctr"/>
            <a:r>
              <a:rPr lang="en-GB" sz="2000" dirty="0">
                <a:solidFill>
                  <a:schemeClr val="bg1"/>
                </a:solidFill>
                <a:latin typeface="Bahnschrift" panose="020B0502040204020203" pitchFamily="34" charset="0"/>
              </a:rPr>
              <a:t>Manual Laundry Management</a:t>
            </a:r>
          </a:p>
        </p:txBody>
      </p:sp>
      <p:cxnSp>
        <p:nvCxnSpPr>
          <p:cNvPr id="44" name="Straight Arrow Connector 43">
            <a:extLst>
              <a:ext uri="{FF2B5EF4-FFF2-40B4-BE49-F238E27FC236}">
                <a16:creationId xmlns:a16="http://schemas.microsoft.com/office/drawing/2014/main" id="{F14792F4-D624-7E62-BCA8-61B138F8D6A3}"/>
              </a:ext>
            </a:extLst>
          </p:cNvPr>
          <p:cNvCxnSpPr>
            <a:cxnSpLocks/>
            <a:endCxn id="33" idx="1"/>
          </p:cNvCxnSpPr>
          <p:nvPr/>
        </p:nvCxnSpPr>
        <p:spPr>
          <a:xfrm>
            <a:off x="4143375" y="1509713"/>
            <a:ext cx="3295528" cy="0"/>
          </a:xfrm>
          <a:prstGeom prst="straightConnector1">
            <a:avLst/>
          </a:prstGeom>
          <a:ln w="28575">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3D232DC4-10AD-9F85-0B1A-2BA9ABE73197}"/>
              </a:ext>
            </a:extLst>
          </p:cNvPr>
          <p:cNvCxnSpPr/>
          <p:nvPr/>
        </p:nvCxnSpPr>
        <p:spPr>
          <a:xfrm>
            <a:off x="5695950" y="1509713"/>
            <a:ext cx="0" cy="1185862"/>
          </a:xfrm>
          <a:prstGeom prst="straightConnector1">
            <a:avLst/>
          </a:prstGeom>
          <a:ln w="28575">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a:extLst>
              <a:ext uri="{FF2B5EF4-FFF2-40B4-BE49-F238E27FC236}">
                <a16:creationId xmlns:a16="http://schemas.microsoft.com/office/drawing/2014/main" id="{29C9CD38-0507-46C5-7164-0FAED0612963}"/>
              </a:ext>
            </a:extLst>
          </p:cNvPr>
          <p:cNvCxnSpPr>
            <a:cxnSpLocks/>
          </p:cNvCxnSpPr>
          <p:nvPr/>
        </p:nvCxnSpPr>
        <p:spPr>
          <a:xfrm flipV="1">
            <a:off x="5695950" y="3505200"/>
            <a:ext cx="0" cy="1009651"/>
          </a:xfrm>
          <a:prstGeom prst="straightConnector1">
            <a:avLst/>
          </a:prstGeom>
          <a:ln w="28575">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59" name="Flowchart: Alternate Process 58">
            <a:hlinkClick r:id="rId7" action="ppaction://hlinksldjump"/>
            <a:extLst>
              <a:ext uri="{FF2B5EF4-FFF2-40B4-BE49-F238E27FC236}">
                <a16:creationId xmlns:a16="http://schemas.microsoft.com/office/drawing/2014/main" id="{06ED5E50-1AB6-33D2-F7E3-C4575306E84E}"/>
              </a:ext>
            </a:extLst>
          </p:cNvPr>
          <p:cNvSpPr/>
          <p:nvPr/>
        </p:nvSpPr>
        <p:spPr>
          <a:xfrm>
            <a:off x="10033000" y="5954793"/>
            <a:ext cx="1727200" cy="619267"/>
          </a:xfrm>
          <a:prstGeom prst="flowChartAlternateProcess">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dirty="0">
                <a:latin typeface="Bahnschrift" panose="020B0502040204020203" pitchFamily="34" charset="0"/>
              </a:rPr>
              <a:t>NEXT</a:t>
            </a:r>
          </a:p>
        </p:txBody>
      </p:sp>
      <p:sp>
        <p:nvSpPr>
          <p:cNvPr id="61" name="Pentagon 57">
            <a:extLst>
              <a:ext uri="{FF2B5EF4-FFF2-40B4-BE49-F238E27FC236}">
                <a16:creationId xmlns:a16="http://schemas.microsoft.com/office/drawing/2014/main" id="{9726942D-2B25-CC10-EED4-C36E34601E62}"/>
              </a:ext>
            </a:extLst>
          </p:cNvPr>
          <p:cNvSpPr/>
          <p:nvPr/>
        </p:nvSpPr>
        <p:spPr>
          <a:xfrm>
            <a:off x="1155701" y="7733075"/>
            <a:ext cx="9829800" cy="1278169"/>
          </a:xfrm>
          <a:prstGeom prst="homePlate">
            <a:avLst/>
          </a:prstGeom>
          <a:no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400" b="1" dirty="0">
                <a:solidFill>
                  <a:schemeClr val="bg1"/>
                </a:solidFill>
                <a:latin typeface="Bahnschrift" panose="020B0502040204020203" pitchFamily="34" charset="0"/>
                <a:cs typeface="Dubai Light" panose="020B0303030403030204" pitchFamily="34" charset="-78"/>
              </a:rPr>
              <a:t>IMPLEMENTED FEATURES</a:t>
            </a:r>
          </a:p>
        </p:txBody>
      </p:sp>
    </p:spTree>
    <p:extLst>
      <p:ext uri="{BB962C8B-B14F-4D97-AF65-F5344CB8AC3E}">
        <p14:creationId xmlns:p14="http://schemas.microsoft.com/office/powerpoint/2010/main" val="330621740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1173CF-D941-588A-CE71-C4C0D8F65D5A}"/>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2F35C3D-F0E7-E6EF-D2A1-BB986B8346BB}"/>
              </a:ext>
            </a:extLst>
          </p:cNvPr>
          <p:cNvPicPr>
            <a:picLocks noChangeAspect="1"/>
          </p:cNvPicPr>
          <p:nvPr/>
        </p:nvPicPr>
        <p:blipFill>
          <a:blip r:embed="rId2">
            <a:extLst>
              <a:ext uri="{28A0092B-C50C-407E-A947-70E740481C1C}">
                <a14:useLocalDpi xmlns:a14="http://schemas.microsoft.com/office/drawing/2010/main" val="0"/>
              </a:ext>
            </a:extLst>
          </a:blip>
          <a:srcRect l="-151" t="-396" r="312" b="396"/>
          <a:stretch>
            <a:fillRect/>
          </a:stretch>
        </p:blipFill>
        <p:spPr>
          <a:xfrm>
            <a:off x="1" y="-27195"/>
            <a:ext cx="12192000" cy="6862830"/>
          </a:xfrm>
          <a:prstGeom prst="rect">
            <a:avLst/>
          </a:prstGeom>
        </p:spPr>
      </p:pic>
      <p:sp>
        <p:nvSpPr>
          <p:cNvPr id="12" name="Rectangle 11">
            <a:hlinkClick r:id="rId3" action="ppaction://hlinksldjump"/>
            <a:extLst>
              <a:ext uri="{FF2B5EF4-FFF2-40B4-BE49-F238E27FC236}">
                <a16:creationId xmlns:a16="http://schemas.microsoft.com/office/drawing/2014/main" id="{A19B245B-C900-9EA9-DE92-0B30B144DD8A}"/>
              </a:ext>
            </a:extLst>
          </p:cNvPr>
          <p:cNvSpPr/>
          <p:nvPr/>
        </p:nvSpPr>
        <p:spPr>
          <a:xfrm>
            <a:off x="-9524" y="-9525"/>
            <a:ext cx="12201524" cy="6877199"/>
          </a:xfrm>
          <a:prstGeom prst="rect">
            <a:avLst/>
          </a:prstGeom>
          <a:solidFill>
            <a:schemeClr val="tx1">
              <a:alpha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Pentagon 57">
            <a:extLst>
              <a:ext uri="{FF2B5EF4-FFF2-40B4-BE49-F238E27FC236}">
                <a16:creationId xmlns:a16="http://schemas.microsoft.com/office/drawing/2014/main" id="{793604AB-2B2C-866C-6E4C-D0C1274FC264}"/>
              </a:ext>
            </a:extLst>
          </p:cNvPr>
          <p:cNvSpPr/>
          <p:nvPr/>
        </p:nvSpPr>
        <p:spPr>
          <a:xfrm>
            <a:off x="-594715" y="-2893757"/>
            <a:ext cx="6475561" cy="527514"/>
          </a:xfrm>
          <a:prstGeom prst="homePlate">
            <a:avLst/>
          </a:prstGeom>
          <a:no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400" b="1" dirty="0">
                <a:solidFill>
                  <a:schemeClr val="bg1"/>
                </a:solidFill>
                <a:latin typeface="Bahnschrift" panose="020B0502040204020203" pitchFamily="34" charset="0"/>
                <a:cs typeface="Dubai Light" panose="020B0303030403030204" pitchFamily="34" charset="-78"/>
              </a:rPr>
              <a:t>OBJECTIVES</a:t>
            </a:r>
          </a:p>
        </p:txBody>
      </p:sp>
      <p:sp>
        <p:nvSpPr>
          <p:cNvPr id="25" name="Rectangle 24">
            <a:extLst>
              <a:ext uri="{FF2B5EF4-FFF2-40B4-BE49-F238E27FC236}">
                <a16:creationId xmlns:a16="http://schemas.microsoft.com/office/drawing/2014/main" id="{B911C2F7-2706-774C-5D49-215C69538FFB}"/>
              </a:ext>
            </a:extLst>
          </p:cNvPr>
          <p:cNvSpPr/>
          <p:nvPr/>
        </p:nvSpPr>
        <p:spPr>
          <a:xfrm>
            <a:off x="1257300" y="723900"/>
            <a:ext cx="2409825" cy="885825"/>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endParaRPr lang="en-GB">
              <a:solidFill>
                <a:schemeClr val="bg1"/>
              </a:solidFill>
            </a:endParaRPr>
          </a:p>
        </p:txBody>
      </p:sp>
      <p:sp>
        <p:nvSpPr>
          <p:cNvPr id="27" name="Rectangle: Rounded Corners 26">
            <a:extLst>
              <a:ext uri="{FF2B5EF4-FFF2-40B4-BE49-F238E27FC236}">
                <a16:creationId xmlns:a16="http://schemas.microsoft.com/office/drawing/2014/main" id="{0C09E4F1-DF78-7D59-8189-F0AA5331F287}"/>
              </a:ext>
            </a:extLst>
          </p:cNvPr>
          <p:cNvSpPr/>
          <p:nvPr/>
        </p:nvSpPr>
        <p:spPr>
          <a:xfrm>
            <a:off x="295152" y="166688"/>
            <a:ext cx="3006847" cy="1114424"/>
          </a:xfrm>
          <a:prstGeom prst="round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en-GB" sz="3200" dirty="0">
                <a:solidFill>
                  <a:schemeClr val="bg1"/>
                </a:solidFill>
                <a:latin typeface="Bahnschrift SemiBold" panose="020B0502040204020203" pitchFamily="34" charset="0"/>
              </a:rPr>
              <a:t>SMRT SYSTEM</a:t>
            </a:r>
          </a:p>
        </p:txBody>
      </p:sp>
      <p:sp>
        <p:nvSpPr>
          <p:cNvPr id="2" name="Flowchart: Alternate Process 1">
            <a:extLst>
              <a:ext uri="{FF2B5EF4-FFF2-40B4-BE49-F238E27FC236}">
                <a16:creationId xmlns:a16="http://schemas.microsoft.com/office/drawing/2014/main" id="{1F84584A-806D-741E-178A-833798AE707E}"/>
              </a:ext>
            </a:extLst>
          </p:cNvPr>
          <p:cNvSpPr/>
          <p:nvPr/>
        </p:nvSpPr>
        <p:spPr>
          <a:xfrm>
            <a:off x="685727" y="1384301"/>
            <a:ext cx="10454147" cy="5080000"/>
          </a:xfrm>
          <a:custGeom>
            <a:avLst/>
            <a:gdLst>
              <a:gd name="csX0" fmla="*/ 0 w 10426700"/>
              <a:gd name="csY0" fmla="*/ 842433 h 5054600"/>
              <a:gd name="csX1" fmla="*/ 842433 w 10426700"/>
              <a:gd name="csY1" fmla="*/ 0 h 5054600"/>
              <a:gd name="csX2" fmla="*/ 9584267 w 10426700"/>
              <a:gd name="csY2" fmla="*/ 0 h 5054600"/>
              <a:gd name="csX3" fmla="*/ 10426700 w 10426700"/>
              <a:gd name="csY3" fmla="*/ 842433 h 5054600"/>
              <a:gd name="csX4" fmla="*/ 10426700 w 10426700"/>
              <a:gd name="csY4" fmla="*/ 4212167 h 5054600"/>
              <a:gd name="csX5" fmla="*/ 9584267 w 10426700"/>
              <a:gd name="csY5" fmla="*/ 5054600 h 5054600"/>
              <a:gd name="csX6" fmla="*/ 842433 w 10426700"/>
              <a:gd name="csY6" fmla="*/ 5054600 h 5054600"/>
              <a:gd name="csX7" fmla="*/ 0 w 10426700"/>
              <a:gd name="csY7" fmla="*/ 4212167 h 5054600"/>
              <a:gd name="csX8" fmla="*/ 0 w 10426700"/>
              <a:gd name="csY8" fmla="*/ 842433 h 5054600"/>
              <a:gd name="csX0" fmla="*/ 977 w 10427677"/>
              <a:gd name="csY0" fmla="*/ 842433 h 5054600"/>
              <a:gd name="csX1" fmla="*/ 424310 w 10427677"/>
              <a:gd name="csY1" fmla="*/ 0 h 5054600"/>
              <a:gd name="csX2" fmla="*/ 9585244 w 10427677"/>
              <a:gd name="csY2" fmla="*/ 0 h 5054600"/>
              <a:gd name="csX3" fmla="*/ 10427677 w 10427677"/>
              <a:gd name="csY3" fmla="*/ 842433 h 5054600"/>
              <a:gd name="csX4" fmla="*/ 10427677 w 10427677"/>
              <a:gd name="csY4" fmla="*/ 4212167 h 5054600"/>
              <a:gd name="csX5" fmla="*/ 9585244 w 10427677"/>
              <a:gd name="csY5" fmla="*/ 5054600 h 5054600"/>
              <a:gd name="csX6" fmla="*/ 843410 w 10427677"/>
              <a:gd name="csY6" fmla="*/ 5054600 h 5054600"/>
              <a:gd name="csX7" fmla="*/ 977 w 10427677"/>
              <a:gd name="csY7" fmla="*/ 4212167 h 5054600"/>
              <a:gd name="csX8" fmla="*/ 977 w 10427677"/>
              <a:gd name="csY8" fmla="*/ 842433 h 5054600"/>
              <a:gd name="csX0" fmla="*/ 977 w 10428654"/>
              <a:gd name="csY0" fmla="*/ 842433 h 5054600"/>
              <a:gd name="csX1" fmla="*/ 424310 w 10428654"/>
              <a:gd name="csY1" fmla="*/ 0 h 5054600"/>
              <a:gd name="csX2" fmla="*/ 10004344 w 10428654"/>
              <a:gd name="csY2" fmla="*/ 25400 h 5054600"/>
              <a:gd name="csX3" fmla="*/ 10427677 w 10428654"/>
              <a:gd name="csY3" fmla="*/ 842433 h 5054600"/>
              <a:gd name="csX4" fmla="*/ 10427677 w 10428654"/>
              <a:gd name="csY4" fmla="*/ 4212167 h 5054600"/>
              <a:gd name="csX5" fmla="*/ 9585244 w 10428654"/>
              <a:gd name="csY5" fmla="*/ 5054600 h 5054600"/>
              <a:gd name="csX6" fmla="*/ 843410 w 10428654"/>
              <a:gd name="csY6" fmla="*/ 5054600 h 5054600"/>
              <a:gd name="csX7" fmla="*/ 977 w 10428654"/>
              <a:gd name="csY7" fmla="*/ 4212167 h 5054600"/>
              <a:gd name="csX8" fmla="*/ 977 w 10428654"/>
              <a:gd name="csY8" fmla="*/ 842433 h 5054600"/>
              <a:gd name="csX0" fmla="*/ 977 w 10428654"/>
              <a:gd name="csY0" fmla="*/ 842433 h 5054600"/>
              <a:gd name="csX1" fmla="*/ 424310 w 10428654"/>
              <a:gd name="csY1" fmla="*/ 0 h 5054600"/>
              <a:gd name="csX2" fmla="*/ 10004344 w 10428654"/>
              <a:gd name="csY2" fmla="*/ 25400 h 5054600"/>
              <a:gd name="csX3" fmla="*/ 10427677 w 10428654"/>
              <a:gd name="csY3" fmla="*/ 842433 h 5054600"/>
              <a:gd name="csX4" fmla="*/ 10427677 w 10428654"/>
              <a:gd name="csY4" fmla="*/ 4516967 h 5054600"/>
              <a:gd name="csX5" fmla="*/ 9585244 w 10428654"/>
              <a:gd name="csY5" fmla="*/ 5054600 h 5054600"/>
              <a:gd name="csX6" fmla="*/ 843410 w 10428654"/>
              <a:gd name="csY6" fmla="*/ 5054600 h 5054600"/>
              <a:gd name="csX7" fmla="*/ 977 w 10428654"/>
              <a:gd name="csY7" fmla="*/ 4212167 h 5054600"/>
              <a:gd name="csX8" fmla="*/ 977 w 10428654"/>
              <a:gd name="csY8" fmla="*/ 842433 h 5054600"/>
              <a:gd name="csX0" fmla="*/ 977 w 10428654"/>
              <a:gd name="csY0" fmla="*/ 842433 h 5054600"/>
              <a:gd name="csX1" fmla="*/ 424310 w 10428654"/>
              <a:gd name="csY1" fmla="*/ 0 h 5054600"/>
              <a:gd name="csX2" fmla="*/ 10004344 w 10428654"/>
              <a:gd name="csY2" fmla="*/ 25400 h 5054600"/>
              <a:gd name="csX3" fmla="*/ 10427677 w 10428654"/>
              <a:gd name="csY3" fmla="*/ 486833 h 5054600"/>
              <a:gd name="csX4" fmla="*/ 10427677 w 10428654"/>
              <a:gd name="csY4" fmla="*/ 4516967 h 5054600"/>
              <a:gd name="csX5" fmla="*/ 9585244 w 10428654"/>
              <a:gd name="csY5" fmla="*/ 5054600 h 5054600"/>
              <a:gd name="csX6" fmla="*/ 843410 w 10428654"/>
              <a:gd name="csY6" fmla="*/ 5054600 h 5054600"/>
              <a:gd name="csX7" fmla="*/ 977 w 10428654"/>
              <a:gd name="csY7" fmla="*/ 4212167 h 5054600"/>
              <a:gd name="csX8" fmla="*/ 977 w 10428654"/>
              <a:gd name="csY8" fmla="*/ 842433 h 5054600"/>
              <a:gd name="csX0" fmla="*/ 72 w 10453149"/>
              <a:gd name="csY0" fmla="*/ 550333 h 5054600"/>
              <a:gd name="csX1" fmla="*/ 448805 w 10453149"/>
              <a:gd name="csY1" fmla="*/ 0 h 5054600"/>
              <a:gd name="csX2" fmla="*/ 10028839 w 10453149"/>
              <a:gd name="csY2" fmla="*/ 25400 h 5054600"/>
              <a:gd name="csX3" fmla="*/ 10452172 w 10453149"/>
              <a:gd name="csY3" fmla="*/ 486833 h 5054600"/>
              <a:gd name="csX4" fmla="*/ 10452172 w 10453149"/>
              <a:gd name="csY4" fmla="*/ 4516967 h 5054600"/>
              <a:gd name="csX5" fmla="*/ 9609739 w 10453149"/>
              <a:gd name="csY5" fmla="*/ 5054600 h 5054600"/>
              <a:gd name="csX6" fmla="*/ 867905 w 10453149"/>
              <a:gd name="csY6" fmla="*/ 5054600 h 5054600"/>
              <a:gd name="csX7" fmla="*/ 25472 w 10453149"/>
              <a:gd name="csY7" fmla="*/ 4212167 h 5054600"/>
              <a:gd name="csX8" fmla="*/ 72 w 10453149"/>
              <a:gd name="csY8" fmla="*/ 550333 h 5054600"/>
              <a:gd name="csX0" fmla="*/ 72 w 10453149"/>
              <a:gd name="csY0" fmla="*/ 550333 h 5054601"/>
              <a:gd name="csX1" fmla="*/ 448805 w 10453149"/>
              <a:gd name="csY1" fmla="*/ 0 h 5054601"/>
              <a:gd name="csX2" fmla="*/ 10028839 w 10453149"/>
              <a:gd name="csY2" fmla="*/ 25400 h 5054601"/>
              <a:gd name="csX3" fmla="*/ 10452172 w 10453149"/>
              <a:gd name="csY3" fmla="*/ 486833 h 5054601"/>
              <a:gd name="csX4" fmla="*/ 10452172 w 10453149"/>
              <a:gd name="csY4" fmla="*/ 4516967 h 5054601"/>
              <a:gd name="csX5" fmla="*/ 9609739 w 10453149"/>
              <a:gd name="csY5" fmla="*/ 5054600 h 5054601"/>
              <a:gd name="csX6" fmla="*/ 867905 w 10453149"/>
              <a:gd name="csY6" fmla="*/ 5054600 h 5054601"/>
              <a:gd name="csX7" fmla="*/ 38172 w 10453149"/>
              <a:gd name="csY7" fmla="*/ 4593167 h 5054601"/>
              <a:gd name="csX8" fmla="*/ 72 w 10453149"/>
              <a:gd name="csY8" fmla="*/ 550333 h 5054601"/>
              <a:gd name="csX0" fmla="*/ 72 w 10453149"/>
              <a:gd name="csY0" fmla="*/ 550333 h 5080000"/>
              <a:gd name="csX1" fmla="*/ 448805 w 10453149"/>
              <a:gd name="csY1" fmla="*/ 0 h 5080000"/>
              <a:gd name="csX2" fmla="*/ 10028839 w 10453149"/>
              <a:gd name="csY2" fmla="*/ 25400 h 5080000"/>
              <a:gd name="csX3" fmla="*/ 10452172 w 10453149"/>
              <a:gd name="csY3" fmla="*/ 486833 h 5080000"/>
              <a:gd name="csX4" fmla="*/ 10452172 w 10453149"/>
              <a:gd name="csY4" fmla="*/ 4516967 h 5080000"/>
              <a:gd name="csX5" fmla="*/ 9609739 w 10453149"/>
              <a:gd name="csY5" fmla="*/ 5054600 h 5080000"/>
              <a:gd name="csX6" fmla="*/ 563105 w 10453149"/>
              <a:gd name="csY6" fmla="*/ 5080000 h 5080000"/>
              <a:gd name="csX7" fmla="*/ 38172 w 10453149"/>
              <a:gd name="csY7" fmla="*/ 4593167 h 5080000"/>
              <a:gd name="csX8" fmla="*/ 72 w 10453149"/>
              <a:gd name="csY8" fmla="*/ 550333 h 5080000"/>
              <a:gd name="csX0" fmla="*/ 72 w 10454147"/>
              <a:gd name="csY0" fmla="*/ 550333 h 5080000"/>
              <a:gd name="csX1" fmla="*/ 448805 w 10454147"/>
              <a:gd name="csY1" fmla="*/ 0 h 5080000"/>
              <a:gd name="csX2" fmla="*/ 10028839 w 10454147"/>
              <a:gd name="csY2" fmla="*/ 25400 h 5080000"/>
              <a:gd name="csX3" fmla="*/ 10452172 w 10454147"/>
              <a:gd name="csY3" fmla="*/ 486833 h 5080000"/>
              <a:gd name="csX4" fmla="*/ 10452172 w 10454147"/>
              <a:gd name="csY4" fmla="*/ 4516967 h 5080000"/>
              <a:gd name="csX5" fmla="*/ 10041539 w 10454147"/>
              <a:gd name="csY5" fmla="*/ 5054600 h 5080000"/>
              <a:gd name="csX6" fmla="*/ 563105 w 10454147"/>
              <a:gd name="csY6" fmla="*/ 5080000 h 5080000"/>
              <a:gd name="csX7" fmla="*/ 38172 w 10454147"/>
              <a:gd name="csY7" fmla="*/ 4593167 h 5080000"/>
              <a:gd name="csX8" fmla="*/ 72 w 10454147"/>
              <a:gd name="csY8" fmla="*/ 550333 h 5080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0454147" h="5080000">
                <a:moveTo>
                  <a:pt x="72" y="550333"/>
                </a:moveTo>
                <a:cubicBezTo>
                  <a:pt x="72" y="85070"/>
                  <a:pt x="-16458" y="0"/>
                  <a:pt x="448805" y="0"/>
                </a:cubicBezTo>
                <a:lnTo>
                  <a:pt x="10028839" y="25400"/>
                </a:lnTo>
                <a:cubicBezTo>
                  <a:pt x="10494102" y="25400"/>
                  <a:pt x="10452172" y="21570"/>
                  <a:pt x="10452172" y="486833"/>
                </a:cubicBezTo>
                <a:lnTo>
                  <a:pt x="10452172" y="4516967"/>
                </a:lnTo>
                <a:cubicBezTo>
                  <a:pt x="10452172" y="4982230"/>
                  <a:pt x="10506802" y="5054600"/>
                  <a:pt x="10041539" y="5054600"/>
                </a:cubicBezTo>
                <a:lnTo>
                  <a:pt x="563105" y="5080000"/>
                </a:lnTo>
                <a:cubicBezTo>
                  <a:pt x="97842" y="5080000"/>
                  <a:pt x="38172" y="5058430"/>
                  <a:pt x="38172" y="4593167"/>
                </a:cubicBezTo>
                <a:lnTo>
                  <a:pt x="72" y="550333"/>
                </a:lnTo>
                <a:close/>
              </a:path>
            </a:pathLst>
          </a:custGeom>
          <a:blipFill dpi="0" rotWithShape="1">
            <a:blip r:embed="rId4">
              <a:extLst>
                <a:ext uri="{28A0092B-C50C-407E-A947-70E740481C1C}">
                  <a14:useLocalDpi xmlns:a14="http://schemas.microsoft.com/office/drawing/2010/main" val="0"/>
                </a:ext>
              </a:extLst>
            </a:blip>
            <a:srcRect/>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Flowchart: Alternate Process 3">
            <a:hlinkClick r:id="rId3" action="ppaction://hlinksldjump"/>
            <a:extLst>
              <a:ext uri="{FF2B5EF4-FFF2-40B4-BE49-F238E27FC236}">
                <a16:creationId xmlns:a16="http://schemas.microsoft.com/office/drawing/2014/main" id="{508DE399-FC26-2218-CB0B-011B32723CB3}"/>
              </a:ext>
            </a:extLst>
          </p:cNvPr>
          <p:cNvSpPr/>
          <p:nvPr/>
        </p:nvSpPr>
        <p:spPr>
          <a:xfrm>
            <a:off x="9867900" y="482600"/>
            <a:ext cx="1727200" cy="619267"/>
          </a:xfrm>
          <a:prstGeom prst="flowChartAlternateProcess">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dirty="0">
                <a:latin typeface="Bahnschrift" panose="020B0502040204020203" pitchFamily="34" charset="0"/>
              </a:rPr>
              <a:t>BACK</a:t>
            </a:r>
          </a:p>
        </p:txBody>
      </p:sp>
    </p:spTree>
    <p:extLst>
      <p:ext uri="{BB962C8B-B14F-4D97-AF65-F5344CB8AC3E}">
        <p14:creationId xmlns:p14="http://schemas.microsoft.com/office/powerpoint/2010/main" val="42021926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9E1B0E-2ED5-C171-162C-009F4B848B3D}"/>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D4448994-8CAA-D969-E57A-A22A4E5DE710}"/>
              </a:ext>
            </a:extLst>
          </p:cNvPr>
          <p:cNvPicPr>
            <a:picLocks noChangeAspect="1"/>
          </p:cNvPicPr>
          <p:nvPr/>
        </p:nvPicPr>
        <p:blipFill>
          <a:blip r:embed="rId2">
            <a:extLst>
              <a:ext uri="{28A0092B-C50C-407E-A947-70E740481C1C}">
                <a14:useLocalDpi xmlns:a14="http://schemas.microsoft.com/office/drawing/2010/main" val="0"/>
              </a:ext>
            </a:extLst>
          </a:blip>
          <a:srcRect l="-151" t="-396" r="312" b="396"/>
          <a:stretch>
            <a:fillRect/>
          </a:stretch>
        </p:blipFill>
        <p:spPr>
          <a:xfrm>
            <a:off x="1" y="-27195"/>
            <a:ext cx="12192000" cy="6862830"/>
          </a:xfrm>
          <a:prstGeom prst="rect">
            <a:avLst/>
          </a:prstGeom>
        </p:spPr>
      </p:pic>
      <p:sp>
        <p:nvSpPr>
          <p:cNvPr id="12" name="Rectangle 11">
            <a:extLst>
              <a:ext uri="{FF2B5EF4-FFF2-40B4-BE49-F238E27FC236}">
                <a16:creationId xmlns:a16="http://schemas.microsoft.com/office/drawing/2014/main" id="{07951C20-3133-89F5-7012-534CEDB31EC2}"/>
              </a:ext>
            </a:extLst>
          </p:cNvPr>
          <p:cNvSpPr/>
          <p:nvPr/>
        </p:nvSpPr>
        <p:spPr>
          <a:xfrm>
            <a:off x="-9524" y="-9525"/>
            <a:ext cx="12201524" cy="6877199"/>
          </a:xfrm>
          <a:prstGeom prst="rect">
            <a:avLst/>
          </a:prstGeom>
          <a:solidFill>
            <a:schemeClr val="tx1">
              <a:alpha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7" name="Rectangle: Rounded Corners 36">
            <a:hlinkClick r:id="rId3" action="ppaction://hlinksldjump"/>
            <a:extLst>
              <a:ext uri="{FF2B5EF4-FFF2-40B4-BE49-F238E27FC236}">
                <a16:creationId xmlns:a16="http://schemas.microsoft.com/office/drawing/2014/main" id="{737916E4-2CDE-2705-4BE3-ECDC7E6A8994}"/>
              </a:ext>
            </a:extLst>
          </p:cNvPr>
          <p:cNvSpPr/>
          <p:nvPr/>
        </p:nvSpPr>
        <p:spPr>
          <a:xfrm>
            <a:off x="211076" y="120651"/>
            <a:ext cx="7269223" cy="1114424"/>
          </a:xfrm>
          <a:prstGeom prst="roundRect">
            <a:avLst/>
          </a:prstGeom>
          <a:noFill/>
          <a:ln w="38100">
            <a:noFill/>
          </a:ln>
        </p:spPr>
        <p:style>
          <a:lnRef idx="0">
            <a:scrgbClr r="0" g="0" b="0"/>
          </a:lnRef>
          <a:fillRef idx="0">
            <a:scrgbClr r="0" g="0" b="0"/>
          </a:fillRef>
          <a:effectRef idx="0">
            <a:scrgbClr r="0" g="0" b="0"/>
          </a:effectRef>
          <a:fontRef idx="minor">
            <a:schemeClr val="dk1"/>
          </a:fontRef>
        </p:style>
        <p:txBody>
          <a:bodyPr rtlCol="0" anchor="ctr"/>
          <a:lstStyle/>
          <a:p>
            <a:pPr algn="ctr"/>
            <a:r>
              <a:rPr lang="en-GB" sz="3200" dirty="0">
                <a:solidFill>
                  <a:schemeClr val="bg1"/>
                </a:solidFill>
                <a:latin typeface="Bahnschrift" panose="020B0502040204020203" pitchFamily="34" charset="0"/>
              </a:rPr>
              <a:t>Manual Laundry Management</a:t>
            </a:r>
          </a:p>
        </p:txBody>
      </p:sp>
      <p:sp>
        <p:nvSpPr>
          <p:cNvPr id="4" name="Flowchart: Alternate Process 1">
            <a:extLst>
              <a:ext uri="{FF2B5EF4-FFF2-40B4-BE49-F238E27FC236}">
                <a16:creationId xmlns:a16="http://schemas.microsoft.com/office/drawing/2014/main" id="{7AE0A607-12BD-92EE-2D4F-DA9B0150B34B}"/>
              </a:ext>
            </a:extLst>
          </p:cNvPr>
          <p:cNvSpPr/>
          <p:nvPr/>
        </p:nvSpPr>
        <p:spPr>
          <a:xfrm>
            <a:off x="685727" y="1384301"/>
            <a:ext cx="10454147" cy="5080000"/>
          </a:xfrm>
          <a:custGeom>
            <a:avLst/>
            <a:gdLst>
              <a:gd name="csX0" fmla="*/ 0 w 10426700"/>
              <a:gd name="csY0" fmla="*/ 842433 h 5054600"/>
              <a:gd name="csX1" fmla="*/ 842433 w 10426700"/>
              <a:gd name="csY1" fmla="*/ 0 h 5054600"/>
              <a:gd name="csX2" fmla="*/ 9584267 w 10426700"/>
              <a:gd name="csY2" fmla="*/ 0 h 5054600"/>
              <a:gd name="csX3" fmla="*/ 10426700 w 10426700"/>
              <a:gd name="csY3" fmla="*/ 842433 h 5054600"/>
              <a:gd name="csX4" fmla="*/ 10426700 w 10426700"/>
              <a:gd name="csY4" fmla="*/ 4212167 h 5054600"/>
              <a:gd name="csX5" fmla="*/ 9584267 w 10426700"/>
              <a:gd name="csY5" fmla="*/ 5054600 h 5054600"/>
              <a:gd name="csX6" fmla="*/ 842433 w 10426700"/>
              <a:gd name="csY6" fmla="*/ 5054600 h 5054600"/>
              <a:gd name="csX7" fmla="*/ 0 w 10426700"/>
              <a:gd name="csY7" fmla="*/ 4212167 h 5054600"/>
              <a:gd name="csX8" fmla="*/ 0 w 10426700"/>
              <a:gd name="csY8" fmla="*/ 842433 h 5054600"/>
              <a:gd name="csX0" fmla="*/ 977 w 10427677"/>
              <a:gd name="csY0" fmla="*/ 842433 h 5054600"/>
              <a:gd name="csX1" fmla="*/ 424310 w 10427677"/>
              <a:gd name="csY1" fmla="*/ 0 h 5054600"/>
              <a:gd name="csX2" fmla="*/ 9585244 w 10427677"/>
              <a:gd name="csY2" fmla="*/ 0 h 5054600"/>
              <a:gd name="csX3" fmla="*/ 10427677 w 10427677"/>
              <a:gd name="csY3" fmla="*/ 842433 h 5054600"/>
              <a:gd name="csX4" fmla="*/ 10427677 w 10427677"/>
              <a:gd name="csY4" fmla="*/ 4212167 h 5054600"/>
              <a:gd name="csX5" fmla="*/ 9585244 w 10427677"/>
              <a:gd name="csY5" fmla="*/ 5054600 h 5054600"/>
              <a:gd name="csX6" fmla="*/ 843410 w 10427677"/>
              <a:gd name="csY6" fmla="*/ 5054600 h 5054600"/>
              <a:gd name="csX7" fmla="*/ 977 w 10427677"/>
              <a:gd name="csY7" fmla="*/ 4212167 h 5054600"/>
              <a:gd name="csX8" fmla="*/ 977 w 10427677"/>
              <a:gd name="csY8" fmla="*/ 842433 h 5054600"/>
              <a:gd name="csX0" fmla="*/ 977 w 10428654"/>
              <a:gd name="csY0" fmla="*/ 842433 h 5054600"/>
              <a:gd name="csX1" fmla="*/ 424310 w 10428654"/>
              <a:gd name="csY1" fmla="*/ 0 h 5054600"/>
              <a:gd name="csX2" fmla="*/ 10004344 w 10428654"/>
              <a:gd name="csY2" fmla="*/ 25400 h 5054600"/>
              <a:gd name="csX3" fmla="*/ 10427677 w 10428654"/>
              <a:gd name="csY3" fmla="*/ 842433 h 5054600"/>
              <a:gd name="csX4" fmla="*/ 10427677 w 10428654"/>
              <a:gd name="csY4" fmla="*/ 4212167 h 5054600"/>
              <a:gd name="csX5" fmla="*/ 9585244 w 10428654"/>
              <a:gd name="csY5" fmla="*/ 5054600 h 5054600"/>
              <a:gd name="csX6" fmla="*/ 843410 w 10428654"/>
              <a:gd name="csY6" fmla="*/ 5054600 h 5054600"/>
              <a:gd name="csX7" fmla="*/ 977 w 10428654"/>
              <a:gd name="csY7" fmla="*/ 4212167 h 5054600"/>
              <a:gd name="csX8" fmla="*/ 977 w 10428654"/>
              <a:gd name="csY8" fmla="*/ 842433 h 5054600"/>
              <a:gd name="csX0" fmla="*/ 977 w 10428654"/>
              <a:gd name="csY0" fmla="*/ 842433 h 5054600"/>
              <a:gd name="csX1" fmla="*/ 424310 w 10428654"/>
              <a:gd name="csY1" fmla="*/ 0 h 5054600"/>
              <a:gd name="csX2" fmla="*/ 10004344 w 10428654"/>
              <a:gd name="csY2" fmla="*/ 25400 h 5054600"/>
              <a:gd name="csX3" fmla="*/ 10427677 w 10428654"/>
              <a:gd name="csY3" fmla="*/ 842433 h 5054600"/>
              <a:gd name="csX4" fmla="*/ 10427677 w 10428654"/>
              <a:gd name="csY4" fmla="*/ 4516967 h 5054600"/>
              <a:gd name="csX5" fmla="*/ 9585244 w 10428654"/>
              <a:gd name="csY5" fmla="*/ 5054600 h 5054600"/>
              <a:gd name="csX6" fmla="*/ 843410 w 10428654"/>
              <a:gd name="csY6" fmla="*/ 5054600 h 5054600"/>
              <a:gd name="csX7" fmla="*/ 977 w 10428654"/>
              <a:gd name="csY7" fmla="*/ 4212167 h 5054600"/>
              <a:gd name="csX8" fmla="*/ 977 w 10428654"/>
              <a:gd name="csY8" fmla="*/ 842433 h 5054600"/>
              <a:gd name="csX0" fmla="*/ 977 w 10428654"/>
              <a:gd name="csY0" fmla="*/ 842433 h 5054600"/>
              <a:gd name="csX1" fmla="*/ 424310 w 10428654"/>
              <a:gd name="csY1" fmla="*/ 0 h 5054600"/>
              <a:gd name="csX2" fmla="*/ 10004344 w 10428654"/>
              <a:gd name="csY2" fmla="*/ 25400 h 5054600"/>
              <a:gd name="csX3" fmla="*/ 10427677 w 10428654"/>
              <a:gd name="csY3" fmla="*/ 486833 h 5054600"/>
              <a:gd name="csX4" fmla="*/ 10427677 w 10428654"/>
              <a:gd name="csY4" fmla="*/ 4516967 h 5054600"/>
              <a:gd name="csX5" fmla="*/ 9585244 w 10428654"/>
              <a:gd name="csY5" fmla="*/ 5054600 h 5054600"/>
              <a:gd name="csX6" fmla="*/ 843410 w 10428654"/>
              <a:gd name="csY6" fmla="*/ 5054600 h 5054600"/>
              <a:gd name="csX7" fmla="*/ 977 w 10428654"/>
              <a:gd name="csY7" fmla="*/ 4212167 h 5054600"/>
              <a:gd name="csX8" fmla="*/ 977 w 10428654"/>
              <a:gd name="csY8" fmla="*/ 842433 h 5054600"/>
              <a:gd name="csX0" fmla="*/ 72 w 10453149"/>
              <a:gd name="csY0" fmla="*/ 550333 h 5054600"/>
              <a:gd name="csX1" fmla="*/ 448805 w 10453149"/>
              <a:gd name="csY1" fmla="*/ 0 h 5054600"/>
              <a:gd name="csX2" fmla="*/ 10028839 w 10453149"/>
              <a:gd name="csY2" fmla="*/ 25400 h 5054600"/>
              <a:gd name="csX3" fmla="*/ 10452172 w 10453149"/>
              <a:gd name="csY3" fmla="*/ 486833 h 5054600"/>
              <a:gd name="csX4" fmla="*/ 10452172 w 10453149"/>
              <a:gd name="csY4" fmla="*/ 4516967 h 5054600"/>
              <a:gd name="csX5" fmla="*/ 9609739 w 10453149"/>
              <a:gd name="csY5" fmla="*/ 5054600 h 5054600"/>
              <a:gd name="csX6" fmla="*/ 867905 w 10453149"/>
              <a:gd name="csY6" fmla="*/ 5054600 h 5054600"/>
              <a:gd name="csX7" fmla="*/ 25472 w 10453149"/>
              <a:gd name="csY7" fmla="*/ 4212167 h 5054600"/>
              <a:gd name="csX8" fmla="*/ 72 w 10453149"/>
              <a:gd name="csY8" fmla="*/ 550333 h 5054600"/>
              <a:gd name="csX0" fmla="*/ 72 w 10453149"/>
              <a:gd name="csY0" fmla="*/ 550333 h 5054601"/>
              <a:gd name="csX1" fmla="*/ 448805 w 10453149"/>
              <a:gd name="csY1" fmla="*/ 0 h 5054601"/>
              <a:gd name="csX2" fmla="*/ 10028839 w 10453149"/>
              <a:gd name="csY2" fmla="*/ 25400 h 5054601"/>
              <a:gd name="csX3" fmla="*/ 10452172 w 10453149"/>
              <a:gd name="csY3" fmla="*/ 486833 h 5054601"/>
              <a:gd name="csX4" fmla="*/ 10452172 w 10453149"/>
              <a:gd name="csY4" fmla="*/ 4516967 h 5054601"/>
              <a:gd name="csX5" fmla="*/ 9609739 w 10453149"/>
              <a:gd name="csY5" fmla="*/ 5054600 h 5054601"/>
              <a:gd name="csX6" fmla="*/ 867905 w 10453149"/>
              <a:gd name="csY6" fmla="*/ 5054600 h 5054601"/>
              <a:gd name="csX7" fmla="*/ 38172 w 10453149"/>
              <a:gd name="csY7" fmla="*/ 4593167 h 5054601"/>
              <a:gd name="csX8" fmla="*/ 72 w 10453149"/>
              <a:gd name="csY8" fmla="*/ 550333 h 5054601"/>
              <a:gd name="csX0" fmla="*/ 72 w 10453149"/>
              <a:gd name="csY0" fmla="*/ 550333 h 5080000"/>
              <a:gd name="csX1" fmla="*/ 448805 w 10453149"/>
              <a:gd name="csY1" fmla="*/ 0 h 5080000"/>
              <a:gd name="csX2" fmla="*/ 10028839 w 10453149"/>
              <a:gd name="csY2" fmla="*/ 25400 h 5080000"/>
              <a:gd name="csX3" fmla="*/ 10452172 w 10453149"/>
              <a:gd name="csY3" fmla="*/ 486833 h 5080000"/>
              <a:gd name="csX4" fmla="*/ 10452172 w 10453149"/>
              <a:gd name="csY4" fmla="*/ 4516967 h 5080000"/>
              <a:gd name="csX5" fmla="*/ 9609739 w 10453149"/>
              <a:gd name="csY5" fmla="*/ 5054600 h 5080000"/>
              <a:gd name="csX6" fmla="*/ 563105 w 10453149"/>
              <a:gd name="csY6" fmla="*/ 5080000 h 5080000"/>
              <a:gd name="csX7" fmla="*/ 38172 w 10453149"/>
              <a:gd name="csY7" fmla="*/ 4593167 h 5080000"/>
              <a:gd name="csX8" fmla="*/ 72 w 10453149"/>
              <a:gd name="csY8" fmla="*/ 550333 h 5080000"/>
              <a:gd name="csX0" fmla="*/ 72 w 10454147"/>
              <a:gd name="csY0" fmla="*/ 550333 h 5080000"/>
              <a:gd name="csX1" fmla="*/ 448805 w 10454147"/>
              <a:gd name="csY1" fmla="*/ 0 h 5080000"/>
              <a:gd name="csX2" fmla="*/ 10028839 w 10454147"/>
              <a:gd name="csY2" fmla="*/ 25400 h 5080000"/>
              <a:gd name="csX3" fmla="*/ 10452172 w 10454147"/>
              <a:gd name="csY3" fmla="*/ 486833 h 5080000"/>
              <a:gd name="csX4" fmla="*/ 10452172 w 10454147"/>
              <a:gd name="csY4" fmla="*/ 4516967 h 5080000"/>
              <a:gd name="csX5" fmla="*/ 10041539 w 10454147"/>
              <a:gd name="csY5" fmla="*/ 5054600 h 5080000"/>
              <a:gd name="csX6" fmla="*/ 563105 w 10454147"/>
              <a:gd name="csY6" fmla="*/ 5080000 h 5080000"/>
              <a:gd name="csX7" fmla="*/ 38172 w 10454147"/>
              <a:gd name="csY7" fmla="*/ 4593167 h 5080000"/>
              <a:gd name="csX8" fmla="*/ 72 w 10454147"/>
              <a:gd name="csY8" fmla="*/ 550333 h 5080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0454147" h="5080000">
                <a:moveTo>
                  <a:pt x="72" y="550333"/>
                </a:moveTo>
                <a:cubicBezTo>
                  <a:pt x="72" y="85070"/>
                  <a:pt x="-16458" y="0"/>
                  <a:pt x="448805" y="0"/>
                </a:cubicBezTo>
                <a:lnTo>
                  <a:pt x="10028839" y="25400"/>
                </a:lnTo>
                <a:cubicBezTo>
                  <a:pt x="10494102" y="25400"/>
                  <a:pt x="10452172" y="21570"/>
                  <a:pt x="10452172" y="486833"/>
                </a:cubicBezTo>
                <a:lnTo>
                  <a:pt x="10452172" y="4516967"/>
                </a:lnTo>
                <a:cubicBezTo>
                  <a:pt x="10452172" y="4982230"/>
                  <a:pt x="10506802" y="5054600"/>
                  <a:pt x="10041539" y="5054600"/>
                </a:cubicBezTo>
                <a:lnTo>
                  <a:pt x="563105" y="5080000"/>
                </a:lnTo>
                <a:cubicBezTo>
                  <a:pt x="97842" y="5080000"/>
                  <a:pt x="38172" y="5058430"/>
                  <a:pt x="38172" y="4593167"/>
                </a:cubicBezTo>
                <a:lnTo>
                  <a:pt x="72" y="550333"/>
                </a:lnTo>
                <a:close/>
              </a:path>
            </a:pathLst>
          </a:custGeom>
          <a:blipFill dpi="0" rotWithShape="1">
            <a:blip r:embed="rId4">
              <a:extLst>
                <a:ext uri="{28A0092B-C50C-407E-A947-70E740481C1C}">
                  <a14:useLocalDpi xmlns:a14="http://schemas.microsoft.com/office/drawing/2010/main" val="0"/>
                </a:ext>
              </a:extLst>
            </a:blip>
            <a:srcRect/>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Flowchart: Alternate Process 6">
            <a:hlinkClick r:id="rId5" action="ppaction://hlinksldjump"/>
            <a:extLst>
              <a:ext uri="{FF2B5EF4-FFF2-40B4-BE49-F238E27FC236}">
                <a16:creationId xmlns:a16="http://schemas.microsoft.com/office/drawing/2014/main" id="{FB76381F-931B-7462-A1CD-0555AE327BE4}"/>
              </a:ext>
            </a:extLst>
          </p:cNvPr>
          <p:cNvSpPr/>
          <p:nvPr/>
        </p:nvSpPr>
        <p:spPr>
          <a:xfrm>
            <a:off x="9867900" y="482600"/>
            <a:ext cx="1727200" cy="619267"/>
          </a:xfrm>
          <a:prstGeom prst="flowChartAlternateProcess">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dirty="0">
                <a:latin typeface="Bahnschrift" panose="020B0502040204020203" pitchFamily="34" charset="0"/>
              </a:rPr>
              <a:t>BACK</a:t>
            </a:r>
          </a:p>
        </p:txBody>
      </p:sp>
    </p:spTree>
    <p:extLst>
      <p:ext uri="{BB962C8B-B14F-4D97-AF65-F5344CB8AC3E}">
        <p14:creationId xmlns:p14="http://schemas.microsoft.com/office/powerpoint/2010/main" val="112436443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E17C4D-5090-0A0B-8984-F4858032948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8B4F10A-1215-B90A-70D0-F4A272B366B4}"/>
              </a:ext>
            </a:extLst>
          </p:cNvPr>
          <p:cNvPicPr>
            <a:picLocks noChangeAspect="1"/>
          </p:cNvPicPr>
          <p:nvPr/>
        </p:nvPicPr>
        <p:blipFill>
          <a:blip r:embed="rId2">
            <a:extLst>
              <a:ext uri="{28A0092B-C50C-407E-A947-70E740481C1C}">
                <a14:useLocalDpi xmlns:a14="http://schemas.microsoft.com/office/drawing/2010/main" val="0"/>
              </a:ext>
            </a:extLst>
          </a:blip>
          <a:srcRect l="-151" t="-396" r="312" b="396"/>
          <a:stretch>
            <a:fillRect/>
          </a:stretch>
        </p:blipFill>
        <p:spPr>
          <a:xfrm>
            <a:off x="1" y="-27195"/>
            <a:ext cx="12192000" cy="6862830"/>
          </a:xfrm>
          <a:prstGeom prst="rect">
            <a:avLst/>
          </a:prstGeom>
        </p:spPr>
      </p:pic>
      <p:sp>
        <p:nvSpPr>
          <p:cNvPr id="12" name="Rectangle 11">
            <a:hlinkClick r:id="rId3" action="ppaction://hlinksldjump"/>
            <a:extLst>
              <a:ext uri="{FF2B5EF4-FFF2-40B4-BE49-F238E27FC236}">
                <a16:creationId xmlns:a16="http://schemas.microsoft.com/office/drawing/2014/main" id="{09158E08-66B0-387A-9156-72734D74CB2A}"/>
              </a:ext>
            </a:extLst>
          </p:cNvPr>
          <p:cNvSpPr/>
          <p:nvPr/>
        </p:nvSpPr>
        <p:spPr>
          <a:xfrm>
            <a:off x="-9524" y="-9525"/>
            <a:ext cx="12201524" cy="6877199"/>
          </a:xfrm>
          <a:prstGeom prst="rect">
            <a:avLst/>
          </a:prstGeom>
          <a:solidFill>
            <a:schemeClr val="tx1">
              <a:alpha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 name="Pentagon 57">
            <a:extLst>
              <a:ext uri="{FF2B5EF4-FFF2-40B4-BE49-F238E27FC236}">
                <a16:creationId xmlns:a16="http://schemas.microsoft.com/office/drawing/2014/main" id="{5F99971A-65F3-19D9-91B0-D21F6466AA9B}"/>
              </a:ext>
            </a:extLst>
          </p:cNvPr>
          <p:cNvSpPr/>
          <p:nvPr/>
        </p:nvSpPr>
        <p:spPr>
          <a:xfrm>
            <a:off x="-594715" y="-2893757"/>
            <a:ext cx="6475561" cy="527514"/>
          </a:xfrm>
          <a:prstGeom prst="homePlate">
            <a:avLst/>
          </a:prstGeom>
          <a:no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4400" b="1" i="0" u="none" strike="noStrike" kern="1200" cap="none" spc="0" normalizeH="0" baseline="0" noProof="0" dirty="0">
                <a:ln>
                  <a:noFill/>
                </a:ln>
                <a:solidFill>
                  <a:prstClr val="white"/>
                </a:solidFill>
                <a:effectLst/>
                <a:uLnTx/>
                <a:uFillTx/>
                <a:latin typeface="Bahnschrift" panose="020B0502040204020203" pitchFamily="34" charset="0"/>
                <a:ea typeface="+mn-ea"/>
                <a:cs typeface="Dubai Light" panose="020B0303030403030204" pitchFamily="34" charset="-78"/>
              </a:rPr>
              <a:t>OBJECTIVES</a:t>
            </a:r>
          </a:p>
        </p:txBody>
      </p:sp>
      <p:sp>
        <p:nvSpPr>
          <p:cNvPr id="25" name="Rectangle 24">
            <a:extLst>
              <a:ext uri="{FF2B5EF4-FFF2-40B4-BE49-F238E27FC236}">
                <a16:creationId xmlns:a16="http://schemas.microsoft.com/office/drawing/2014/main" id="{7B3E2057-C331-D9FF-B053-92AE9885FBDC}"/>
              </a:ext>
            </a:extLst>
          </p:cNvPr>
          <p:cNvSpPr/>
          <p:nvPr/>
        </p:nvSpPr>
        <p:spPr>
          <a:xfrm>
            <a:off x="1257300" y="723900"/>
            <a:ext cx="2409825" cy="885825"/>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7" name="Rectangle: Rounded Corners 26">
            <a:extLst>
              <a:ext uri="{FF2B5EF4-FFF2-40B4-BE49-F238E27FC236}">
                <a16:creationId xmlns:a16="http://schemas.microsoft.com/office/drawing/2014/main" id="{3F13AECA-6D41-1B38-01F7-1A4419EB784A}"/>
              </a:ext>
            </a:extLst>
          </p:cNvPr>
          <p:cNvSpPr/>
          <p:nvPr/>
        </p:nvSpPr>
        <p:spPr>
          <a:xfrm>
            <a:off x="295152" y="166688"/>
            <a:ext cx="3006847" cy="1114424"/>
          </a:xfrm>
          <a:prstGeom prst="round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3200" b="0" i="0" u="none" strike="noStrike" kern="1200" cap="none" spc="0" normalizeH="0" baseline="0" noProof="0" dirty="0">
                <a:ln>
                  <a:noFill/>
                </a:ln>
                <a:solidFill>
                  <a:prstClr val="white"/>
                </a:solidFill>
                <a:effectLst/>
                <a:uLnTx/>
                <a:uFillTx/>
                <a:latin typeface="Bahnschrift SemiBold" panose="020B0502040204020203" pitchFamily="34" charset="0"/>
                <a:ea typeface="+mn-ea"/>
                <a:cs typeface="+mn-cs"/>
              </a:rPr>
              <a:t>CLEAN CLOUD</a:t>
            </a:r>
          </a:p>
        </p:txBody>
      </p:sp>
      <p:sp>
        <p:nvSpPr>
          <p:cNvPr id="2" name="Flowchart: Alternate Process 1">
            <a:extLst>
              <a:ext uri="{FF2B5EF4-FFF2-40B4-BE49-F238E27FC236}">
                <a16:creationId xmlns:a16="http://schemas.microsoft.com/office/drawing/2014/main" id="{B75E18A3-80D0-C268-87D9-F811CF3D099B}"/>
              </a:ext>
            </a:extLst>
          </p:cNvPr>
          <p:cNvSpPr/>
          <p:nvPr/>
        </p:nvSpPr>
        <p:spPr>
          <a:xfrm>
            <a:off x="685727" y="1384301"/>
            <a:ext cx="10454147" cy="5080000"/>
          </a:xfrm>
          <a:custGeom>
            <a:avLst/>
            <a:gdLst>
              <a:gd name="csX0" fmla="*/ 0 w 10426700"/>
              <a:gd name="csY0" fmla="*/ 842433 h 5054600"/>
              <a:gd name="csX1" fmla="*/ 842433 w 10426700"/>
              <a:gd name="csY1" fmla="*/ 0 h 5054600"/>
              <a:gd name="csX2" fmla="*/ 9584267 w 10426700"/>
              <a:gd name="csY2" fmla="*/ 0 h 5054600"/>
              <a:gd name="csX3" fmla="*/ 10426700 w 10426700"/>
              <a:gd name="csY3" fmla="*/ 842433 h 5054600"/>
              <a:gd name="csX4" fmla="*/ 10426700 w 10426700"/>
              <a:gd name="csY4" fmla="*/ 4212167 h 5054600"/>
              <a:gd name="csX5" fmla="*/ 9584267 w 10426700"/>
              <a:gd name="csY5" fmla="*/ 5054600 h 5054600"/>
              <a:gd name="csX6" fmla="*/ 842433 w 10426700"/>
              <a:gd name="csY6" fmla="*/ 5054600 h 5054600"/>
              <a:gd name="csX7" fmla="*/ 0 w 10426700"/>
              <a:gd name="csY7" fmla="*/ 4212167 h 5054600"/>
              <a:gd name="csX8" fmla="*/ 0 w 10426700"/>
              <a:gd name="csY8" fmla="*/ 842433 h 5054600"/>
              <a:gd name="csX0" fmla="*/ 977 w 10427677"/>
              <a:gd name="csY0" fmla="*/ 842433 h 5054600"/>
              <a:gd name="csX1" fmla="*/ 424310 w 10427677"/>
              <a:gd name="csY1" fmla="*/ 0 h 5054600"/>
              <a:gd name="csX2" fmla="*/ 9585244 w 10427677"/>
              <a:gd name="csY2" fmla="*/ 0 h 5054600"/>
              <a:gd name="csX3" fmla="*/ 10427677 w 10427677"/>
              <a:gd name="csY3" fmla="*/ 842433 h 5054600"/>
              <a:gd name="csX4" fmla="*/ 10427677 w 10427677"/>
              <a:gd name="csY4" fmla="*/ 4212167 h 5054600"/>
              <a:gd name="csX5" fmla="*/ 9585244 w 10427677"/>
              <a:gd name="csY5" fmla="*/ 5054600 h 5054600"/>
              <a:gd name="csX6" fmla="*/ 843410 w 10427677"/>
              <a:gd name="csY6" fmla="*/ 5054600 h 5054600"/>
              <a:gd name="csX7" fmla="*/ 977 w 10427677"/>
              <a:gd name="csY7" fmla="*/ 4212167 h 5054600"/>
              <a:gd name="csX8" fmla="*/ 977 w 10427677"/>
              <a:gd name="csY8" fmla="*/ 842433 h 5054600"/>
              <a:gd name="csX0" fmla="*/ 977 w 10428654"/>
              <a:gd name="csY0" fmla="*/ 842433 h 5054600"/>
              <a:gd name="csX1" fmla="*/ 424310 w 10428654"/>
              <a:gd name="csY1" fmla="*/ 0 h 5054600"/>
              <a:gd name="csX2" fmla="*/ 10004344 w 10428654"/>
              <a:gd name="csY2" fmla="*/ 25400 h 5054600"/>
              <a:gd name="csX3" fmla="*/ 10427677 w 10428654"/>
              <a:gd name="csY3" fmla="*/ 842433 h 5054600"/>
              <a:gd name="csX4" fmla="*/ 10427677 w 10428654"/>
              <a:gd name="csY4" fmla="*/ 4212167 h 5054600"/>
              <a:gd name="csX5" fmla="*/ 9585244 w 10428654"/>
              <a:gd name="csY5" fmla="*/ 5054600 h 5054600"/>
              <a:gd name="csX6" fmla="*/ 843410 w 10428654"/>
              <a:gd name="csY6" fmla="*/ 5054600 h 5054600"/>
              <a:gd name="csX7" fmla="*/ 977 w 10428654"/>
              <a:gd name="csY7" fmla="*/ 4212167 h 5054600"/>
              <a:gd name="csX8" fmla="*/ 977 w 10428654"/>
              <a:gd name="csY8" fmla="*/ 842433 h 5054600"/>
              <a:gd name="csX0" fmla="*/ 977 w 10428654"/>
              <a:gd name="csY0" fmla="*/ 842433 h 5054600"/>
              <a:gd name="csX1" fmla="*/ 424310 w 10428654"/>
              <a:gd name="csY1" fmla="*/ 0 h 5054600"/>
              <a:gd name="csX2" fmla="*/ 10004344 w 10428654"/>
              <a:gd name="csY2" fmla="*/ 25400 h 5054600"/>
              <a:gd name="csX3" fmla="*/ 10427677 w 10428654"/>
              <a:gd name="csY3" fmla="*/ 842433 h 5054600"/>
              <a:gd name="csX4" fmla="*/ 10427677 w 10428654"/>
              <a:gd name="csY4" fmla="*/ 4516967 h 5054600"/>
              <a:gd name="csX5" fmla="*/ 9585244 w 10428654"/>
              <a:gd name="csY5" fmla="*/ 5054600 h 5054600"/>
              <a:gd name="csX6" fmla="*/ 843410 w 10428654"/>
              <a:gd name="csY6" fmla="*/ 5054600 h 5054600"/>
              <a:gd name="csX7" fmla="*/ 977 w 10428654"/>
              <a:gd name="csY7" fmla="*/ 4212167 h 5054600"/>
              <a:gd name="csX8" fmla="*/ 977 w 10428654"/>
              <a:gd name="csY8" fmla="*/ 842433 h 5054600"/>
              <a:gd name="csX0" fmla="*/ 977 w 10428654"/>
              <a:gd name="csY0" fmla="*/ 842433 h 5054600"/>
              <a:gd name="csX1" fmla="*/ 424310 w 10428654"/>
              <a:gd name="csY1" fmla="*/ 0 h 5054600"/>
              <a:gd name="csX2" fmla="*/ 10004344 w 10428654"/>
              <a:gd name="csY2" fmla="*/ 25400 h 5054600"/>
              <a:gd name="csX3" fmla="*/ 10427677 w 10428654"/>
              <a:gd name="csY3" fmla="*/ 486833 h 5054600"/>
              <a:gd name="csX4" fmla="*/ 10427677 w 10428654"/>
              <a:gd name="csY4" fmla="*/ 4516967 h 5054600"/>
              <a:gd name="csX5" fmla="*/ 9585244 w 10428654"/>
              <a:gd name="csY5" fmla="*/ 5054600 h 5054600"/>
              <a:gd name="csX6" fmla="*/ 843410 w 10428654"/>
              <a:gd name="csY6" fmla="*/ 5054600 h 5054600"/>
              <a:gd name="csX7" fmla="*/ 977 w 10428654"/>
              <a:gd name="csY7" fmla="*/ 4212167 h 5054600"/>
              <a:gd name="csX8" fmla="*/ 977 w 10428654"/>
              <a:gd name="csY8" fmla="*/ 842433 h 5054600"/>
              <a:gd name="csX0" fmla="*/ 72 w 10453149"/>
              <a:gd name="csY0" fmla="*/ 550333 h 5054600"/>
              <a:gd name="csX1" fmla="*/ 448805 w 10453149"/>
              <a:gd name="csY1" fmla="*/ 0 h 5054600"/>
              <a:gd name="csX2" fmla="*/ 10028839 w 10453149"/>
              <a:gd name="csY2" fmla="*/ 25400 h 5054600"/>
              <a:gd name="csX3" fmla="*/ 10452172 w 10453149"/>
              <a:gd name="csY3" fmla="*/ 486833 h 5054600"/>
              <a:gd name="csX4" fmla="*/ 10452172 w 10453149"/>
              <a:gd name="csY4" fmla="*/ 4516967 h 5054600"/>
              <a:gd name="csX5" fmla="*/ 9609739 w 10453149"/>
              <a:gd name="csY5" fmla="*/ 5054600 h 5054600"/>
              <a:gd name="csX6" fmla="*/ 867905 w 10453149"/>
              <a:gd name="csY6" fmla="*/ 5054600 h 5054600"/>
              <a:gd name="csX7" fmla="*/ 25472 w 10453149"/>
              <a:gd name="csY7" fmla="*/ 4212167 h 5054600"/>
              <a:gd name="csX8" fmla="*/ 72 w 10453149"/>
              <a:gd name="csY8" fmla="*/ 550333 h 5054600"/>
              <a:gd name="csX0" fmla="*/ 72 w 10453149"/>
              <a:gd name="csY0" fmla="*/ 550333 h 5054601"/>
              <a:gd name="csX1" fmla="*/ 448805 w 10453149"/>
              <a:gd name="csY1" fmla="*/ 0 h 5054601"/>
              <a:gd name="csX2" fmla="*/ 10028839 w 10453149"/>
              <a:gd name="csY2" fmla="*/ 25400 h 5054601"/>
              <a:gd name="csX3" fmla="*/ 10452172 w 10453149"/>
              <a:gd name="csY3" fmla="*/ 486833 h 5054601"/>
              <a:gd name="csX4" fmla="*/ 10452172 w 10453149"/>
              <a:gd name="csY4" fmla="*/ 4516967 h 5054601"/>
              <a:gd name="csX5" fmla="*/ 9609739 w 10453149"/>
              <a:gd name="csY5" fmla="*/ 5054600 h 5054601"/>
              <a:gd name="csX6" fmla="*/ 867905 w 10453149"/>
              <a:gd name="csY6" fmla="*/ 5054600 h 5054601"/>
              <a:gd name="csX7" fmla="*/ 38172 w 10453149"/>
              <a:gd name="csY7" fmla="*/ 4593167 h 5054601"/>
              <a:gd name="csX8" fmla="*/ 72 w 10453149"/>
              <a:gd name="csY8" fmla="*/ 550333 h 5054601"/>
              <a:gd name="csX0" fmla="*/ 72 w 10453149"/>
              <a:gd name="csY0" fmla="*/ 550333 h 5080000"/>
              <a:gd name="csX1" fmla="*/ 448805 w 10453149"/>
              <a:gd name="csY1" fmla="*/ 0 h 5080000"/>
              <a:gd name="csX2" fmla="*/ 10028839 w 10453149"/>
              <a:gd name="csY2" fmla="*/ 25400 h 5080000"/>
              <a:gd name="csX3" fmla="*/ 10452172 w 10453149"/>
              <a:gd name="csY3" fmla="*/ 486833 h 5080000"/>
              <a:gd name="csX4" fmla="*/ 10452172 w 10453149"/>
              <a:gd name="csY4" fmla="*/ 4516967 h 5080000"/>
              <a:gd name="csX5" fmla="*/ 9609739 w 10453149"/>
              <a:gd name="csY5" fmla="*/ 5054600 h 5080000"/>
              <a:gd name="csX6" fmla="*/ 563105 w 10453149"/>
              <a:gd name="csY6" fmla="*/ 5080000 h 5080000"/>
              <a:gd name="csX7" fmla="*/ 38172 w 10453149"/>
              <a:gd name="csY7" fmla="*/ 4593167 h 5080000"/>
              <a:gd name="csX8" fmla="*/ 72 w 10453149"/>
              <a:gd name="csY8" fmla="*/ 550333 h 5080000"/>
              <a:gd name="csX0" fmla="*/ 72 w 10454147"/>
              <a:gd name="csY0" fmla="*/ 550333 h 5080000"/>
              <a:gd name="csX1" fmla="*/ 448805 w 10454147"/>
              <a:gd name="csY1" fmla="*/ 0 h 5080000"/>
              <a:gd name="csX2" fmla="*/ 10028839 w 10454147"/>
              <a:gd name="csY2" fmla="*/ 25400 h 5080000"/>
              <a:gd name="csX3" fmla="*/ 10452172 w 10454147"/>
              <a:gd name="csY3" fmla="*/ 486833 h 5080000"/>
              <a:gd name="csX4" fmla="*/ 10452172 w 10454147"/>
              <a:gd name="csY4" fmla="*/ 4516967 h 5080000"/>
              <a:gd name="csX5" fmla="*/ 10041539 w 10454147"/>
              <a:gd name="csY5" fmla="*/ 5054600 h 5080000"/>
              <a:gd name="csX6" fmla="*/ 563105 w 10454147"/>
              <a:gd name="csY6" fmla="*/ 5080000 h 5080000"/>
              <a:gd name="csX7" fmla="*/ 38172 w 10454147"/>
              <a:gd name="csY7" fmla="*/ 4593167 h 5080000"/>
              <a:gd name="csX8" fmla="*/ 72 w 10454147"/>
              <a:gd name="csY8" fmla="*/ 550333 h 5080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0454147" h="5080000">
                <a:moveTo>
                  <a:pt x="72" y="550333"/>
                </a:moveTo>
                <a:cubicBezTo>
                  <a:pt x="72" y="85070"/>
                  <a:pt x="-16458" y="0"/>
                  <a:pt x="448805" y="0"/>
                </a:cubicBezTo>
                <a:lnTo>
                  <a:pt x="10028839" y="25400"/>
                </a:lnTo>
                <a:cubicBezTo>
                  <a:pt x="10494102" y="25400"/>
                  <a:pt x="10452172" y="21570"/>
                  <a:pt x="10452172" y="486833"/>
                </a:cubicBezTo>
                <a:lnTo>
                  <a:pt x="10452172" y="4516967"/>
                </a:lnTo>
                <a:cubicBezTo>
                  <a:pt x="10452172" y="4982230"/>
                  <a:pt x="10506802" y="5054600"/>
                  <a:pt x="10041539" y="5054600"/>
                </a:cubicBezTo>
                <a:lnTo>
                  <a:pt x="563105" y="5080000"/>
                </a:lnTo>
                <a:cubicBezTo>
                  <a:pt x="97842" y="5080000"/>
                  <a:pt x="38172" y="5058430"/>
                  <a:pt x="38172" y="4593167"/>
                </a:cubicBezTo>
                <a:lnTo>
                  <a:pt x="72" y="550333"/>
                </a:lnTo>
                <a:close/>
              </a:path>
            </a:pathLst>
          </a:custGeom>
          <a:blipFill dpi="0" rotWithShape="1">
            <a:blip r:embed="rId4">
              <a:extLst>
                <a:ext uri="{28A0092B-C50C-407E-A947-70E740481C1C}">
                  <a14:useLocalDpi xmlns:a14="http://schemas.microsoft.com/office/drawing/2010/main" val="0"/>
                </a:ext>
              </a:extLst>
            </a:blip>
            <a:srcRect/>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Flowchart: Alternate Process 3">
            <a:hlinkClick r:id="rId3" action="ppaction://hlinksldjump"/>
            <a:extLst>
              <a:ext uri="{FF2B5EF4-FFF2-40B4-BE49-F238E27FC236}">
                <a16:creationId xmlns:a16="http://schemas.microsoft.com/office/drawing/2014/main" id="{59A564E2-5494-1783-1751-8FF70D68DEC8}"/>
              </a:ext>
            </a:extLst>
          </p:cNvPr>
          <p:cNvSpPr/>
          <p:nvPr/>
        </p:nvSpPr>
        <p:spPr>
          <a:xfrm>
            <a:off x="9867900" y="482600"/>
            <a:ext cx="1727200" cy="619267"/>
          </a:xfrm>
          <a:prstGeom prst="flowChartAlternateProcess">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prstClr val="white"/>
                </a:solidFill>
                <a:effectLst/>
                <a:uLnTx/>
                <a:uFillTx/>
                <a:latin typeface="Bahnschrift" panose="020B0502040204020203" pitchFamily="34" charset="0"/>
                <a:ea typeface="+mn-ea"/>
                <a:cs typeface="+mn-cs"/>
              </a:rPr>
              <a:t>BACK</a:t>
            </a:r>
          </a:p>
        </p:txBody>
      </p:sp>
    </p:spTree>
    <p:extLst>
      <p:ext uri="{BB962C8B-B14F-4D97-AF65-F5344CB8AC3E}">
        <p14:creationId xmlns:p14="http://schemas.microsoft.com/office/powerpoint/2010/main" val="166257773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77DA0B-5602-D7C4-62A2-2EEF50EF888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D7527F4-51D0-D399-8E43-91921A90E0E8}"/>
              </a:ext>
            </a:extLst>
          </p:cNvPr>
          <p:cNvPicPr>
            <a:picLocks noChangeAspect="1"/>
          </p:cNvPicPr>
          <p:nvPr/>
        </p:nvPicPr>
        <p:blipFill>
          <a:blip r:embed="rId2">
            <a:extLst>
              <a:ext uri="{28A0092B-C50C-407E-A947-70E740481C1C}">
                <a14:useLocalDpi xmlns:a14="http://schemas.microsoft.com/office/drawing/2010/main" val="0"/>
              </a:ext>
            </a:extLst>
          </a:blip>
          <a:srcRect t="7057" b="7057"/>
          <a:stretch/>
        </p:blipFill>
        <p:spPr>
          <a:xfrm>
            <a:off x="1" y="-27195"/>
            <a:ext cx="12192000" cy="6862830"/>
          </a:xfrm>
          <a:prstGeom prst="rect">
            <a:avLst/>
          </a:prstGeom>
        </p:spPr>
      </p:pic>
      <p:sp>
        <p:nvSpPr>
          <p:cNvPr id="12" name="Rectangle 11">
            <a:extLst>
              <a:ext uri="{FF2B5EF4-FFF2-40B4-BE49-F238E27FC236}">
                <a16:creationId xmlns:a16="http://schemas.microsoft.com/office/drawing/2014/main" id="{1E3AAE13-F761-F7BC-D175-6CFA1C159AA3}"/>
              </a:ext>
            </a:extLst>
          </p:cNvPr>
          <p:cNvSpPr/>
          <p:nvPr/>
        </p:nvSpPr>
        <p:spPr>
          <a:xfrm>
            <a:off x="-9524" y="-319313"/>
            <a:ext cx="12201524" cy="7186988"/>
          </a:xfrm>
          <a:prstGeom prst="rect">
            <a:avLst/>
          </a:prstGeom>
          <a:solidFill>
            <a:schemeClr val="tx1">
              <a:alpha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1" name="Pentagon 57">
            <a:extLst>
              <a:ext uri="{FF2B5EF4-FFF2-40B4-BE49-F238E27FC236}">
                <a16:creationId xmlns:a16="http://schemas.microsoft.com/office/drawing/2014/main" id="{60B634BB-E88B-5430-DE60-F6B8CFC99836}"/>
              </a:ext>
            </a:extLst>
          </p:cNvPr>
          <p:cNvSpPr/>
          <p:nvPr/>
        </p:nvSpPr>
        <p:spPr>
          <a:xfrm>
            <a:off x="1155701" y="152400"/>
            <a:ext cx="9829800" cy="1278169"/>
          </a:xfrm>
          <a:prstGeom prst="homePlate">
            <a:avLst/>
          </a:prstGeom>
          <a:no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400" b="1" dirty="0">
                <a:solidFill>
                  <a:schemeClr val="bg1"/>
                </a:solidFill>
                <a:latin typeface="Bahnschrift" panose="020B0502040204020203" pitchFamily="34" charset="0"/>
                <a:cs typeface="Dubai Light" panose="020B0303030403030204" pitchFamily="34" charset="-78"/>
              </a:rPr>
              <a:t>IMPLEMENTED FEATURES</a:t>
            </a:r>
          </a:p>
        </p:txBody>
      </p:sp>
      <p:sp>
        <p:nvSpPr>
          <p:cNvPr id="7" name="Flowchart: Connector 6">
            <a:extLst>
              <a:ext uri="{FF2B5EF4-FFF2-40B4-BE49-F238E27FC236}">
                <a16:creationId xmlns:a16="http://schemas.microsoft.com/office/drawing/2014/main" id="{5B1664DF-2C26-CC67-8A8C-1DEC163E7118}"/>
              </a:ext>
            </a:extLst>
          </p:cNvPr>
          <p:cNvSpPr/>
          <p:nvPr/>
        </p:nvSpPr>
        <p:spPr>
          <a:xfrm>
            <a:off x="1130300" y="7892990"/>
            <a:ext cx="1460500" cy="1390710"/>
          </a:xfrm>
          <a:prstGeom prst="flowChartConnector">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3" name="Flowchart: Alternate Process 122">
            <a:extLst>
              <a:ext uri="{FF2B5EF4-FFF2-40B4-BE49-F238E27FC236}">
                <a16:creationId xmlns:a16="http://schemas.microsoft.com/office/drawing/2014/main" id="{C3932ADE-FD19-6200-CF9D-E64C3ED4E7B7}"/>
              </a:ext>
            </a:extLst>
          </p:cNvPr>
          <p:cNvSpPr/>
          <p:nvPr/>
        </p:nvSpPr>
        <p:spPr>
          <a:xfrm>
            <a:off x="469900" y="9601200"/>
            <a:ext cx="2159000" cy="774700"/>
          </a:xfrm>
          <a:prstGeom prst="flowChartAlternateProcess">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endParaRPr lang="en-GB">
              <a:solidFill>
                <a:schemeClr val="bg1"/>
              </a:solidFill>
            </a:endParaRPr>
          </a:p>
        </p:txBody>
      </p:sp>
      <p:pic>
        <p:nvPicPr>
          <p:cNvPr id="148" name="Graphic 147" descr="Users with solid fill">
            <a:extLst>
              <a:ext uri="{FF2B5EF4-FFF2-40B4-BE49-F238E27FC236}">
                <a16:creationId xmlns:a16="http://schemas.microsoft.com/office/drawing/2014/main" id="{02C6A484-1B76-6098-BF12-2275757899A3}"/>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1391370" y="8082103"/>
            <a:ext cx="922197" cy="922197"/>
          </a:xfrm>
          <a:prstGeom prst="rect">
            <a:avLst/>
          </a:prstGeom>
        </p:spPr>
      </p:pic>
      <p:sp>
        <p:nvSpPr>
          <p:cNvPr id="149" name="Flowchart: Alternate Process 148">
            <a:extLst>
              <a:ext uri="{FF2B5EF4-FFF2-40B4-BE49-F238E27FC236}">
                <a16:creationId xmlns:a16="http://schemas.microsoft.com/office/drawing/2014/main" id="{62DB6523-E52F-9FB2-BECE-970F21444FC3}"/>
              </a:ext>
            </a:extLst>
          </p:cNvPr>
          <p:cNvSpPr/>
          <p:nvPr/>
        </p:nvSpPr>
        <p:spPr>
          <a:xfrm>
            <a:off x="673100" y="9301370"/>
            <a:ext cx="2751282" cy="1104900"/>
          </a:xfrm>
          <a:prstGeom prst="flowChartAlternateProcess">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latin typeface="Bahnschrift" panose="020B0502040204020203" pitchFamily="34" charset="0"/>
              </a:rPr>
              <a:t>USER AUTHENTICATION</a:t>
            </a:r>
          </a:p>
        </p:txBody>
      </p:sp>
      <p:sp>
        <p:nvSpPr>
          <p:cNvPr id="151" name="Flowchart: Connector 150">
            <a:extLst>
              <a:ext uri="{FF2B5EF4-FFF2-40B4-BE49-F238E27FC236}">
                <a16:creationId xmlns:a16="http://schemas.microsoft.com/office/drawing/2014/main" id="{7B2CAAF1-6D92-8190-D216-B191FE421488}"/>
              </a:ext>
            </a:extLst>
          </p:cNvPr>
          <p:cNvSpPr/>
          <p:nvPr/>
        </p:nvSpPr>
        <p:spPr>
          <a:xfrm>
            <a:off x="4898736" y="7862620"/>
            <a:ext cx="1460500" cy="1390710"/>
          </a:xfrm>
          <a:prstGeom prst="flowChartConnector">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53" name="Graphic 152" descr="Playbook with solid fill">
            <a:extLst>
              <a:ext uri="{FF2B5EF4-FFF2-40B4-BE49-F238E27FC236}">
                <a16:creationId xmlns:a16="http://schemas.microsoft.com/office/drawing/2014/main" id="{BBB13EB1-2073-9A77-4294-25DA5FE92F90}"/>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5167888" y="8074373"/>
            <a:ext cx="922197" cy="922197"/>
          </a:xfrm>
          <a:prstGeom prst="rect">
            <a:avLst/>
          </a:prstGeom>
        </p:spPr>
      </p:pic>
      <p:sp>
        <p:nvSpPr>
          <p:cNvPr id="155" name="Flowchart: Alternate Process 154">
            <a:extLst>
              <a:ext uri="{FF2B5EF4-FFF2-40B4-BE49-F238E27FC236}">
                <a16:creationId xmlns:a16="http://schemas.microsoft.com/office/drawing/2014/main" id="{3AF091CA-0EA5-B2FE-97F3-ADDE343227B2}"/>
              </a:ext>
            </a:extLst>
          </p:cNvPr>
          <p:cNvSpPr/>
          <p:nvPr/>
        </p:nvSpPr>
        <p:spPr>
          <a:xfrm>
            <a:off x="4097481" y="9319040"/>
            <a:ext cx="3103419" cy="1104900"/>
          </a:xfrm>
          <a:prstGeom prst="flowChartAlternateProcess">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latin typeface="Bahnschrift" panose="020B0502040204020203" pitchFamily="34" charset="0"/>
              </a:rPr>
              <a:t>CUSTOMER MANAGEMENT</a:t>
            </a:r>
          </a:p>
        </p:txBody>
      </p:sp>
      <p:sp>
        <p:nvSpPr>
          <p:cNvPr id="157" name="Flowchart: Connector 156">
            <a:extLst>
              <a:ext uri="{FF2B5EF4-FFF2-40B4-BE49-F238E27FC236}">
                <a16:creationId xmlns:a16="http://schemas.microsoft.com/office/drawing/2014/main" id="{BC83F3E6-B84A-CCE0-C13C-E7CC154E6745}"/>
              </a:ext>
            </a:extLst>
          </p:cNvPr>
          <p:cNvSpPr/>
          <p:nvPr/>
        </p:nvSpPr>
        <p:spPr>
          <a:xfrm>
            <a:off x="8920018" y="7862620"/>
            <a:ext cx="1460500" cy="1390710"/>
          </a:xfrm>
          <a:prstGeom prst="flowChartConnector">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59" name="Graphic 158" descr="Checklist with solid fill">
            <a:extLst>
              <a:ext uri="{FF2B5EF4-FFF2-40B4-BE49-F238E27FC236}">
                <a16:creationId xmlns:a16="http://schemas.microsoft.com/office/drawing/2014/main" id="{FEB79C43-B749-4B81-CA66-459FCA2B20F9}"/>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9181088" y="8051733"/>
            <a:ext cx="922197" cy="922197"/>
          </a:xfrm>
          <a:prstGeom prst="rect">
            <a:avLst/>
          </a:prstGeom>
        </p:spPr>
      </p:pic>
      <p:sp>
        <p:nvSpPr>
          <p:cNvPr id="161" name="Flowchart: Alternate Process 160">
            <a:extLst>
              <a:ext uri="{FF2B5EF4-FFF2-40B4-BE49-F238E27FC236}">
                <a16:creationId xmlns:a16="http://schemas.microsoft.com/office/drawing/2014/main" id="{EE7C3F5E-7AFB-4C36-43AF-B31F768D1083}"/>
              </a:ext>
            </a:extLst>
          </p:cNvPr>
          <p:cNvSpPr/>
          <p:nvPr/>
        </p:nvSpPr>
        <p:spPr>
          <a:xfrm>
            <a:off x="8462818" y="9271000"/>
            <a:ext cx="2751282" cy="1104900"/>
          </a:xfrm>
          <a:prstGeom prst="flowChartAlternateProcess">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latin typeface="Bahnschrift" panose="020B0502040204020203" pitchFamily="34" charset="0"/>
              </a:rPr>
              <a:t>LAUNDRY ORDER MANAGEMENT</a:t>
            </a:r>
          </a:p>
        </p:txBody>
      </p:sp>
      <p:sp>
        <p:nvSpPr>
          <p:cNvPr id="163" name="Flowchart: Connector 162">
            <a:extLst>
              <a:ext uri="{FF2B5EF4-FFF2-40B4-BE49-F238E27FC236}">
                <a16:creationId xmlns:a16="http://schemas.microsoft.com/office/drawing/2014/main" id="{61238698-C2DF-9AA9-D8AE-38DB936BA644}"/>
              </a:ext>
            </a:extLst>
          </p:cNvPr>
          <p:cNvSpPr/>
          <p:nvPr/>
        </p:nvSpPr>
        <p:spPr>
          <a:xfrm>
            <a:off x="1130300" y="10327119"/>
            <a:ext cx="1460500" cy="1390710"/>
          </a:xfrm>
          <a:prstGeom prst="flowChartConnector">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5" name="Flowchart: Alternate Process 164">
            <a:extLst>
              <a:ext uri="{FF2B5EF4-FFF2-40B4-BE49-F238E27FC236}">
                <a16:creationId xmlns:a16="http://schemas.microsoft.com/office/drawing/2014/main" id="{8E63B0A1-5C92-5A14-A7A4-6605B8281FAE}"/>
              </a:ext>
            </a:extLst>
          </p:cNvPr>
          <p:cNvSpPr/>
          <p:nvPr/>
        </p:nvSpPr>
        <p:spPr>
          <a:xfrm>
            <a:off x="469900" y="12035329"/>
            <a:ext cx="2159000" cy="774700"/>
          </a:xfrm>
          <a:prstGeom prst="flowChartAlternateProcess">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endParaRPr lang="en-GB">
              <a:solidFill>
                <a:schemeClr val="bg1"/>
              </a:solidFill>
            </a:endParaRPr>
          </a:p>
        </p:txBody>
      </p:sp>
      <p:pic>
        <p:nvPicPr>
          <p:cNvPr id="167" name="Graphic 166" descr="Marker with solid fill">
            <a:extLst>
              <a:ext uri="{FF2B5EF4-FFF2-40B4-BE49-F238E27FC236}">
                <a16:creationId xmlns:a16="http://schemas.microsoft.com/office/drawing/2014/main" id="{230EFE42-65EE-A2A9-E7B6-394812D556EA}"/>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1391370" y="10516232"/>
            <a:ext cx="922197" cy="922197"/>
          </a:xfrm>
          <a:prstGeom prst="rect">
            <a:avLst/>
          </a:prstGeom>
        </p:spPr>
      </p:pic>
      <p:sp>
        <p:nvSpPr>
          <p:cNvPr id="169" name="Flowchart: Alternate Process 168">
            <a:extLst>
              <a:ext uri="{FF2B5EF4-FFF2-40B4-BE49-F238E27FC236}">
                <a16:creationId xmlns:a16="http://schemas.microsoft.com/office/drawing/2014/main" id="{9B8AC564-77DE-DAA0-22DA-FBAFD53827DE}"/>
              </a:ext>
            </a:extLst>
          </p:cNvPr>
          <p:cNvSpPr/>
          <p:nvPr/>
        </p:nvSpPr>
        <p:spPr>
          <a:xfrm>
            <a:off x="673100" y="11735499"/>
            <a:ext cx="2751282" cy="1104900"/>
          </a:xfrm>
          <a:prstGeom prst="flowChartAlternateProcess">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latin typeface="Bahnschrift" panose="020B0502040204020203" pitchFamily="34" charset="0"/>
              </a:rPr>
              <a:t>GARMENT STATUS TRACKING</a:t>
            </a:r>
          </a:p>
        </p:txBody>
      </p:sp>
      <p:sp>
        <p:nvSpPr>
          <p:cNvPr id="171" name="Flowchart: Connector 170">
            <a:extLst>
              <a:ext uri="{FF2B5EF4-FFF2-40B4-BE49-F238E27FC236}">
                <a16:creationId xmlns:a16="http://schemas.microsoft.com/office/drawing/2014/main" id="{AF820648-62AC-2B6B-0386-96B4F0786359}"/>
              </a:ext>
            </a:extLst>
          </p:cNvPr>
          <p:cNvSpPr/>
          <p:nvPr/>
        </p:nvSpPr>
        <p:spPr>
          <a:xfrm>
            <a:off x="4898736" y="10327119"/>
            <a:ext cx="1460500" cy="1390710"/>
          </a:xfrm>
          <a:prstGeom prst="flowChartConnector">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73" name="Graphic 172" descr="Money with solid fill">
            <a:extLst>
              <a:ext uri="{FF2B5EF4-FFF2-40B4-BE49-F238E27FC236}">
                <a16:creationId xmlns:a16="http://schemas.microsoft.com/office/drawing/2014/main" id="{86B7951C-CF30-D2A8-A04D-8D3B0CCB91DE}"/>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5167888" y="10508502"/>
            <a:ext cx="922197" cy="922197"/>
          </a:xfrm>
          <a:prstGeom prst="rect">
            <a:avLst/>
          </a:prstGeom>
        </p:spPr>
      </p:pic>
      <p:sp>
        <p:nvSpPr>
          <p:cNvPr id="175" name="Flowchart: Alternate Process 174">
            <a:extLst>
              <a:ext uri="{FF2B5EF4-FFF2-40B4-BE49-F238E27FC236}">
                <a16:creationId xmlns:a16="http://schemas.microsoft.com/office/drawing/2014/main" id="{4883319A-5454-6FF5-E4AB-5CBA1CD8658F}"/>
              </a:ext>
            </a:extLst>
          </p:cNvPr>
          <p:cNvSpPr/>
          <p:nvPr/>
        </p:nvSpPr>
        <p:spPr>
          <a:xfrm>
            <a:off x="4097481" y="11753169"/>
            <a:ext cx="3103419" cy="1104900"/>
          </a:xfrm>
          <a:prstGeom prst="flowChartAlternateProcess">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latin typeface="Bahnschrift" panose="020B0502040204020203" pitchFamily="34" charset="0"/>
              </a:rPr>
              <a:t>INVOICE GENERATION</a:t>
            </a:r>
          </a:p>
        </p:txBody>
      </p:sp>
      <p:sp>
        <p:nvSpPr>
          <p:cNvPr id="177" name="Flowchart: Connector 176">
            <a:extLst>
              <a:ext uri="{FF2B5EF4-FFF2-40B4-BE49-F238E27FC236}">
                <a16:creationId xmlns:a16="http://schemas.microsoft.com/office/drawing/2014/main" id="{69F60CF7-EAAD-54B6-5E6A-C330D4C0EB56}"/>
              </a:ext>
            </a:extLst>
          </p:cNvPr>
          <p:cNvSpPr/>
          <p:nvPr/>
        </p:nvSpPr>
        <p:spPr>
          <a:xfrm>
            <a:off x="8920018" y="10296749"/>
            <a:ext cx="1460500" cy="1390710"/>
          </a:xfrm>
          <a:prstGeom prst="flowChartConnector">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179" name="Graphic 178" descr="Magnifying glass with solid fill">
            <a:extLst>
              <a:ext uri="{FF2B5EF4-FFF2-40B4-BE49-F238E27FC236}">
                <a16:creationId xmlns:a16="http://schemas.microsoft.com/office/drawing/2014/main" id="{3B548939-83F7-2623-0D80-5892DBE2CB7D}"/>
              </a:ext>
            </a:extLst>
          </p:cNvPr>
          <p:cNvPicPr>
            <a:picLocks noChangeAspect="1"/>
          </p:cNvPicPr>
          <p:nvPr/>
        </p:nvPicPr>
        <p:blipFill>
          <a:blip>
            <a:extLst>
              <a:ext uri="{96DAC541-7B7A-43D3-8B79-37D633B846F1}">
                <asvg:svgBlip xmlns:asvg="http://schemas.microsoft.com/office/drawing/2016/SVG/main" r:embed="rId8"/>
              </a:ext>
            </a:extLst>
          </a:blip>
          <a:srcRect/>
          <a:stretch/>
        </p:blipFill>
        <p:spPr>
          <a:xfrm>
            <a:off x="9181088" y="10485862"/>
            <a:ext cx="922197" cy="922197"/>
          </a:xfrm>
          <a:prstGeom prst="rect">
            <a:avLst/>
          </a:prstGeom>
        </p:spPr>
      </p:pic>
      <p:sp>
        <p:nvSpPr>
          <p:cNvPr id="181" name="Flowchart: Alternate Process 180">
            <a:extLst>
              <a:ext uri="{FF2B5EF4-FFF2-40B4-BE49-F238E27FC236}">
                <a16:creationId xmlns:a16="http://schemas.microsoft.com/office/drawing/2014/main" id="{CACD88E1-8FBF-7BDD-6D8B-60E5B0619B34}"/>
              </a:ext>
            </a:extLst>
          </p:cNvPr>
          <p:cNvSpPr/>
          <p:nvPr/>
        </p:nvSpPr>
        <p:spPr>
          <a:xfrm>
            <a:off x="8462818" y="11705129"/>
            <a:ext cx="2751282" cy="1104900"/>
          </a:xfrm>
          <a:prstGeom prst="flowChartAlternateProcess">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latin typeface="Bahnschrift" panose="020B0502040204020203" pitchFamily="34" charset="0"/>
              </a:rPr>
              <a:t>SEARCH AND RECORD MANAGEMENT</a:t>
            </a:r>
          </a:p>
        </p:txBody>
      </p:sp>
    </p:spTree>
    <p:extLst>
      <p:ext uri="{BB962C8B-B14F-4D97-AF65-F5344CB8AC3E}">
        <p14:creationId xmlns:p14="http://schemas.microsoft.com/office/powerpoint/2010/main" val="26502352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6AA4EA-AB84-3E99-7EBB-E6DE6EF1C384}"/>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6E8C2776-A257-5A40-9D58-06B62FDBF8B5}"/>
              </a:ext>
            </a:extLst>
          </p:cNvPr>
          <p:cNvPicPr>
            <a:picLocks noChangeAspect="1"/>
          </p:cNvPicPr>
          <p:nvPr/>
        </p:nvPicPr>
        <p:blipFill>
          <a:blip r:embed="rId2">
            <a:extLst>
              <a:ext uri="{28A0092B-C50C-407E-A947-70E740481C1C}">
                <a14:useLocalDpi xmlns:a14="http://schemas.microsoft.com/office/drawing/2010/main" val="0"/>
              </a:ext>
            </a:extLst>
          </a:blip>
          <a:srcRect t="7057" b="7057"/>
          <a:stretch/>
        </p:blipFill>
        <p:spPr>
          <a:xfrm>
            <a:off x="1" y="-27195"/>
            <a:ext cx="12192000" cy="6862830"/>
          </a:xfrm>
          <a:prstGeom prst="rect">
            <a:avLst/>
          </a:prstGeom>
        </p:spPr>
      </p:pic>
      <p:sp>
        <p:nvSpPr>
          <p:cNvPr id="12" name="Rectangle 11">
            <a:extLst>
              <a:ext uri="{FF2B5EF4-FFF2-40B4-BE49-F238E27FC236}">
                <a16:creationId xmlns:a16="http://schemas.microsoft.com/office/drawing/2014/main" id="{30453E31-6C5E-9713-2F17-B85A5DDA8FB0}"/>
              </a:ext>
            </a:extLst>
          </p:cNvPr>
          <p:cNvSpPr/>
          <p:nvPr/>
        </p:nvSpPr>
        <p:spPr>
          <a:xfrm>
            <a:off x="-9524" y="-362857"/>
            <a:ext cx="12201524" cy="7230531"/>
          </a:xfrm>
          <a:prstGeom prst="rect">
            <a:avLst/>
          </a:prstGeom>
          <a:solidFill>
            <a:schemeClr val="tx1">
              <a:alpha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1" name="Pentagon 57">
            <a:extLst>
              <a:ext uri="{FF2B5EF4-FFF2-40B4-BE49-F238E27FC236}">
                <a16:creationId xmlns:a16="http://schemas.microsoft.com/office/drawing/2014/main" id="{A0AAD608-58BE-A928-DAFE-AF56EEF47402}"/>
              </a:ext>
            </a:extLst>
          </p:cNvPr>
          <p:cNvSpPr/>
          <p:nvPr/>
        </p:nvSpPr>
        <p:spPr>
          <a:xfrm>
            <a:off x="1155701" y="152400"/>
            <a:ext cx="9829800" cy="1278169"/>
          </a:xfrm>
          <a:prstGeom prst="homePlate">
            <a:avLst/>
          </a:prstGeom>
          <a:no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400" b="1" dirty="0">
                <a:solidFill>
                  <a:schemeClr val="bg1"/>
                </a:solidFill>
                <a:latin typeface="Bahnschrift" panose="020B0502040204020203" pitchFamily="34" charset="0"/>
                <a:cs typeface="Dubai Light" panose="020B0303030403030204" pitchFamily="34" charset="-78"/>
              </a:rPr>
              <a:t>IMPLEMENTED FEATURES</a:t>
            </a:r>
          </a:p>
        </p:txBody>
      </p:sp>
      <p:sp>
        <p:nvSpPr>
          <p:cNvPr id="7" name="Flowchart: Connector 6">
            <a:extLst>
              <a:ext uri="{FF2B5EF4-FFF2-40B4-BE49-F238E27FC236}">
                <a16:creationId xmlns:a16="http://schemas.microsoft.com/office/drawing/2014/main" id="{80F20F79-9081-C75B-A1BA-83C60EFBC7F2}"/>
              </a:ext>
            </a:extLst>
          </p:cNvPr>
          <p:cNvSpPr/>
          <p:nvPr/>
        </p:nvSpPr>
        <p:spPr>
          <a:xfrm>
            <a:off x="1130300" y="1720790"/>
            <a:ext cx="1460500" cy="1390710"/>
          </a:xfrm>
          <a:prstGeom prst="flowChartConnector">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3" name="Flowchart: Alternate Process 122">
            <a:extLst>
              <a:ext uri="{FF2B5EF4-FFF2-40B4-BE49-F238E27FC236}">
                <a16:creationId xmlns:a16="http://schemas.microsoft.com/office/drawing/2014/main" id="{914154EC-4556-393B-B20A-C95A9EC7788C}"/>
              </a:ext>
            </a:extLst>
          </p:cNvPr>
          <p:cNvSpPr/>
          <p:nvPr/>
        </p:nvSpPr>
        <p:spPr>
          <a:xfrm>
            <a:off x="469900" y="3429000"/>
            <a:ext cx="2159000" cy="774700"/>
          </a:xfrm>
          <a:prstGeom prst="flowChartAlternateProcess">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endParaRPr lang="en-GB">
              <a:solidFill>
                <a:schemeClr val="bg1"/>
              </a:solidFill>
            </a:endParaRPr>
          </a:p>
        </p:txBody>
      </p:sp>
      <p:pic>
        <p:nvPicPr>
          <p:cNvPr id="148" name="Graphic 147" descr="Users with solid fill">
            <a:extLst>
              <a:ext uri="{FF2B5EF4-FFF2-40B4-BE49-F238E27FC236}">
                <a16:creationId xmlns:a16="http://schemas.microsoft.com/office/drawing/2014/main" id="{50781273-91EF-45B8-4D93-0BF84B20906A}"/>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1391370" y="1909903"/>
            <a:ext cx="922197" cy="922197"/>
          </a:xfrm>
          <a:prstGeom prst="rect">
            <a:avLst/>
          </a:prstGeom>
        </p:spPr>
      </p:pic>
      <p:sp>
        <p:nvSpPr>
          <p:cNvPr id="149" name="Flowchart: Alternate Process 148">
            <a:extLst>
              <a:ext uri="{FF2B5EF4-FFF2-40B4-BE49-F238E27FC236}">
                <a16:creationId xmlns:a16="http://schemas.microsoft.com/office/drawing/2014/main" id="{0346BD29-44E9-7822-F02D-56334A1196AF}"/>
              </a:ext>
            </a:extLst>
          </p:cNvPr>
          <p:cNvSpPr/>
          <p:nvPr/>
        </p:nvSpPr>
        <p:spPr>
          <a:xfrm>
            <a:off x="673100" y="3129170"/>
            <a:ext cx="2751282" cy="1104900"/>
          </a:xfrm>
          <a:prstGeom prst="flowChartAlternateProcess">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latin typeface="Bahnschrift" panose="020B0502040204020203" pitchFamily="34" charset="0"/>
              </a:rPr>
              <a:t>USER AUTHENTICATION</a:t>
            </a:r>
          </a:p>
        </p:txBody>
      </p:sp>
      <p:sp>
        <p:nvSpPr>
          <p:cNvPr id="151" name="Flowchart: Connector 150">
            <a:extLst>
              <a:ext uri="{FF2B5EF4-FFF2-40B4-BE49-F238E27FC236}">
                <a16:creationId xmlns:a16="http://schemas.microsoft.com/office/drawing/2014/main" id="{0DF35B88-BFB1-C095-7FB9-219A0A0C6F7B}"/>
              </a:ext>
            </a:extLst>
          </p:cNvPr>
          <p:cNvSpPr/>
          <p:nvPr/>
        </p:nvSpPr>
        <p:spPr>
          <a:xfrm>
            <a:off x="4898736" y="7634020"/>
            <a:ext cx="1460500" cy="1390710"/>
          </a:xfrm>
          <a:prstGeom prst="flowChartConnector">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53" name="Graphic 152" descr="Playbook with solid fill">
            <a:extLst>
              <a:ext uri="{FF2B5EF4-FFF2-40B4-BE49-F238E27FC236}">
                <a16:creationId xmlns:a16="http://schemas.microsoft.com/office/drawing/2014/main" id="{28B61178-6DCF-FDA7-1B40-9DC07C96B5D3}"/>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5167888" y="7845773"/>
            <a:ext cx="922197" cy="922197"/>
          </a:xfrm>
          <a:prstGeom prst="rect">
            <a:avLst/>
          </a:prstGeom>
        </p:spPr>
      </p:pic>
      <p:sp>
        <p:nvSpPr>
          <p:cNvPr id="155" name="Flowchart: Alternate Process 154">
            <a:extLst>
              <a:ext uri="{FF2B5EF4-FFF2-40B4-BE49-F238E27FC236}">
                <a16:creationId xmlns:a16="http://schemas.microsoft.com/office/drawing/2014/main" id="{A1FF3B97-A9C8-E054-523C-25CCD6D641E9}"/>
              </a:ext>
            </a:extLst>
          </p:cNvPr>
          <p:cNvSpPr/>
          <p:nvPr/>
        </p:nvSpPr>
        <p:spPr>
          <a:xfrm>
            <a:off x="4097481" y="9090440"/>
            <a:ext cx="3103419" cy="1104900"/>
          </a:xfrm>
          <a:prstGeom prst="flowChartAlternateProcess">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latin typeface="Bahnschrift" panose="020B0502040204020203" pitchFamily="34" charset="0"/>
              </a:rPr>
              <a:t>CUSTOMER MANAGEMENT</a:t>
            </a:r>
          </a:p>
        </p:txBody>
      </p:sp>
      <p:sp>
        <p:nvSpPr>
          <p:cNvPr id="157" name="Flowchart: Connector 156">
            <a:extLst>
              <a:ext uri="{FF2B5EF4-FFF2-40B4-BE49-F238E27FC236}">
                <a16:creationId xmlns:a16="http://schemas.microsoft.com/office/drawing/2014/main" id="{1DBC93D7-DE58-0EDC-90EB-A53312EA7750}"/>
              </a:ext>
            </a:extLst>
          </p:cNvPr>
          <p:cNvSpPr/>
          <p:nvPr/>
        </p:nvSpPr>
        <p:spPr>
          <a:xfrm>
            <a:off x="8920018" y="7634020"/>
            <a:ext cx="1460500" cy="1390710"/>
          </a:xfrm>
          <a:prstGeom prst="flowChartConnector">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59" name="Graphic 158" descr="Checklist with solid fill">
            <a:extLst>
              <a:ext uri="{FF2B5EF4-FFF2-40B4-BE49-F238E27FC236}">
                <a16:creationId xmlns:a16="http://schemas.microsoft.com/office/drawing/2014/main" id="{E89B9C4B-A0F2-F4D1-759F-A40CF7F6B680}"/>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9181088" y="7823133"/>
            <a:ext cx="922197" cy="922197"/>
          </a:xfrm>
          <a:prstGeom prst="rect">
            <a:avLst/>
          </a:prstGeom>
        </p:spPr>
      </p:pic>
      <p:sp>
        <p:nvSpPr>
          <p:cNvPr id="161" name="Flowchart: Alternate Process 160">
            <a:extLst>
              <a:ext uri="{FF2B5EF4-FFF2-40B4-BE49-F238E27FC236}">
                <a16:creationId xmlns:a16="http://schemas.microsoft.com/office/drawing/2014/main" id="{058F52BE-CB75-E6FA-C3B1-B0A49490CE34}"/>
              </a:ext>
            </a:extLst>
          </p:cNvPr>
          <p:cNvSpPr/>
          <p:nvPr/>
        </p:nvSpPr>
        <p:spPr>
          <a:xfrm>
            <a:off x="8462818" y="9042400"/>
            <a:ext cx="2751282" cy="1104900"/>
          </a:xfrm>
          <a:prstGeom prst="flowChartAlternateProcess">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latin typeface="Bahnschrift" panose="020B0502040204020203" pitchFamily="34" charset="0"/>
              </a:rPr>
              <a:t>LAUNDRY ORDER MANAGEMENT</a:t>
            </a:r>
          </a:p>
        </p:txBody>
      </p:sp>
      <p:sp>
        <p:nvSpPr>
          <p:cNvPr id="163" name="Flowchart: Connector 162">
            <a:extLst>
              <a:ext uri="{FF2B5EF4-FFF2-40B4-BE49-F238E27FC236}">
                <a16:creationId xmlns:a16="http://schemas.microsoft.com/office/drawing/2014/main" id="{98529AEB-6FCA-2036-C752-5FE688B473B5}"/>
              </a:ext>
            </a:extLst>
          </p:cNvPr>
          <p:cNvSpPr/>
          <p:nvPr/>
        </p:nvSpPr>
        <p:spPr>
          <a:xfrm>
            <a:off x="1130300" y="10098519"/>
            <a:ext cx="1460500" cy="1390710"/>
          </a:xfrm>
          <a:prstGeom prst="flowChartConnector">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5" name="Flowchart: Alternate Process 164">
            <a:extLst>
              <a:ext uri="{FF2B5EF4-FFF2-40B4-BE49-F238E27FC236}">
                <a16:creationId xmlns:a16="http://schemas.microsoft.com/office/drawing/2014/main" id="{CCA57DD2-0FE3-3697-C673-1A4D0B894574}"/>
              </a:ext>
            </a:extLst>
          </p:cNvPr>
          <p:cNvSpPr/>
          <p:nvPr/>
        </p:nvSpPr>
        <p:spPr>
          <a:xfrm>
            <a:off x="469900" y="11806729"/>
            <a:ext cx="2159000" cy="774700"/>
          </a:xfrm>
          <a:prstGeom prst="flowChartAlternateProcess">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endParaRPr lang="en-GB">
              <a:solidFill>
                <a:schemeClr val="bg1"/>
              </a:solidFill>
            </a:endParaRPr>
          </a:p>
        </p:txBody>
      </p:sp>
      <p:pic>
        <p:nvPicPr>
          <p:cNvPr id="167" name="Graphic 166" descr="Marker with solid fill">
            <a:extLst>
              <a:ext uri="{FF2B5EF4-FFF2-40B4-BE49-F238E27FC236}">
                <a16:creationId xmlns:a16="http://schemas.microsoft.com/office/drawing/2014/main" id="{33A67126-B792-9BC7-D6B5-D95E4405453E}"/>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1391370" y="10287632"/>
            <a:ext cx="922197" cy="922197"/>
          </a:xfrm>
          <a:prstGeom prst="rect">
            <a:avLst/>
          </a:prstGeom>
        </p:spPr>
      </p:pic>
      <p:sp>
        <p:nvSpPr>
          <p:cNvPr id="169" name="Flowchart: Alternate Process 168">
            <a:extLst>
              <a:ext uri="{FF2B5EF4-FFF2-40B4-BE49-F238E27FC236}">
                <a16:creationId xmlns:a16="http://schemas.microsoft.com/office/drawing/2014/main" id="{92886B9B-690D-E492-9B82-FF6F6DCA67AB}"/>
              </a:ext>
            </a:extLst>
          </p:cNvPr>
          <p:cNvSpPr/>
          <p:nvPr/>
        </p:nvSpPr>
        <p:spPr>
          <a:xfrm>
            <a:off x="673100" y="11506899"/>
            <a:ext cx="2751282" cy="1104900"/>
          </a:xfrm>
          <a:prstGeom prst="flowChartAlternateProcess">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latin typeface="Bahnschrift" panose="020B0502040204020203" pitchFamily="34" charset="0"/>
              </a:rPr>
              <a:t>GARMENT STATUS TRACKING</a:t>
            </a:r>
          </a:p>
        </p:txBody>
      </p:sp>
      <p:sp>
        <p:nvSpPr>
          <p:cNvPr id="171" name="Flowchart: Connector 170">
            <a:extLst>
              <a:ext uri="{FF2B5EF4-FFF2-40B4-BE49-F238E27FC236}">
                <a16:creationId xmlns:a16="http://schemas.microsoft.com/office/drawing/2014/main" id="{AF3E61E0-E7BB-5553-ADC3-411BDBD8DADD}"/>
              </a:ext>
            </a:extLst>
          </p:cNvPr>
          <p:cNvSpPr/>
          <p:nvPr/>
        </p:nvSpPr>
        <p:spPr>
          <a:xfrm>
            <a:off x="4898736" y="10098519"/>
            <a:ext cx="1460500" cy="1390710"/>
          </a:xfrm>
          <a:prstGeom prst="flowChartConnector">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73" name="Graphic 172" descr="Money with solid fill">
            <a:extLst>
              <a:ext uri="{FF2B5EF4-FFF2-40B4-BE49-F238E27FC236}">
                <a16:creationId xmlns:a16="http://schemas.microsoft.com/office/drawing/2014/main" id="{B228EF47-1E95-D14F-92C7-6D9A7AEED58E}"/>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5167888" y="10279902"/>
            <a:ext cx="922197" cy="922197"/>
          </a:xfrm>
          <a:prstGeom prst="rect">
            <a:avLst/>
          </a:prstGeom>
        </p:spPr>
      </p:pic>
      <p:sp>
        <p:nvSpPr>
          <p:cNvPr id="175" name="Flowchart: Alternate Process 174">
            <a:extLst>
              <a:ext uri="{FF2B5EF4-FFF2-40B4-BE49-F238E27FC236}">
                <a16:creationId xmlns:a16="http://schemas.microsoft.com/office/drawing/2014/main" id="{E57FAA51-2F84-A8B0-71F2-90C96D455185}"/>
              </a:ext>
            </a:extLst>
          </p:cNvPr>
          <p:cNvSpPr/>
          <p:nvPr/>
        </p:nvSpPr>
        <p:spPr>
          <a:xfrm>
            <a:off x="4097481" y="11524569"/>
            <a:ext cx="3103419" cy="1104900"/>
          </a:xfrm>
          <a:prstGeom prst="flowChartAlternateProcess">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latin typeface="Bahnschrift" panose="020B0502040204020203" pitchFamily="34" charset="0"/>
              </a:rPr>
              <a:t>INVOICE GENERATION</a:t>
            </a:r>
          </a:p>
        </p:txBody>
      </p:sp>
      <p:sp>
        <p:nvSpPr>
          <p:cNvPr id="177" name="Flowchart: Connector 176">
            <a:extLst>
              <a:ext uri="{FF2B5EF4-FFF2-40B4-BE49-F238E27FC236}">
                <a16:creationId xmlns:a16="http://schemas.microsoft.com/office/drawing/2014/main" id="{1A7D4A1A-6896-75AD-E56B-3FF58ECA378A}"/>
              </a:ext>
            </a:extLst>
          </p:cNvPr>
          <p:cNvSpPr/>
          <p:nvPr/>
        </p:nvSpPr>
        <p:spPr>
          <a:xfrm>
            <a:off x="8920018" y="10068149"/>
            <a:ext cx="1460500" cy="1390710"/>
          </a:xfrm>
          <a:prstGeom prst="flowChartConnector">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179" name="Graphic 178" descr="Magnifying glass with solid fill">
            <a:extLst>
              <a:ext uri="{FF2B5EF4-FFF2-40B4-BE49-F238E27FC236}">
                <a16:creationId xmlns:a16="http://schemas.microsoft.com/office/drawing/2014/main" id="{A215BFA6-2AB1-6862-48AD-42F55759AC52}"/>
              </a:ext>
            </a:extLst>
          </p:cNvPr>
          <p:cNvPicPr>
            <a:picLocks noChangeAspect="1"/>
          </p:cNvPicPr>
          <p:nvPr/>
        </p:nvPicPr>
        <p:blipFill>
          <a:blip>
            <a:extLst>
              <a:ext uri="{96DAC541-7B7A-43D3-8B79-37D633B846F1}">
                <asvg:svgBlip xmlns:asvg="http://schemas.microsoft.com/office/drawing/2016/SVG/main" r:embed="rId8"/>
              </a:ext>
            </a:extLst>
          </a:blip>
          <a:srcRect/>
          <a:stretch/>
        </p:blipFill>
        <p:spPr>
          <a:xfrm>
            <a:off x="9181088" y="10257262"/>
            <a:ext cx="922197" cy="922197"/>
          </a:xfrm>
          <a:prstGeom prst="rect">
            <a:avLst/>
          </a:prstGeom>
        </p:spPr>
      </p:pic>
      <p:sp>
        <p:nvSpPr>
          <p:cNvPr id="181" name="Flowchart: Alternate Process 180">
            <a:extLst>
              <a:ext uri="{FF2B5EF4-FFF2-40B4-BE49-F238E27FC236}">
                <a16:creationId xmlns:a16="http://schemas.microsoft.com/office/drawing/2014/main" id="{EE315830-B31D-1E4C-36A6-B1C7289B07A5}"/>
              </a:ext>
            </a:extLst>
          </p:cNvPr>
          <p:cNvSpPr/>
          <p:nvPr/>
        </p:nvSpPr>
        <p:spPr>
          <a:xfrm>
            <a:off x="8462818" y="11476529"/>
            <a:ext cx="2751282" cy="1104900"/>
          </a:xfrm>
          <a:prstGeom prst="flowChartAlternateProcess">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latin typeface="Bahnschrift" panose="020B0502040204020203" pitchFamily="34" charset="0"/>
              </a:rPr>
              <a:t>SEARCH AND RECORD MANAGEMENT</a:t>
            </a:r>
          </a:p>
        </p:txBody>
      </p:sp>
    </p:spTree>
    <p:extLst>
      <p:ext uri="{BB962C8B-B14F-4D97-AF65-F5344CB8AC3E}">
        <p14:creationId xmlns:p14="http://schemas.microsoft.com/office/powerpoint/2010/main" val="101404022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1BC418-C1D3-7E31-CED7-316A557322F3}"/>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FEC0A3EF-1FAD-B967-B3E7-43F52D07F9C7}"/>
              </a:ext>
            </a:extLst>
          </p:cNvPr>
          <p:cNvPicPr>
            <a:picLocks noChangeAspect="1"/>
          </p:cNvPicPr>
          <p:nvPr/>
        </p:nvPicPr>
        <p:blipFill>
          <a:blip r:embed="rId2">
            <a:extLst>
              <a:ext uri="{28A0092B-C50C-407E-A947-70E740481C1C}">
                <a14:useLocalDpi xmlns:a14="http://schemas.microsoft.com/office/drawing/2010/main" val="0"/>
              </a:ext>
            </a:extLst>
          </a:blip>
          <a:srcRect t="7057" b="7057"/>
          <a:stretch/>
        </p:blipFill>
        <p:spPr>
          <a:xfrm>
            <a:off x="1" y="-27195"/>
            <a:ext cx="12192000" cy="6862830"/>
          </a:xfrm>
          <a:prstGeom prst="rect">
            <a:avLst/>
          </a:prstGeom>
        </p:spPr>
      </p:pic>
      <p:sp>
        <p:nvSpPr>
          <p:cNvPr id="12" name="Rectangle 11">
            <a:extLst>
              <a:ext uri="{FF2B5EF4-FFF2-40B4-BE49-F238E27FC236}">
                <a16:creationId xmlns:a16="http://schemas.microsoft.com/office/drawing/2014/main" id="{20D1FA36-00A8-3312-CE7A-5FF14B19C9A4}"/>
              </a:ext>
            </a:extLst>
          </p:cNvPr>
          <p:cNvSpPr/>
          <p:nvPr/>
        </p:nvSpPr>
        <p:spPr>
          <a:xfrm>
            <a:off x="-10677" y="-362856"/>
            <a:ext cx="12201524" cy="7230456"/>
          </a:xfrm>
          <a:prstGeom prst="rect">
            <a:avLst/>
          </a:prstGeom>
          <a:solidFill>
            <a:schemeClr val="tx1">
              <a:alpha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1" name="Pentagon 57">
            <a:extLst>
              <a:ext uri="{FF2B5EF4-FFF2-40B4-BE49-F238E27FC236}">
                <a16:creationId xmlns:a16="http://schemas.microsoft.com/office/drawing/2014/main" id="{8EA37E13-19E9-6AD6-81C9-378F175ABE64}"/>
              </a:ext>
            </a:extLst>
          </p:cNvPr>
          <p:cNvSpPr/>
          <p:nvPr/>
        </p:nvSpPr>
        <p:spPr>
          <a:xfrm>
            <a:off x="1155701" y="152400"/>
            <a:ext cx="9829800" cy="1278169"/>
          </a:xfrm>
          <a:prstGeom prst="homePlate">
            <a:avLst/>
          </a:prstGeom>
          <a:no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400" b="1" dirty="0">
                <a:solidFill>
                  <a:schemeClr val="bg1"/>
                </a:solidFill>
                <a:latin typeface="Bahnschrift" panose="020B0502040204020203" pitchFamily="34" charset="0"/>
                <a:cs typeface="Dubai Light" panose="020B0303030403030204" pitchFamily="34" charset="-78"/>
              </a:rPr>
              <a:t>IMPLEMENTED FEATURES</a:t>
            </a:r>
          </a:p>
        </p:txBody>
      </p:sp>
      <p:sp>
        <p:nvSpPr>
          <p:cNvPr id="7" name="Flowchart: Connector 6">
            <a:extLst>
              <a:ext uri="{FF2B5EF4-FFF2-40B4-BE49-F238E27FC236}">
                <a16:creationId xmlns:a16="http://schemas.microsoft.com/office/drawing/2014/main" id="{A5378405-64B4-3CF4-B327-1B5E4FDEF08F}"/>
              </a:ext>
            </a:extLst>
          </p:cNvPr>
          <p:cNvSpPr/>
          <p:nvPr/>
        </p:nvSpPr>
        <p:spPr>
          <a:xfrm>
            <a:off x="1130300" y="1720790"/>
            <a:ext cx="1460500" cy="1390710"/>
          </a:xfrm>
          <a:prstGeom prst="flowChartConnector">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3" name="Flowchart: Alternate Process 122">
            <a:extLst>
              <a:ext uri="{FF2B5EF4-FFF2-40B4-BE49-F238E27FC236}">
                <a16:creationId xmlns:a16="http://schemas.microsoft.com/office/drawing/2014/main" id="{00BAB62C-D672-D59F-03EF-FC7DF198B904}"/>
              </a:ext>
            </a:extLst>
          </p:cNvPr>
          <p:cNvSpPr/>
          <p:nvPr/>
        </p:nvSpPr>
        <p:spPr>
          <a:xfrm>
            <a:off x="469900" y="3429000"/>
            <a:ext cx="2159000" cy="774700"/>
          </a:xfrm>
          <a:prstGeom prst="flowChartAlternateProcess">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endParaRPr lang="en-GB">
              <a:solidFill>
                <a:schemeClr val="bg1"/>
              </a:solidFill>
            </a:endParaRPr>
          </a:p>
        </p:txBody>
      </p:sp>
      <p:pic>
        <p:nvPicPr>
          <p:cNvPr id="148" name="Graphic 147" descr="Users with solid fill">
            <a:extLst>
              <a:ext uri="{FF2B5EF4-FFF2-40B4-BE49-F238E27FC236}">
                <a16:creationId xmlns:a16="http://schemas.microsoft.com/office/drawing/2014/main" id="{13C7FF32-F175-E53C-9499-E93AF08BF591}"/>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1391370" y="1909903"/>
            <a:ext cx="922197" cy="922197"/>
          </a:xfrm>
          <a:prstGeom prst="rect">
            <a:avLst/>
          </a:prstGeom>
        </p:spPr>
      </p:pic>
      <p:sp>
        <p:nvSpPr>
          <p:cNvPr id="149" name="Flowchart: Alternate Process 148">
            <a:extLst>
              <a:ext uri="{FF2B5EF4-FFF2-40B4-BE49-F238E27FC236}">
                <a16:creationId xmlns:a16="http://schemas.microsoft.com/office/drawing/2014/main" id="{49DEA29E-4684-1604-45E7-0CD9C7CBCF87}"/>
              </a:ext>
            </a:extLst>
          </p:cNvPr>
          <p:cNvSpPr/>
          <p:nvPr/>
        </p:nvSpPr>
        <p:spPr>
          <a:xfrm>
            <a:off x="673100" y="3129170"/>
            <a:ext cx="2751282" cy="1104900"/>
          </a:xfrm>
          <a:prstGeom prst="flowChartAlternateProcess">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latin typeface="Bahnschrift" panose="020B0502040204020203" pitchFamily="34" charset="0"/>
              </a:rPr>
              <a:t>USER AUTHENTICATION</a:t>
            </a:r>
          </a:p>
        </p:txBody>
      </p:sp>
      <p:sp>
        <p:nvSpPr>
          <p:cNvPr id="151" name="Flowchart: Connector 150">
            <a:extLst>
              <a:ext uri="{FF2B5EF4-FFF2-40B4-BE49-F238E27FC236}">
                <a16:creationId xmlns:a16="http://schemas.microsoft.com/office/drawing/2014/main" id="{32246750-5D8D-70A1-9BC7-F4BD70512F16}"/>
              </a:ext>
            </a:extLst>
          </p:cNvPr>
          <p:cNvSpPr/>
          <p:nvPr/>
        </p:nvSpPr>
        <p:spPr>
          <a:xfrm>
            <a:off x="4898736" y="1690420"/>
            <a:ext cx="1460500" cy="1390710"/>
          </a:xfrm>
          <a:prstGeom prst="flowChartConnector">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53" name="Graphic 152" descr="Playbook with solid fill">
            <a:extLst>
              <a:ext uri="{FF2B5EF4-FFF2-40B4-BE49-F238E27FC236}">
                <a16:creationId xmlns:a16="http://schemas.microsoft.com/office/drawing/2014/main" id="{050426D5-CDF3-5BBE-93E3-426047539EB8}"/>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5167888" y="1902173"/>
            <a:ext cx="922197" cy="922197"/>
          </a:xfrm>
          <a:prstGeom prst="rect">
            <a:avLst/>
          </a:prstGeom>
        </p:spPr>
      </p:pic>
      <p:sp>
        <p:nvSpPr>
          <p:cNvPr id="155" name="Flowchart: Alternate Process 154">
            <a:extLst>
              <a:ext uri="{FF2B5EF4-FFF2-40B4-BE49-F238E27FC236}">
                <a16:creationId xmlns:a16="http://schemas.microsoft.com/office/drawing/2014/main" id="{44D990FC-2EF8-F857-91DA-4A2355D626A4}"/>
              </a:ext>
            </a:extLst>
          </p:cNvPr>
          <p:cNvSpPr/>
          <p:nvPr/>
        </p:nvSpPr>
        <p:spPr>
          <a:xfrm>
            <a:off x="4097481" y="3146840"/>
            <a:ext cx="3103419" cy="1104900"/>
          </a:xfrm>
          <a:prstGeom prst="flowChartAlternateProcess">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latin typeface="Bahnschrift" panose="020B0502040204020203" pitchFamily="34" charset="0"/>
              </a:rPr>
              <a:t>CUSTOMER MANAGEMENT</a:t>
            </a:r>
          </a:p>
        </p:txBody>
      </p:sp>
      <p:sp>
        <p:nvSpPr>
          <p:cNvPr id="157" name="Flowchart: Connector 156">
            <a:extLst>
              <a:ext uri="{FF2B5EF4-FFF2-40B4-BE49-F238E27FC236}">
                <a16:creationId xmlns:a16="http://schemas.microsoft.com/office/drawing/2014/main" id="{069F8EFD-1865-D8BC-B2F5-C425201EF02A}"/>
              </a:ext>
            </a:extLst>
          </p:cNvPr>
          <p:cNvSpPr/>
          <p:nvPr/>
        </p:nvSpPr>
        <p:spPr>
          <a:xfrm>
            <a:off x="8920018" y="7583220"/>
            <a:ext cx="1460500" cy="1390710"/>
          </a:xfrm>
          <a:prstGeom prst="flowChartConnector">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59" name="Graphic 158" descr="Checklist with solid fill">
            <a:extLst>
              <a:ext uri="{FF2B5EF4-FFF2-40B4-BE49-F238E27FC236}">
                <a16:creationId xmlns:a16="http://schemas.microsoft.com/office/drawing/2014/main" id="{4BFF9226-48E2-4061-45EE-F2D8F61507B6}"/>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9181088" y="7772333"/>
            <a:ext cx="922197" cy="922197"/>
          </a:xfrm>
          <a:prstGeom prst="rect">
            <a:avLst/>
          </a:prstGeom>
        </p:spPr>
      </p:pic>
      <p:sp>
        <p:nvSpPr>
          <p:cNvPr id="161" name="Flowchart: Alternate Process 160">
            <a:extLst>
              <a:ext uri="{FF2B5EF4-FFF2-40B4-BE49-F238E27FC236}">
                <a16:creationId xmlns:a16="http://schemas.microsoft.com/office/drawing/2014/main" id="{F213D90A-99EC-D1D9-9EDB-F054BEF626BB}"/>
              </a:ext>
            </a:extLst>
          </p:cNvPr>
          <p:cNvSpPr/>
          <p:nvPr/>
        </p:nvSpPr>
        <p:spPr>
          <a:xfrm>
            <a:off x="8462818" y="8991600"/>
            <a:ext cx="2751282" cy="1104900"/>
          </a:xfrm>
          <a:prstGeom prst="flowChartAlternateProcess">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latin typeface="Bahnschrift" panose="020B0502040204020203" pitchFamily="34" charset="0"/>
              </a:rPr>
              <a:t>LAUNDRY ORDER MANAGEMENT</a:t>
            </a:r>
          </a:p>
        </p:txBody>
      </p:sp>
      <p:sp>
        <p:nvSpPr>
          <p:cNvPr id="163" name="Flowchart: Connector 162">
            <a:extLst>
              <a:ext uri="{FF2B5EF4-FFF2-40B4-BE49-F238E27FC236}">
                <a16:creationId xmlns:a16="http://schemas.microsoft.com/office/drawing/2014/main" id="{EB9AE3D4-0368-075C-F4A4-46A640B7E21C}"/>
              </a:ext>
            </a:extLst>
          </p:cNvPr>
          <p:cNvSpPr/>
          <p:nvPr/>
        </p:nvSpPr>
        <p:spPr>
          <a:xfrm>
            <a:off x="1130300" y="10047719"/>
            <a:ext cx="1460500" cy="1390710"/>
          </a:xfrm>
          <a:prstGeom prst="flowChartConnector">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5" name="Flowchart: Alternate Process 164">
            <a:extLst>
              <a:ext uri="{FF2B5EF4-FFF2-40B4-BE49-F238E27FC236}">
                <a16:creationId xmlns:a16="http://schemas.microsoft.com/office/drawing/2014/main" id="{C16BDB32-1FE5-679C-8EA4-E8A6A4BF2E6C}"/>
              </a:ext>
            </a:extLst>
          </p:cNvPr>
          <p:cNvSpPr/>
          <p:nvPr/>
        </p:nvSpPr>
        <p:spPr>
          <a:xfrm>
            <a:off x="469900" y="11755929"/>
            <a:ext cx="2159000" cy="774700"/>
          </a:xfrm>
          <a:prstGeom prst="flowChartAlternateProcess">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endParaRPr lang="en-GB">
              <a:solidFill>
                <a:schemeClr val="bg1"/>
              </a:solidFill>
            </a:endParaRPr>
          </a:p>
        </p:txBody>
      </p:sp>
      <p:pic>
        <p:nvPicPr>
          <p:cNvPr id="167" name="Graphic 166" descr="Marker with solid fill">
            <a:extLst>
              <a:ext uri="{FF2B5EF4-FFF2-40B4-BE49-F238E27FC236}">
                <a16:creationId xmlns:a16="http://schemas.microsoft.com/office/drawing/2014/main" id="{F51B8BC5-5030-8897-BC1F-E18593C8E093}"/>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1391370" y="10236832"/>
            <a:ext cx="922197" cy="922197"/>
          </a:xfrm>
          <a:prstGeom prst="rect">
            <a:avLst/>
          </a:prstGeom>
        </p:spPr>
      </p:pic>
      <p:sp>
        <p:nvSpPr>
          <p:cNvPr id="169" name="Flowchart: Alternate Process 168">
            <a:extLst>
              <a:ext uri="{FF2B5EF4-FFF2-40B4-BE49-F238E27FC236}">
                <a16:creationId xmlns:a16="http://schemas.microsoft.com/office/drawing/2014/main" id="{6299AC95-C7E0-DCD9-629C-49B4CF74F8C3}"/>
              </a:ext>
            </a:extLst>
          </p:cNvPr>
          <p:cNvSpPr/>
          <p:nvPr/>
        </p:nvSpPr>
        <p:spPr>
          <a:xfrm>
            <a:off x="673100" y="11456099"/>
            <a:ext cx="2751282" cy="1104900"/>
          </a:xfrm>
          <a:prstGeom prst="flowChartAlternateProcess">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latin typeface="Bahnschrift" panose="020B0502040204020203" pitchFamily="34" charset="0"/>
              </a:rPr>
              <a:t>GARMENT STATUS TRACKING</a:t>
            </a:r>
          </a:p>
        </p:txBody>
      </p:sp>
      <p:sp>
        <p:nvSpPr>
          <p:cNvPr id="171" name="Flowchart: Connector 170">
            <a:extLst>
              <a:ext uri="{FF2B5EF4-FFF2-40B4-BE49-F238E27FC236}">
                <a16:creationId xmlns:a16="http://schemas.microsoft.com/office/drawing/2014/main" id="{8E413CEB-468F-A42C-1C2F-501B30270F86}"/>
              </a:ext>
            </a:extLst>
          </p:cNvPr>
          <p:cNvSpPr/>
          <p:nvPr/>
        </p:nvSpPr>
        <p:spPr>
          <a:xfrm>
            <a:off x="4898736" y="10047719"/>
            <a:ext cx="1460500" cy="1390710"/>
          </a:xfrm>
          <a:prstGeom prst="flowChartConnector">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73" name="Graphic 172" descr="Money with solid fill">
            <a:extLst>
              <a:ext uri="{FF2B5EF4-FFF2-40B4-BE49-F238E27FC236}">
                <a16:creationId xmlns:a16="http://schemas.microsoft.com/office/drawing/2014/main" id="{F71A74C6-2769-B19B-401E-A09D1740FFF4}"/>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5167888" y="10229102"/>
            <a:ext cx="922197" cy="922197"/>
          </a:xfrm>
          <a:prstGeom prst="rect">
            <a:avLst/>
          </a:prstGeom>
        </p:spPr>
      </p:pic>
      <p:sp>
        <p:nvSpPr>
          <p:cNvPr id="175" name="Flowchart: Alternate Process 174">
            <a:extLst>
              <a:ext uri="{FF2B5EF4-FFF2-40B4-BE49-F238E27FC236}">
                <a16:creationId xmlns:a16="http://schemas.microsoft.com/office/drawing/2014/main" id="{430D819B-900C-AD04-A6F3-B89F1E6D4F81}"/>
              </a:ext>
            </a:extLst>
          </p:cNvPr>
          <p:cNvSpPr/>
          <p:nvPr/>
        </p:nvSpPr>
        <p:spPr>
          <a:xfrm>
            <a:off x="4097481" y="11473769"/>
            <a:ext cx="3103419" cy="1104900"/>
          </a:xfrm>
          <a:prstGeom prst="flowChartAlternateProcess">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latin typeface="Bahnschrift" panose="020B0502040204020203" pitchFamily="34" charset="0"/>
              </a:rPr>
              <a:t>INVOICE GENERATION</a:t>
            </a:r>
          </a:p>
        </p:txBody>
      </p:sp>
      <p:sp>
        <p:nvSpPr>
          <p:cNvPr id="177" name="Flowchart: Connector 176">
            <a:extLst>
              <a:ext uri="{FF2B5EF4-FFF2-40B4-BE49-F238E27FC236}">
                <a16:creationId xmlns:a16="http://schemas.microsoft.com/office/drawing/2014/main" id="{1BB6ACAE-6C1A-7057-F76A-2B42C97C97DC}"/>
              </a:ext>
            </a:extLst>
          </p:cNvPr>
          <p:cNvSpPr/>
          <p:nvPr/>
        </p:nvSpPr>
        <p:spPr>
          <a:xfrm>
            <a:off x="8920018" y="10017349"/>
            <a:ext cx="1460500" cy="1390710"/>
          </a:xfrm>
          <a:prstGeom prst="flowChartConnector">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179" name="Graphic 178" descr="Magnifying glass with solid fill">
            <a:extLst>
              <a:ext uri="{FF2B5EF4-FFF2-40B4-BE49-F238E27FC236}">
                <a16:creationId xmlns:a16="http://schemas.microsoft.com/office/drawing/2014/main" id="{CF25A26F-B1CA-673B-4416-1CAA25AF39C5}"/>
              </a:ext>
            </a:extLst>
          </p:cNvPr>
          <p:cNvPicPr>
            <a:picLocks noChangeAspect="1"/>
          </p:cNvPicPr>
          <p:nvPr/>
        </p:nvPicPr>
        <p:blipFill>
          <a:blip>
            <a:extLst>
              <a:ext uri="{96DAC541-7B7A-43D3-8B79-37D633B846F1}">
                <asvg:svgBlip xmlns:asvg="http://schemas.microsoft.com/office/drawing/2016/SVG/main" r:embed="rId8"/>
              </a:ext>
            </a:extLst>
          </a:blip>
          <a:srcRect/>
          <a:stretch/>
        </p:blipFill>
        <p:spPr>
          <a:xfrm>
            <a:off x="9181088" y="10206462"/>
            <a:ext cx="922197" cy="922197"/>
          </a:xfrm>
          <a:prstGeom prst="rect">
            <a:avLst/>
          </a:prstGeom>
        </p:spPr>
      </p:pic>
      <p:sp>
        <p:nvSpPr>
          <p:cNvPr id="181" name="Flowchart: Alternate Process 180">
            <a:extLst>
              <a:ext uri="{FF2B5EF4-FFF2-40B4-BE49-F238E27FC236}">
                <a16:creationId xmlns:a16="http://schemas.microsoft.com/office/drawing/2014/main" id="{51B32950-9F31-D40E-0CC5-74737B868236}"/>
              </a:ext>
            </a:extLst>
          </p:cNvPr>
          <p:cNvSpPr/>
          <p:nvPr/>
        </p:nvSpPr>
        <p:spPr>
          <a:xfrm>
            <a:off x="8462818" y="11425729"/>
            <a:ext cx="2751282" cy="1104900"/>
          </a:xfrm>
          <a:prstGeom prst="flowChartAlternateProcess">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latin typeface="Bahnschrift" panose="020B0502040204020203" pitchFamily="34" charset="0"/>
              </a:rPr>
              <a:t>SEARCH AND RECORD MANAGEMENT</a:t>
            </a:r>
          </a:p>
        </p:txBody>
      </p:sp>
    </p:spTree>
    <p:extLst>
      <p:ext uri="{BB962C8B-B14F-4D97-AF65-F5344CB8AC3E}">
        <p14:creationId xmlns:p14="http://schemas.microsoft.com/office/powerpoint/2010/main" val="284918820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C1E050-AC05-E45F-0C8B-B01D315DC6D3}"/>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C418C4C0-1DEE-C072-4538-83B9F9D7D2C3}"/>
              </a:ext>
            </a:extLst>
          </p:cNvPr>
          <p:cNvPicPr>
            <a:picLocks noChangeAspect="1"/>
          </p:cNvPicPr>
          <p:nvPr/>
        </p:nvPicPr>
        <p:blipFill>
          <a:blip r:embed="rId2">
            <a:extLst>
              <a:ext uri="{28A0092B-C50C-407E-A947-70E740481C1C}">
                <a14:useLocalDpi xmlns:a14="http://schemas.microsoft.com/office/drawing/2010/main" val="0"/>
              </a:ext>
            </a:extLst>
          </a:blip>
          <a:srcRect t="7057" b="7057"/>
          <a:stretch/>
        </p:blipFill>
        <p:spPr>
          <a:xfrm>
            <a:off x="1" y="-27195"/>
            <a:ext cx="12192000" cy="6862830"/>
          </a:xfrm>
          <a:prstGeom prst="rect">
            <a:avLst/>
          </a:prstGeom>
        </p:spPr>
      </p:pic>
      <p:sp>
        <p:nvSpPr>
          <p:cNvPr id="12" name="Rectangle 11">
            <a:extLst>
              <a:ext uri="{FF2B5EF4-FFF2-40B4-BE49-F238E27FC236}">
                <a16:creationId xmlns:a16="http://schemas.microsoft.com/office/drawing/2014/main" id="{6065C5EF-7802-BCE8-B79B-BE98DA6FBC47}"/>
              </a:ext>
            </a:extLst>
          </p:cNvPr>
          <p:cNvSpPr/>
          <p:nvPr/>
        </p:nvSpPr>
        <p:spPr>
          <a:xfrm>
            <a:off x="-9524" y="-449943"/>
            <a:ext cx="12201524" cy="7317617"/>
          </a:xfrm>
          <a:prstGeom prst="rect">
            <a:avLst/>
          </a:prstGeom>
          <a:solidFill>
            <a:schemeClr val="tx1">
              <a:alpha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1" name="Pentagon 57">
            <a:extLst>
              <a:ext uri="{FF2B5EF4-FFF2-40B4-BE49-F238E27FC236}">
                <a16:creationId xmlns:a16="http://schemas.microsoft.com/office/drawing/2014/main" id="{B47D0184-001C-B868-3E9D-4767878F2B96}"/>
              </a:ext>
            </a:extLst>
          </p:cNvPr>
          <p:cNvSpPr/>
          <p:nvPr/>
        </p:nvSpPr>
        <p:spPr>
          <a:xfrm>
            <a:off x="1155701" y="152400"/>
            <a:ext cx="9829800" cy="1278169"/>
          </a:xfrm>
          <a:prstGeom prst="homePlate">
            <a:avLst/>
          </a:prstGeom>
          <a:no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400" b="1" dirty="0">
                <a:solidFill>
                  <a:schemeClr val="bg1"/>
                </a:solidFill>
                <a:latin typeface="Bahnschrift" panose="020B0502040204020203" pitchFamily="34" charset="0"/>
                <a:cs typeface="Dubai Light" panose="020B0303030403030204" pitchFamily="34" charset="-78"/>
              </a:rPr>
              <a:t>IMPLEMENTED FEATURES</a:t>
            </a:r>
          </a:p>
        </p:txBody>
      </p:sp>
      <p:sp>
        <p:nvSpPr>
          <p:cNvPr id="7" name="Flowchart: Connector 6">
            <a:extLst>
              <a:ext uri="{FF2B5EF4-FFF2-40B4-BE49-F238E27FC236}">
                <a16:creationId xmlns:a16="http://schemas.microsoft.com/office/drawing/2014/main" id="{CBC03720-CEFA-5D12-CB75-C6B81C4FCB8B}"/>
              </a:ext>
            </a:extLst>
          </p:cNvPr>
          <p:cNvSpPr/>
          <p:nvPr/>
        </p:nvSpPr>
        <p:spPr>
          <a:xfrm>
            <a:off x="1130300" y="1720790"/>
            <a:ext cx="1460500" cy="1390710"/>
          </a:xfrm>
          <a:prstGeom prst="flowChartConnector">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3" name="Flowchart: Alternate Process 122">
            <a:extLst>
              <a:ext uri="{FF2B5EF4-FFF2-40B4-BE49-F238E27FC236}">
                <a16:creationId xmlns:a16="http://schemas.microsoft.com/office/drawing/2014/main" id="{6AA646D4-8CB4-124B-8B11-D454D1F6FA8E}"/>
              </a:ext>
            </a:extLst>
          </p:cNvPr>
          <p:cNvSpPr/>
          <p:nvPr/>
        </p:nvSpPr>
        <p:spPr>
          <a:xfrm>
            <a:off x="469900" y="3429000"/>
            <a:ext cx="2159000" cy="774700"/>
          </a:xfrm>
          <a:prstGeom prst="flowChartAlternateProcess">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endParaRPr lang="en-GB">
              <a:solidFill>
                <a:schemeClr val="bg1"/>
              </a:solidFill>
            </a:endParaRPr>
          </a:p>
        </p:txBody>
      </p:sp>
      <p:pic>
        <p:nvPicPr>
          <p:cNvPr id="148" name="Graphic 147" descr="Users with solid fill">
            <a:extLst>
              <a:ext uri="{FF2B5EF4-FFF2-40B4-BE49-F238E27FC236}">
                <a16:creationId xmlns:a16="http://schemas.microsoft.com/office/drawing/2014/main" id="{BE7F8B3E-B52C-E3C9-079F-3CBFFC8B8C17}"/>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1391370" y="1909903"/>
            <a:ext cx="922197" cy="922197"/>
          </a:xfrm>
          <a:prstGeom prst="rect">
            <a:avLst/>
          </a:prstGeom>
        </p:spPr>
      </p:pic>
      <p:sp>
        <p:nvSpPr>
          <p:cNvPr id="149" name="Flowchart: Alternate Process 148">
            <a:extLst>
              <a:ext uri="{FF2B5EF4-FFF2-40B4-BE49-F238E27FC236}">
                <a16:creationId xmlns:a16="http://schemas.microsoft.com/office/drawing/2014/main" id="{6C137850-987D-396C-E0F4-752CC2115E53}"/>
              </a:ext>
            </a:extLst>
          </p:cNvPr>
          <p:cNvSpPr/>
          <p:nvPr/>
        </p:nvSpPr>
        <p:spPr>
          <a:xfrm>
            <a:off x="673100" y="3129170"/>
            <a:ext cx="2751282" cy="1104900"/>
          </a:xfrm>
          <a:prstGeom prst="flowChartAlternateProcess">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latin typeface="Bahnschrift" panose="020B0502040204020203" pitchFamily="34" charset="0"/>
              </a:rPr>
              <a:t>USER AUTHENTICATION</a:t>
            </a:r>
          </a:p>
        </p:txBody>
      </p:sp>
      <p:sp>
        <p:nvSpPr>
          <p:cNvPr id="151" name="Flowchart: Connector 150">
            <a:extLst>
              <a:ext uri="{FF2B5EF4-FFF2-40B4-BE49-F238E27FC236}">
                <a16:creationId xmlns:a16="http://schemas.microsoft.com/office/drawing/2014/main" id="{8AFC17FC-4EE1-0E9C-23B8-536E0969C304}"/>
              </a:ext>
            </a:extLst>
          </p:cNvPr>
          <p:cNvSpPr/>
          <p:nvPr/>
        </p:nvSpPr>
        <p:spPr>
          <a:xfrm>
            <a:off x="4898736" y="1690420"/>
            <a:ext cx="1460500" cy="1390710"/>
          </a:xfrm>
          <a:prstGeom prst="flowChartConnector">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53" name="Graphic 152" descr="Playbook with solid fill">
            <a:extLst>
              <a:ext uri="{FF2B5EF4-FFF2-40B4-BE49-F238E27FC236}">
                <a16:creationId xmlns:a16="http://schemas.microsoft.com/office/drawing/2014/main" id="{4A4486D9-AACA-6077-F72D-A4694F224980}"/>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5167888" y="1902173"/>
            <a:ext cx="922197" cy="922197"/>
          </a:xfrm>
          <a:prstGeom prst="rect">
            <a:avLst/>
          </a:prstGeom>
        </p:spPr>
      </p:pic>
      <p:sp>
        <p:nvSpPr>
          <p:cNvPr id="155" name="Flowchart: Alternate Process 154">
            <a:extLst>
              <a:ext uri="{FF2B5EF4-FFF2-40B4-BE49-F238E27FC236}">
                <a16:creationId xmlns:a16="http://schemas.microsoft.com/office/drawing/2014/main" id="{42409E22-F0C1-407F-AA53-578952C0A730}"/>
              </a:ext>
            </a:extLst>
          </p:cNvPr>
          <p:cNvSpPr/>
          <p:nvPr/>
        </p:nvSpPr>
        <p:spPr>
          <a:xfrm>
            <a:off x="4097481" y="3146840"/>
            <a:ext cx="3103419" cy="1104900"/>
          </a:xfrm>
          <a:prstGeom prst="flowChartAlternateProcess">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latin typeface="Bahnschrift" panose="020B0502040204020203" pitchFamily="34" charset="0"/>
              </a:rPr>
              <a:t>CUSTOMER MANAGEMENT</a:t>
            </a:r>
          </a:p>
        </p:txBody>
      </p:sp>
      <p:sp>
        <p:nvSpPr>
          <p:cNvPr id="157" name="Flowchart: Connector 156">
            <a:extLst>
              <a:ext uri="{FF2B5EF4-FFF2-40B4-BE49-F238E27FC236}">
                <a16:creationId xmlns:a16="http://schemas.microsoft.com/office/drawing/2014/main" id="{D3BB5722-157B-CCA5-4C68-C7511225485D}"/>
              </a:ext>
            </a:extLst>
          </p:cNvPr>
          <p:cNvSpPr/>
          <p:nvPr/>
        </p:nvSpPr>
        <p:spPr>
          <a:xfrm>
            <a:off x="8920018" y="1690420"/>
            <a:ext cx="1460500" cy="1390710"/>
          </a:xfrm>
          <a:prstGeom prst="flowChartConnector">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59" name="Graphic 158" descr="Checklist with solid fill">
            <a:extLst>
              <a:ext uri="{FF2B5EF4-FFF2-40B4-BE49-F238E27FC236}">
                <a16:creationId xmlns:a16="http://schemas.microsoft.com/office/drawing/2014/main" id="{849B8BE1-6690-E182-357C-DB54C7875ED3}"/>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9181088" y="1879533"/>
            <a:ext cx="922197" cy="922197"/>
          </a:xfrm>
          <a:prstGeom prst="rect">
            <a:avLst/>
          </a:prstGeom>
        </p:spPr>
      </p:pic>
      <p:sp>
        <p:nvSpPr>
          <p:cNvPr id="161" name="Flowchart: Alternate Process 160">
            <a:extLst>
              <a:ext uri="{FF2B5EF4-FFF2-40B4-BE49-F238E27FC236}">
                <a16:creationId xmlns:a16="http://schemas.microsoft.com/office/drawing/2014/main" id="{BADE2AAE-DAA5-B22A-1C8C-99A715DD81BB}"/>
              </a:ext>
            </a:extLst>
          </p:cNvPr>
          <p:cNvSpPr/>
          <p:nvPr/>
        </p:nvSpPr>
        <p:spPr>
          <a:xfrm>
            <a:off x="8462818" y="3098800"/>
            <a:ext cx="2751282" cy="1104900"/>
          </a:xfrm>
          <a:prstGeom prst="flowChartAlternateProcess">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latin typeface="Bahnschrift" panose="020B0502040204020203" pitchFamily="34" charset="0"/>
              </a:rPr>
              <a:t>LAUNDRY ORDER MANAGEMENT</a:t>
            </a:r>
          </a:p>
        </p:txBody>
      </p:sp>
      <p:sp>
        <p:nvSpPr>
          <p:cNvPr id="163" name="Flowchart: Connector 162">
            <a:extLst>
              <a:ext uri="{FF2B5EF4-FFF2-40B4-BE49-F238E27FC236}">
                <a16:creationId xmlns:a16="http://schemas.microsoft.com/office/drawing/2014/main" id="{61F670AB-EABB-747A-45D1-DD4ADCB005E7}"/>
              </a:ext>
            </a:extLst>
          </p:cNvPr>
          <p:cNvSpPr/>
          <p:nvPr/>
        </p:nvSpPr>
        <p:spPr>
          <a:xfrm>
            <a:off x="1130300" y="7291819"/>
            <a:ext cx="1460500" cy="1390710"/>
          </a:xfrm>
          <a:prstGeom prst="flowChartConnector">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5" name="Flowchart: Alternate Process 164">
            <a:extLst>
              <a:ext uri="{FF2B5EF4-FFF2-40B4-BE49-F238E27FC236}">
                <a16:creationId xmlns:a16="http://schemas.microsoft.com/office/drawing/2014/main" id="{5ED09DA8-42D1-D444-3C6C-4BC3E3D100CF}"/>
              </a:ext>
            </a:extLst>
          </p:cNvPr>
          <p:cNvSpPr/>
          <p:nvPr/>
        </p:nvSpPr>
        <p:spPr>
          <a:xfrm>
            <a:off x="469900" y="9000029"/>
            <a:ext cx="2159000" cy="774700"/>
          </a:xfrm>
          <a:prstGeom prst="flowChartAlternateProcess">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endParaRPr lang="en-GB">
              <a:solidFill>
                <a:schemeClr val="bg1"/>
              </a:solidFill>
            </a:endParaRPr>
          </a:p>
        </p:txBody>
      </p:sp>
      <p:pic>
        <p:nvPicPr>
          <p:cNvPr id="167" name="Graphic 166" descr="Marker with solid fill">
            <a:extLst>
              <a:ext uri="{FF2B5EF4-FFF2-40B4-BE49-F238E27FC236}">
                <a16:creationId xmlns:a16="http://schemas.microsoft.com/office/drawing/2014/main" id="{58159E75-4DD4-7F66-B0A6-9C9729B5F8F4}"/>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1391370" y="7480932"/>
            <a:ext cx="922197" cy="922197"/>
          </a:xfrm>
          <a:prstGeom prst="rect">
            <a:avLst/>
          </a:prstGeom>
        </p:spPr>
      </p:pic>
      <p:sp>
        <p:nvSpPr>
          <p:cNvPr id="169" name="Flowchart: Alternate Process 168">
            <a:extLst>
              <a:ext uri="{FF2B5EF4-FFF2-40B4-BE49-F238E27FC236}">
                <a16:creationId xmlns:a16="http://schemas.microsoft.com/office/drawing/2014/main" id="{D71F67C1-B7C4-B9BA-DC03-BBAE0CC4620D}"/>
              </a:ext>
            </a:extLst>
          </p:cNvPr>
          <p:cNvSpPr/>
          <p:nvPr/>
        </p:nvSpPr>
        <p:spPr>
          <a:xfrm>
            <a:off x="673100" y="8700199"/>
            <a:ext cx="2751282" cy="1104900"/>
          </a:xfrm>
          <a:prstGeom prst="flowChartAlternateProcess">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latin typeface="Bahnschrift" panose="020B0502040204020203" pitchFamily="34" charset="0"/>
              </a:rPr>
              <a:t>GARMENT STATUS TRACKING</a:t>
            </a:r>
          </a:p>
        </p:txBody>
      </p:sp>
      <p:sp>
        <p:nvSpPr>
          <p:cNvPr id="171" name="Flowchart: Connector 170">
            <a:extLst>
              <a:ext uri="{FF2B5EF4-FFF2-40B4-BE49-F238E27FC236}">
                <a16:creationId xmlns:a16="http://schemas.microsoft.com/office/drawing/2014/main" id="{8D111DAF-5212-0778-BBB2-5CDD302CF71E}"/>
              </a:ext>
            </a:extLst>
          </p:cNvPr>
          <p:cNvSpPr/>
          <p:nvPr/>
        </p:nvSpPr>
        <p:spPr>
          <a:xfrm>
            <a:off x="4898736" y="7291819"/>
            <a:ext cx="1460500" cy="1390710"/>
          </a:xfrm>
          <a:prstGeom prst="flowChartConnector">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73" name="Graphic 172" descr="Money with solid fill">
            <a:extLst>
              <a:ext uri="{FF2B5EF4-FFF2-40B4-BE49-F238E27FC236}">
                <a16:creationId xmlns:a16="http://schemas.microsoft.com/office/drawing/2014/main" id="{DE9FE5F8-EF90-BB1A-49A2-FB21188F2EEC}"/>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5167888" y="7473202"/>
            <a:ext cx="922197" cy="922197"/>
          </a:xfrm>
          <a:prstGeom prst="rect">
            <a:avLst/>
          </a:prstGeom>
        </p:spPr>
      </p:pic>
      <p:sp>
        <p:nvSpPr>
          <p:cNvPr id="175" name="Flowchart: Alternate Process 174">
            <a:extLst>
              <a:ext uri="{FF2B5EF4-FFF2-40B4-BE49-F238E27FC236}">
                <a16:creationId xmlns:a16="http://schemas.microsoft.com/office/drawing/2014/main" id="{66603275-B73F-F4D8-AC43-9CF95BF97420}"/>
              </a:ext>
            </a:extLst>
          </p:cNvPr>
          <p:cNvSpPr/>
          <p:nvPr/>
        </p:nvSpPr>
        <p:spPr>
          <a:xfrm>
            <a:off x="4097481" y="8717869"/>
            <a:ext cx="3103419" cy="1104900"/>
          </a:xfrm>
          <a:prstGeom prst="flowChartAlternateProcess">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latin typeface="Bahnschrift" panose="020B0502040204020203" pitchFamily="34" charset="0"/>
              </a:rPr>
              <a:t>INVOICE GENERATION</a:t>
            </a:r>
          </a:p>
        </p:txBody>
      </p:sp>
      <p:sp>
        <p:nvSpPr>
          <p:cNvPr id="177" name="Flowchart: Connector 176">
            <a:extLst>
              <a:ext uri="{FF2B5EF4-FFF2-40B4-BE49-F238E27FC236}">
                <a16:creationId xmlns:a16="http://schemas.microsoft.com/office/drawing/2014/main" id="{DCEEA98B-B4AA-1AD5-DE76-07C7855DB1FD}"/>
              </a:ext>
            </a:extLst>
          </p:cNvPr>
          <p:cNvSpPr/>
          <p:nvPr/>
        </p:nvSpPr>
        <p:spPr>
          <a:xfrm>
            <a:off x="8920018" y="7261449"/>
            <a:ext cx="1460500" cy="1390710"/>
          </a:xfrm>
          <a:prstGeom prst="flowChartConnector">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179" name="Graphic 178" descr="Magnifying glass with solid fill">
            <a:extLst>
              <a:ext uri="{FF2B5EF4-FFF2-40B4-BE49-F238E27FC236}">
                <a16:creationId xmlns:a16="http://schemas.microsoft.com/office/drawing/2014/main" id="{E0F31919-51B9-DD10-83AC-7D566D79C2E1}"/>
              </a:ext>
            </a:extLst>
          </p:cNvPr>
          <p:cNvPicPr>
            <a:picLocks noChangeAspect="1"/>
          </p:cNvPicPr>
          <p:nvPr/>
        </p:nvPicPr>
        <p:blipFill>
          <a:blip>
            <a:extLst>
              <a:ext uri="{96DAC541-7B7A-43D3-8B79-37D633B846F1}">
                <asvg:svgBlip xmlns:asvg="http://schemas.microsoft.com/office/drawing/2016/SVG/main" r:embed="rId8"/>
              </a:ext>
            </a:extLst>
          </a:blip>
          <a:srcRect/>
          <a:stretch/>
        </p:blipFill>
        <p:spPr>
          <a:xfrm>
            <a:off x="9181088" y="7450562"/>
            <a:ext cx="922197" cy="922197"/>
          </a:xfrm>
          <a:prstGeom prst="rect">
            <a:avLst/>
          </a:prstGeom>
        </p:spPr>
      </p:pic>
      <p:sp>
        <p:nvSpPr>
          <p:cNvPr id="181" name="Flowchart: Alternate Process 180">
            <a:extLst>
              <a:ext uri="{FF2B5EF4-FFF2-40B4-BE49-F238E27FC236}">
                <a16:creationId xmlns:a16="http://schemas.microsoft.com/office/drawing/2014/main" id="{EEDE2130-E34E-ECDA-84EF-F08624F27038}"/>
              </a:ext>
            </a:extLst>
          </p:cNvPr>
          <p:cNvSpPr/>
          <p:nvPr/>
        </p:nvSpPr>
        <p:spPr>
          <a:xfrm>
            <a:off x="8462818" y="8669829"/>
            <a:ext cx="2751282" cy="1104900"/>
          </a:xfrm>
          <a:prstGeom prst="flowChartAlternateProcess">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latin typeface="Bahnschrift" panose="020B0502040204020203" pitchFamily="34" charset="0"/>
              </a:rPr>
              <a:t>SEARCH AND RECORD MANAGEMENT</a:t>
            </a:r>
          </a:p>
        </p:txBody>
      </p:sp>
    </p:spTree>
    <p:extLst>
      <p:ext uri="{BB962C8B-B14F-4D97-AF65-F5344CB8AC3E}">
        <p14:creationId xmlns:p14="http://schemas.microsoft.com/office/powerpoint/2010/main" val="398089023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2CFA0B-CA1F-C75A-3E1B-BD990ED87E7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79975BF-A0EF-3528-3CD4-971D2F4D764C}"/>
              </a:ext>
            </a:extLst>
          </p:cNvPr>
          <p:cNvPicPr>
            <a:picLocks noChangeAspect="1"/>
          </p:cNvPicPr>
          <p:nvPr/>
        </p:nvPicPr>
        <p:blipFill>
          <a:blip r:embed="rId2">
            <a:extLst>
              <a:ext uri="{28A0092B-C50C-407E-A947-70E740481C1C}">
                <a14:useLocalDpi xmlns:a14="http://schemas.microsoft.com/office/drawing/2010/main" val="0"/>
              </a:ext>
            </a:extLst>
          </a:blip>
          <a:srcRect t="7057" b="7057"/>
          <a:stretch/>
        </p:blipFill>
        <p:spPr>
          <a:xfrm>
            <a:off x="1" y="-27195"/>
            <a:ext cx="12192000" cy="6862830"/>
          </a:xfrm>
          <a:prstGeom prst="rect">
            <a:avLst/>
          </a:prstGeom>
        </p:spPr>
      </p:pic>
      <p:sp>
        <p:nvSpPr>
          <p:cNvPr id="12" name="Rectangle 11">
            <a:extLst>
              <a:ext uri="{FF2B5EF4-FFF2-40B4-BE49-F238E27FC236}">
                <a16:creationId xmlns:a16="http://schemas.microsoft.com/office/drawing/2014/main" id="{B6A5FC2F-380E-AF51-4752-AF6963B90B2F}"/>
              </a:ext>
            </a:extLst>
          </p:cNvPr>
          <p:cNvSpPr/>
          <p:nvPr/>
        </p:nvSpPr>
        <p:spPr>
          <a:xfrm>
            <a:off x="-9524" y="-246743"/>
            <a:ext cx="12201524" cy="7114417"/>
          </a:xfrm>
          <a:prstGeom prst="rect">
            <a:avLst/>
          </a:prstGeom>
          <a:solidFill>
            <a:schemeClr val="tx1">
              <a:alpha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1" name="Pentagon 57">
            <a:extLst>
              <a:ext uri="{FF2B5EF4-FFF2-40B4-BE49-F238E27FC236}">
                <a16:creationId xmlns:a16="http://schemas.microsoft.com/office/drawing/2014/main" id="{2AEF12E4-4638-A3E6-A516-F08DFD46EE67}"/>
              </a:ext>
            </a:extLst>
          </p:cNvPr>
          <p:cNvSpPr/>
          <p:nvPr/>
        </p:nvSpPr>
        <p:spPr>
          <a:xfrm>
            <a:off x="1155701" y="152400"/>
            <a:ext cx="9829800" cy="1278169"/>
          </a:xfrm>
          <a:prstGeom prst="homePlate">
            <a:avLst/>
          </a:prstGeom>
          <a:no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400" b="1" dirty="0">
                <a:solidFill>
                  <a:schemeClr val="bg1"/>
                </a:solidFill>
                <a:latin typeface="Bahnschrift" panose="020B0502040204020203" pitchFamily="34" charset="0"/>
                <a:cs typeface="Dubai Light" panose="020B0303030403030204" pitchFamily="34" charset="-78"/>
              </a:rPr>
              <a:t>IMPLEMENTED FEATURES</a:t>
            </a:r>
          </a:p>
        </p:txBody>
      </p:sp>
      <p:sp>
        <p:nvSpPr>
          <p:cNvPr id="7" name="Flowchart: Connector 6">
            <a:extLst>
              <a:ext uri="{FF2B5EF4-FFF2-40B4-BE49-F238E27FC236}">
                <a16:creationId xmlns:a16="http://schemas.microsoft.com/office/drawing/2014/main" id="{9A17BEEC-0842-E756-AC27-D8191693E601}"/>
              </a:ext>
            </a:extLst>
          </p:cNvPr>
          <p:cNvSpPr/>
          <p:nvPr/>
        </p:nvSpPr>
        <p:spPr>
          <a:xfrm>
            <a:off x="1130300" y="1720790"/>
            <a:ext cx="1460500" cy="1390710"/>
          </a:xfrm>
          <a:prstGeom prst="flowChartConnector">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3" name="Flowchart: Alternate Process 122">
            <a:extLst>
              <a:ext uri="{FF2B5EF4-FFF2-40B4-BE49-F238E27FC236}">
                <a16:creationId xmlns:a16="http://schemas.microsoft.com/office/drawing/2014/main" id="{29243A33-8492-5930-9692-CAC0597FF789}"/>
              </a:ext>
            </a:extLst>
          </p:cNvPr>
          <p:cNvSpPr/>
          <p:nvPr/>
        </p:nvSpPr>
        <p:spPr>
          <a:xfrm>
            <a:off x="469900" y="3429000"/>
            <a:ext cx="2159000" cy="774700"/>
          </a:xfrm>
          <a:prstGeom prst="flowChartAlternateProcess">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endParaRPr lang="en-GB">
              <a:solidFill>
                <a:schemeClr val="bg1"/>
              </a:solidFill>
            </a:endParaRPr>
          </a:p>
        </p:txBody>
      </p:sp>
      <p:pic>
        <p:nvPicPr>
          <p:cNvPr id="148" name="Graphic 147" descr="Users with solid fill">
            <a:extLst>
              <a:ext uri="{FF2B5EF4-FFF2-40B4-BE49-F238E27FC236}">
                <a16:creationId xmlns:a16="http://schemas.microsoft.com/office/drawing/2014/main" id="{F099DE55-60F7-C0E9-4BF3-1F4B8DEA149B}"/>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1391370" y="1909903"/>
            <a:ext cx="922197" cy="922197"/>
          </a:xfrm>
          <a:prstGeom prst="rect">
            <a:avLst/>
          </a:prstGeom>
        </p:spPr>
      </p:pic>
      <p:sp>
        <p:nvSpPr>
          <p:cNvPr id="149" name="Flowchart: Alternate Process 148">
            <a:extLst>
              <a:ext uri="{FF2B5EF4-FFF2-40B4-BE49-F238E27FC236}">
                <a16:creationId xmlns:a16="http://schemas.microsoft.com/office/drawing/2014/main" id="{CE56F8F3-4ADB-03C5-A67E-EA7C64D61BEA}"/>
              </a:ext>
            </a:extLst>
          </p:cNvPr>
          <p:cNvSpPr/>
          <p:nvPr/>
        </p:nvSpPr>
        <p:spPr>
          <a:xfrm>
            <a:off x="673100" y="3129170"/>
            <a:ext cx="2751282" cy="1104900"/>
          </a:xfrm>
          <a:prstGeom prst="flowChartAlternateProcess">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latin typeface="Bahnschrift" panose="020B0502040204020203" pitchFamily="34" charset="0"/>
              </a:rPr>
              <a:t>USER AUTHENTICATION</a:t>
            </a:r>
          </a:p>
        </p:txBody>
      </p:sp>
      <p:sp>
        <p:nvSpPr>
          <p:cNvPr id="151" name="Flowchart: Connector 150">
            <a:extLst>
              <a:ext uri="{FF2B5EF4-FFF2-40B4-BE49-F238E27FC236}">
                <a16:creationId xmlns:a16="http://schemas.microsoft.com/office/drawing/2014/main" id="{463873B9-D7AD-79A6-D109-E7B7B82A9CD2}"/>
              </a:ext>
            </a:extLst>
          </p:cNvPr>
          <p:cNvSpPr/>
          <p:nvPr/>
        </p:nvSpPr>
        <p:spPr>
          <a:xfrm>
            <a:off x="4898736" y="1690420"/>
            <a:ext cx="1460500" cy="1390710"/>
          </a:xfrm>
          <a:prstGeom prst="flowChartConnector">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53" name="Graphic 152" descr="Playbook with solid fill">
            <a:extLst>
              <a:ext uri="{FF2B5EF4-FFF2-40B4-BE49-F238E27FC236}">
                <a16:creationId xmlns:a16="http://schemas.microsoft.com/office/drawing/2014/main" id="{7152577C-4B08-B7E5-AEE1-217425726B39}"/>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5167888" y="1902173"/>
            <a:ext cx="922197" cy="922197"/>
          </a:xfrm>
          <a:prstGeom prst="rect">
            <a:avLst/>
          </a:prstGeom>
        </p:spPr>
      </p:pic>
      <p:sp>
        <p:nvSpPr>
          <p:cNvPr id="155" name="Flowchart: Alternate Process 154">
            <a:extLst>
              <a:ext uri="{FF2B5EF4-FFF2-40B4-BE49-F238E27FC236}">
                <a16:creationId xmlns:a16="http://schemas.microsoft.com/office/drawing/2014/main" id="{91B2DB1D-073E-ABC7-8242-BFAD86F111A2}"/>
              </a:ext>
            </a:extLst>
          </p:cNvPr>
          <p:cNvSpPr/>
          <p:nvPr/>
        </p:nvSpPr>
        <p:spPr>
          <a:xfrm>
            <a:off x="4097481" y="3146840"/>
            <a:ext cx="3103419" cy="1104900"/>
          </a:xfrm>
          <a:prstGeom prst="flowChartAlternateProcess">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latin typeface="Bahnschrift" panose="020B0502040204020203" pitchFamily="34" charset="0"/>
              </a:rPr>
              <a:t>CUSTOMER MANAGEMENT</a:t>
            </a:r>
          </a:p>
        </p:txBody>
      </p:sp>
      <p:sp>
        <p:nvSpPr>
          <p:cNvPr id="157" name="Flowchart: Connector 156">
            <a:extLst>
              <a:ext uri="{FF2B5EF4-FFF2-40B4-BE49-F238E27FC236}">
                <a16:creationId xmlns:a16="http://schemas.microsoft.com/office/drawing/2014/main" id="{950715AF-2691-D551-F2E2-10A67B1A0DEB}"/>
              </a:ext>
            </a:extLst>
          </p:cNvPr>
          <p:cNvSpPr/>
          <p:nvPr/>
        </p:nvSpPr>
        <p:spPr>
          <a:xfrm>
            <a:off x="8920018" y="1690420"/>
            <a:ext cx="1460500" cy="1390710"/>
          </a:xfrm>
          <a:prstGeom prst="flowChartConnector">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59" name="Graphic 158" descr="Checklist with solid fill">
            <a:extLst>
              <a:ext uri="{FF2B5EF4-FFF2-40B4-BE49-F238E27FC236}">
                <a16:creationId xmlns:a16="http://schemas.microsoft.com/office/drawing/2014/main" id="{3F86446A-67AF-7ACD-F0E7-F5892E6B6DAA}"/>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9181088" y="1879533"/>
            <a:ext cx="922197" cy="922197"/>
          </a:xfrm>
          <a:prstGeom prst="rect">
            <a:avLst/>
          </a:prstGeom>
        </p:spPr>
      </p:pic>
      <p:sp>
        <p:nvSpPr>
          <p:cNvPr id="161" name="Flowchart: Alternate Process 160">
            <a:extLst>
              <a:ext uri="{FF2B5EF4-FFF2-40B4-BE49-F238E27FC236}">
                <a16:creationId xmlns:a16="http://schemas.microsoft.com/office/drawing/2014/main" id="{6C3BF637-0410-0781-B882-A56B68F8BDCC}"/>
              </a:ext>
            </a:extLst>
          </p:cNvPr>
          <p:cNvSpPr/>
          <p:nvPr/>
        </p:nvSpPr>
        <p:spPr>
          <a:xfrm>
            <a:off x="8462818" y="3098800"/>
            <a:ext cx="2751282" cy="1104900"/>
          </a:xfrm>
          <a:prstGeom prst="flowChartAlternateProcess">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latin typeface="Bahnschrift" panose="020B0502040204020203" pitchFamily="34" charset="0"/>
              </a:rPr>
              <a:t>LAUNDRY ORDER MANAGEMENT</a:t>
            </a:r>
          </a:p>
        </p:txBody>
      </p:sp>
      <p:sp>
        <p:nvSpPr>
          <p:cNvPr id="163" name="Flowchart: Connector 162">
            <a:extLst>
              <a:ext uri="{FF2B5EF4-FFF2-40B4-BE49-F238E27FC236}">
                <a16:creationId xmlns:a16="http://schemas.microsoft.com/office/drawing/2014/main" id="{9F1E591A-6EF2-563E-D787-DC39702F2270}"/>
              </a:ext>
            </a:extLst>
          </p:cNvPr>
          <p:cNvSpPr/>
          <p:nvPr/>
        </p:nvSpPr>
        <p:spPr>
          <a:xfrm>
            <a:off x="1130300" y="4154919"/>
            <a:ext cx="1460500" cy="1390710"/>
          </a:xfrm>
          <a:prstGeom prst="flowChartConnector">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5" name="Flowchart: Alternate Process 164">
            <a:extLst>
              <a:ext uri="{FF2B5EF4-FFF2-40B4-BE49-F238E27FC236}">
                <a16:creationId xmlns:a16="http://schemas.microsoft.com/office/drawing/2014/main" id="{F47F7E86-04FA-0DFA-EFFC-C09E8B1D41E3}"/>
              </a:ext>
            </a:extLst>
          </p:cNvPr>
          <p:cNvSpPr/>
          <p:nvPr/>
        </p:nvSpPr>
        <p:spPr>
          <a:xfrm>
            <a:off x="469900" y="5863129"/>
            <a:ext cx="2159000" cy="774700"/>
          </a:xfrm>
          <a:prstGeom prst="flowChartAlternateProcess">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endParaRPr lang="en-GB">
              <a:solidFill>
                <a:schemeClr val="bg1"/>
              </a:solidFill>
            </a:endParaRPr>
          </a:p>
        </p:txBody>
      </p:sp>
      <p:pic>
        <p:nvPicPr>
          <p:cNvPr id="167" name="Graphic 166" descr="Marker with solid fill">
            <a:extLst>
              <a:ext uri="{FF2B5EF4-FFF2-40B4-BE49-F238E27FC236}">
                <a16:creationId xmlns:a16="http://schemas.microsoft.com/office/drawing/2014/main" id="{35527F49-5940-A48E-3D48-CFCAD86AF5E4}"/>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1391370" y="4344032"/>
            <a:ext cx="922197" cy="922197"/>
          </a:xfrm>
          <a:prstGeom prst="rect">
            <a:avLst/>
          </a:prstGeom>
        </p:spPr>
      </p:pic>
      <p:sp>
        <p:nvSpPr>
          <p:cNvPr id="169" name="Flowchart: Alternate Process 168">
            <a:extLst>
              <a:ext uri="{FF2B5EF4-FFF2-40B4-BE49-F238E27FC236}">
                <a16:creationId xmlns:a16="http://schemas.microsoft.com/office/drawing/2014/main" id="{38F5B465-AB47-F308-78FC-ED585B2DEF16}"/>
              </a:ext>
            </a:extLst>
          </p:cNvPr>
          <p:cNvSpPr/>
          <p:nvPr/>
        </p:nvSpPr>
        <p:spPr>
          <a:xfrm>
            <a:off x="673100" y="5563299"/>
            <a:ext cx="2751282" cy="1104900"/>
          </a:xfrm>
          <a:prstGeom prst="flowChartAlternateProcess">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latin typeface="Bahnschrift" panose="020B0502040204020203" pitchFamily="34" charset="0"/>
              </a:rPr>
              <a:t>GARMENT STATUS TRACKING</a:t>
            </a:r>
          </a:p>
        </p:txBody>
      </p:sp>
      <p:sp>
        <p:nvSpPr>
          <p:cNvPr id="171" name="Flowchart: Connector 170">
            <a:extLst>
              <a:ext uri="{FF2B5EF4-FFF2-40B4-BE49-F238E27FC236}">
                <a16:creationId xmlns:a16="http://schemas.microsoft.com/office/drawing/2014/main" id="{B0338AB9-4936-0016-24EE-9D3D0E7AFEDF}"/>
              </a:ext>
            </a:extLst>
          </p:cNvPr>
          <p:cNvSpPr/>
          <p:nvPr/>
        </p:nvSpPr>
        <p:spPr>
          <a:xfrm>
            <a:off x="4898736" y="7152119"/>
            <a:ext cx="1460500" cy="1390710"/>
          </a:xfrm>
          <a:prstGeom prst="flowChartConnector">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73" name="Graphic 172" descr="Money with solid fill">
            <a:extLst>
              <a:ext uri="{FF2B5EF4-FFF2-40B4-BE49-F238E27FC236}">
                <a16:creationId xmlns:a16="http://schemas.microsoft.com/office/drawing/2014/main" id="{309F808D-969D-6BAA-E6D3-9299D2FF8997}"/>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5167888" y="7333502"/>
            <a:ext cx="922197" cy="922197"/>
          </a:xfrm>
          <a:prstGeom prst="rect">
            <a:avLst/>
          </a:prstGeom>
        </p:spPr>
      </p:pic>
      <p:sp>
        <p:nvSpPr>
          <p:cNvPr id="175" name="Flowchart: Alternate Process 174">
            <a:extLst>
              <a:ext uri="{FF2B5EF4-FFF2-40B4-BE49-F238E27FC236}">
                <a16:creationId xmlns:a16="http://schemas.microsoft.com/office/drawing/2014/main" id="{7A21B0F8-4DA9-F2D3-75C5-24A2EB6551A7}"/>
              </a:ext>
            </a:extLst>
          </p:cNvPr>
          <p:cNvSpPr/>
          <p:nvPr/>
        </p:nvSpPr>
        <p:spPr>
          <a:xfrm>
            <a:off x="4097481" y="8578169"/>
            <a:ext cx="3103419" cy="1104900"/>
          </a:xfrm>
          <a:prstGeom prst="flowChartAlternateProcess">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latin typeface="Bahnschrift" panose="020B0502040204020203" pitchFamily="34" charset="0"/>
              </a:rPr>
              <a:t>INVOICE GENERATION</a:t>
            </a:r>
          </a:p>
        </p:txBody>
      </p:sp>
      <p:sp>
        <p:nvSpPr>
          <p:cNvPr id="177" name="Flowchart: Connector 176">
            <a:extLst>
              <a:ext uri="{FF2B5EF4-FFF2-40B4-BE49-F238E27FC236}">
                <a16:creationId xmlns:a16="http://schemas.microsoft.com/office/drawing/2014/main" id="{E13345D9-F71D-FD80-1BE1-6E5AFF1DACE9}"/>
              </a:ext>
            </a:extLst>
          </p:cNvPr>
          <p:cNvSpPr/>
          <p:nvPr/>
        </p:nvSpPr>
        <p:spPr>
          <a:xfrm>
            <a:off x="8920018" y="7121749"/>
            <a:ext cx="1460500" cy="1390710"/>
          </a:xfrm>
          <a:prstGeom prst="flowChartConnector">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179" name="Graphic 178" descr="Magnifying glass with solid fill">
            <a:extLst>
              <a:ext uri="{FF2B5EF4-FFF2-40B4-BE49-F238E27FC236}">
                <a16:creationId xmlns:a16="http://schemas.microsoft.com/office/drawing/2014/main" id="{1BF38C89-9F71-109E-F506-B9C813B7BE82}"/>
              </a:ext>
            </a:extLst>
          </p:cNvPr>
          <p:cNvPicPr>
            <a:picLocks noChangeAspect="1"/>
          </p:cNvPicPr>
          <p:nvPr/>
        </p:nvPicPr>
        <p:blipFill>
          <a:blip>
            <a:extLst>
              <a:ext uri="{96DAC541-7B7A-43D3-8B79-37D633B846F1}">
                <asvg:svgBlip xmlns:asvg="http://schemas.microsoft.com/office/drawing/2016/SVG/main" r:embed="rId8"/>
              </a:ext>
            </a:extLst>
          </a:blip>
          <a:srcRect/>
          <a:stretch/>
        </p:blipFill>
        <p:spPr>
          <a:xfrm>
            <a:off x="9181088" y="7310862"/>
            <a:ext cx="922197" cy="922197"/>
          </a:xfrm>
          <a:prstGeom prst="rect">
            <a:avLst/>
          </a:prstGeom>
        </p:spPr>
      </p:pic>
      <p:sp>
        <p:nvSpPr>
          <p:cNvPr id="181" name="Flowchart: Alternate Process 180">
            <a:extLst>
              <a:ext uri="{FF2B5EF4-FFF2-40B4-BE49-F238E27FC236}">
                <a16:creationId xmlns:a16="http://schemas.microsoft.com/office/drawing/2014/main" id="{3B28A7C3-25D9-2A4C-3A7E-FBD40BAD0A57}"/>
              </a:ext>
            </a:extLst>
          </p:cNvPr>
          <p:cNvSpPr/>
          <p:nvPr/>
        </p:nvSpPr>
        <p:spPr>
          <a:xfrm>
            <a:off x="8462818" y="8530129"/>
            <a:ext cx="2751282" cy="1104900"/>
          </a:xfrm>
          <a:prstGeom prst="flowChartAlternateProcess">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latin typeface="Bahnschrift" panose="020B0502040204020203" pitchFamily="34" charset="0"/>
              </a:rPr>
              <a:t>SEARCH AND RECORD MANAGEMENT</a:t>
            </a:r>
          </a:p>
        </p:txBody>
      </p:sp>
    </p:spTree>
    <p:extLst>
      <p:ext uri="{BB962C8B-B14F-4D97-AF65-F5344CB8AC3E}">
        <p14:creationId xmlns:p14="http://schemas.microsoft.com/office/powerpoint/2010/main" val="8683043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734DED-9392-7905-FC2F-F6AAAE1A1E0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8F8A59F6-7D02-A9E3-4420-55777463F874}"/>
              </a:ext>
            </a:extLst>
          </p:cNvPr>
          <p:cNvPicPr>
            <a:picLocks noChangeAspect="1"/>
          </p:cNvPicPr>
          <p:nvPr/>
        </p:nvPicPr>
        <p:blipFill>
          <a:blip r:embed="rId2">
            <a:extLst>
              <a:ext uri="{28A0092B-C50C-407E-A947-70E740481C1C}">
                <a14:useLocalDpi xmlns:a14="http://schemas.microsoft.com/office/drawing/2010/main" val="0"/>
              </a:ext>
            </a:extLst>
          </a:blip>
          <a:srcRect t="7057" b="7057"/>
          <a:stretch/>
        </p:blipFill>
        <p:spPr>
          <a:xfrm>
            <a:off x="1" y="-27195"/>
            <a:ext cx="12192000" cy="6862830"/>
          </a:xfrm>
          <a:prstGeom prst="rect">
            <a:avLst/>
          </a:prstGeom>
        </p:spPr>
      </p:pic>
      <p:sp>
        <p:nvSpPr>
          <p:cNvPr id="12" name="Rectangle 11">
            <a:extLst>
              <a:ext uri="{FF2B5EF4-FFF2-40B4-BE49-F238E27FC236}">
                <a16:creationId xmlns:a16="http://schemas.microsoft.com/office/drawing/2014/main" id="{39C7F292-F902-DF9D-17F4-649475953B8E}"/>
              </a:ext>
            </a:extLst>
          </p:cNvPr>
          <p:cNvSpPr/>
          <p:nvPr/>
        </p:nvSpPr>
        <p:spPr>
          <a:xfrm>
            <a:off x="-9524" y="-319313"/>
            <a:ext cx="12201524" cy="7186988"/>
          </a:xfrm>
          <a:prstGeom prst="rect">
            <a:avLst/>
          </a:prstGeom>
          <a:solidFill>
            <a:schemeClr val="tx1">
              <a:alpha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1" name="Pentagon 57">
            <a:extLst>
              <a:ext uri="{FF2B5EF4-FFF2-40B4-BE49-F238E27FC236}">
                <a16:creationId xmlns:a16="http://schemas.microsoft.com/office/drawing/2014/main" id="{F41AF82B-FB6A-1C02-386C-39B9DED695CB}"/>
              </a:ext>
            </a:extLst>
          </p:cNvPr>
          <p:cNvSpPr/>
          <p:nvPr/>
        </p:nvSpPr>
        <p:spPr>
          <a:xfrm>
            <a:off x="1155701" y="152400"/>
            <a:ext cx="9829800" cy="1278169"/>
          </a:xfrm>
          <a:prstGeom prst="homePlate">
            <a:avLst/>
          </a:prstGeom>
          <a:no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400" b="1" dirty="0">
                <a:solidFill>
                  <a:schemeClr val="bg1"/>
                </a:solidFill>
                <a:latin typeface="Bahnschrift" panose="020B0502040204020203" pitchFamily="34" charset="0"/>
                <a:cs typeface="Dubai Light" panose="020B0303030403030204" pitchFamily="34" charset="-78"/>
              </a:rPr>
              <a:t>IMPLEMENTED FEATURES</a:t>
            </a:r>
          </a:p>
        </p:txBody>
      </p:sp>
      <p:sp>
        <p:nvSpPr>
          <p:cNvPr id="7" name="Flowchart: Connector 6">
            <a:extLst>
              <a:ext uri="{FF2B5EF4-FFF2-40B4-BE49-F238E27FC236}">
                <a16:creationId xmlns:a16="http://schemas.microsoft.com/office/drawing/2014/main" id="{4A96B7A5-90FD-4CB8-50E8-0D41A2BC9794}"/>
              </a:ext>
            </a:extLst>
          </p:cNvPr>
          <p:cNvSpPr/>
          <p:nvPr/>
        </p:nvSpPr>
        <p:spPr>
          <a:xfrm>
            <a:off x="1130300" y="1720790"/>
            <a:ext cx="1460500" cy="1390710"/>
          </a:xfrm>
          <a:prstGeom prst="flowChartConnector">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3" name="Flowchart: Alternate Process 122">
            <a:extLst>
              <a:ext uri="{FF2B5EF4-FFF2-40B4-BE49-F238E27FC236}">
                <a16:creationId xmlns:a16="http://schemas.microsoft.com/office/drawing/2014/main" id="{EBA6EC07-9E31-4565-4CFB-77322EC36F72}"/>
              </a:ext>
            </a:extLst>
          </p:cNvPr>
          <p:cNvSpPr/>
          <p:nvPr/>
        </p:nvSpPr>
        <p:spPr>
          <a:xfrm>
            <a:off x="469900" y="3429000"/>
            <a:ext cx="2159000" cy="774700"/>
          </a:xfrm>
          <a:prstGeom prst="flowChartAlternateProcess">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endParaRPr lang="en-GB">
              <a:solidFill>
                <a:schemeClr val="bg1"/>
              </a:solidFill>
            </a:endParaRPr>
          </a:p>
        </p:txBody>
      </p:sp>
      <p:pic>
        <p:nvPicPr>
          <p:cNvPr id="148" name="Graphic 147" descr="Users with solid fill">
            <a:extLst>
              <a:ext uri="{FF2B5EF4-FFF2-40B4-BE49-F238E27FC236}">
                <a16:creationId xmlns:a16="http://schemas.microsoft.com/office/drawing/2014/main" id="{90B35F95-7083-FD74-C9B5-9E00E62046E5}"/>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1391370" y="1909903"/>
            <a:ext cx="922197" cy="922197"/>
          </a:xfrm>
          <a:prstGeom prst="rect">
            <a:avLst/>
          </a:prstGeom>
        </p:spPr>
      </p:pic>
      <p:sp>
        <p:nvSpPr>
          <p:cNvPr id="149" name="Flowchart: Alternate Process 148">
            <a:extLst>
              <a:ext uri="{FF2B5EF4-FFF2-40B4-BE49-F238E27FC236}">
                <a16:creationId xmlns:a16="http://schemas.microsoft.com/office/drawing/2014/main" id="{36830B46-FC92-585D-FA1F-F375A385221C}"/>
              </a:ext>
            </a:extLst>
          </p:cNvPr>
          <p:cNvSpPr/>
          <p:nvPr/>
        </p:nvSpPr>
        <p:spPr>
          <a:xfrm>
            <a:off x="673100" y="3129170"/>
            <a:ext cx="2751282" cy="1104900"/>
          </a:xfrm>
          <a:prstGeom prst="flowChartAlternateProcess">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latin typeface="Bahnschrift" panose="020B0502040204020203" pitchFamily="34" charset="0"/>
              </a:rPr>
              <a:t>USER AUTHENTICATION</a:t>
            </a:r>
          </a:p>
        </p:txBody>
      </p:sp>
      <p:sp>
        <p:nvSpPr>
          <p:cNvPr id="151" name="Flowchart: Connector 150">
            <a:extLst>
              <a:ext uri="{FF2B5EF4-FFF2-40B4-BE49-F238E27FC236}">
                <a16:creationId xmlns:a16="http://schemas.microsoft.com/office/drawing/2014/main" id="{59BB1D00-D5E6-C579-41EE-93FE8B65C5CF}"/>
              </a:ext>
            </a:extLst>
          </p:cNvPr>
          <p:cNvSpPr/>
          <p:nvPr/>
        </p:nvSpPr>
        <p:spPr>
          <a:xfrm>
            <a:off x="4898736" y="1690420"/>
            <a:ext cx="1460500" cy="1390710"/>
          </a:xfrm>
          <a:prstGeom prst="flowChartConnector">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53" name="Graphic 152" descr="Playbook with solid fill">
            <a:extLst>
              <a:ext uri="{FF2B5EF4-FFF2-40B4-BE49-F238E27FC236}">
                <a16:creationId xmlns:a16="http://schemas.microsoft.com/office/drawing/2014/main" id="{345298EF-8C49-FA11-099A-BFA05A9CED55}"/>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5167888" y="1902173"/>
            <a:ext cx="922197" cy="922197"/>
          </a:xfrm>
          <a:prstGeom prst="rect">
            <a:avLst/>
          </a:prstGeom>
        </p:spPr>
      </p:pic>
      <p:sp>
        <p:nvSpPr>
          <p:cNvPr id="155" name="Flowchart: Alternate Process 154">
            <a:extLst>
              <a:ext uri="{FF2B5EF4-FFF2-40B4-BE49-F238E27FC236}">
                <a16:creationId xmlns:a16="http://schemas.microsoft.com/office/drawing/2014/main" id="{4B4BEBC7-EE35-2127-149F-07BF98A29BD7}"/>
              </a:ext>
            </a:extLst>
          </p:cNvPr>
          <p:cNvSpPr/>
          <p:nvPr/>
        </p:nvSpPr>
        <p:spPr>
          <a:xfrm>
            <a:off x="4097481" y="3146840"/>
            <a:ext cx="3103419" cy="1104900"/>
          </a:xfrm>
          <a:prstGeom prst="flowChartAlternateProcess">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latin typeface="Bahnschrift" panose="020B0502040204020203" pitchFamily="34" charset="0"/>
              </a:rPr>
              <a:t>CUSTOMER MANAGEMENT</a:t>
            </a:r>
          </a:p>
        </p:txBody>
      </p:sp>
      <p:sp>
        <p:nvSpPr>
          <p:cNvPr id="157" name="Flowchart: Connector 156">
            <a:extLst>
              <a:ext uri="{FF2B5EF4-FFF2-40B4-BE49-F238E27FC236}">
                <a16:creationId xmlns:a16="http://schemas.microsoft.com/office/drawing/2014/main" id="{21415FDE-1051-7643-C481-B6AC8A753A98}"/>
              </a:ext>
            </a:extLst>
          </p:cNvPr>
          <p:cNvSpPr/>
          <p:nvPr/>
        </p:nvSpPr>
        <p:spPr>
          <a:xfrm>
            <a:off x="8920018" y="1690420"/>
            <a:ext cx="1460500" cy="1390710"/>
          </a:xfrm>
          <a:prstGeom prst="flowChartConnector">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59" name="Graphic 158" descr="Checklist with solid fill">
            <a:extLst>
              <a:ext uri="{FF2B5EF4-FFF2-40B4-BE49-F238E27FC236}">
                <a16:creationId xmlns:a16="http://schemas.microsoft.com/office/drawing/2014/main" id="{197D334A-D621-4C90-7668-4A6F3C34C131}"/>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9181088" y="1879533"/>
            <a:ext cx="922197" cy="922197"/>
          </a:xfrm>
          <a:prstGeom prst="rect">
            <a:avLst/>
          </a:prstGeom>
        </p:spPr>
      </p:pic>
      <p:sp>
        <p:nvSpPr>
          <p:cNvPr id="161" name="Flowchart: Alternate Process 160">
            <a:extLst>
              <a:ext uri="{FF2B5EF4-FFF2-40B4-BE49-F238E27FC236}">
                <a16:creationId xmlns:a16="http://schemas.microsoft.com/office/drawing/2014/main" id="{0692636C-0B07-1EAE-F805-D04BF014F99E}"/>
              </a:ext>
            </a:extLst>
          </p:cNvPr>
          <p:cNvSpPr/>
          <p:nvPr/>
        </p:nvSpPr>
        <p:spPr>
          <a:xfrm>
            <a:off x="8462818" y="3098800"/>
            <a:ext cx="2751282" cy="1104900"/>
          </a:xfrm>
          <a:prstGeom prst="flowChartAlternateProcess">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latin typeface="Bahnschrift" panose="020B0502040204020203" pitchFamily="34" charset="0"/>
              </a:rPr>
              <a:t>LAUNDRY ORDER MANAGEMENT</a:t>
            </a:r>
          </a:p>
        </p:txBody>
      </p:sp>
      <p:sp>
        <p:nvSpPr>
          <p:cNvPr id="163" name="Flowchart: Connector 162">
            <a:extLst>
              <a:ext uri="{FF2B5EF4-FFF2-40B4-BE49-F238E27FC236}">
                <a16:creationId xmlns:a16="http://schemas.microsoft.com/office/drawing/2014/main" id="{C6DB9779-0102-44E2-56F5-0B1968256774}"/>
              </a:ext>
            </a:extLst>
          </p:cNvPr>
          <p:cNvSpPr/>
          <p:nvPr/>
        </p:nvSpPr>
        <p:spPr>
          <a:xfrm>
            <a:off x="1130300" y="4154919"/>
            <a:ext cx="1460500" cy="1390710"/>
          </a:xfrm>
          <a:prstGeom prst="flowChartConnector">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5" name="Flowchart: Alternate Process 164">
            <a:extLst>
              <a:ext uri="{FF2B5EF4-FFF2-40B4-BE49-F238E27FC236}">
                <a16:creationId xmlns:a16="http://schemas.microsoft.com/office/drawing/2014/main" id="{A5A847A9-C273-64C3-CEA1-B693688C6556}"/>
              </a:ext>
            </a:extLst>
          </p:cNvPr>
          <p:cNvSpPr/>
          <p:nvPr/>
        </p:nvSpPr>
        <p:spPr>
          <a:xfrm>
            <a:off x="469900" y="5863129"/>
            <a:ext cx="2159000" cy="774700"/>
          </a:xfrm>
          <a:prstGeom prst="flowChartAlternateProcess">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endParaRPr lang="en-GB">
              <a:solidFill>
                <a:schemeClr val="bg1"/>
              </a:solidFill>
            </a:endParaRPr>
          </a:p>
        </p:txBody>
      </p:sp>
      <p:pic>
        <p:nvPicPr>
          <p:cNvPr id="167" name="Graphic 166" descr="Marker with solid fill">
            <a:extLst>
              <a:ext uri="{FF2B5EF4-FFF2-40B4-BE49-F238E27FC236}">
                <a16:creationId xmlns:a16="http://schemas.microsoft.com/office/drawing/2014/main" id="{9BD41A8B-F3E3-03A3-6B7E-49B8B8281BEF}"/>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1391370" y="4344032"/>
            <a:ext cx="922197" cy="922197"/>
          </a:xfrm>
          <a:prstGeom prst="rect">
            <a:avLst/>
          </a:prstGeom>
        </p:spPr>
      </p:pic>
      <p:sp>
        <p:nvSpPr>
          <p:cNvPr id="169" name="Flowchart: Alternate Process 168">
            <a:extLst>
              <a:ext uri="{FF2B5EF4-FFF2-40B4-BE49-F238E27FC236}">
                <a16:creationId xmlns:a16="http://schemas.microsoft.com/office/drawing/2014/main" id="{F679B684-B546-7C5C-C83E-F9131AFD1120}"/>
              </a:ext>
            </a:extLst>
          </p:cNvPr>
          <p:cNvSpPr/>
          <p:nvPr/>
        </p:nvSpPr>
        <p:spPr>
          <a:xfrm>
            <a:off x="673100" y="5563299"/>
            <a:ext cx="2751282" cy="1104900"/>
          </a:xfrm>
          <a:prstGeom prst="flowChartAlternateProcess">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latin typeface="Bahnschrift" panose="020B0502040204020203" pitchFamily="34" charset="0"/>
              </a:rPr>
              <a:t>GARMENT STATUS TRACKING</a:t>
            </a:r>
          </a:p>
        </p:txBody>
      </p:sp>
      <p:sp>
        <p:nvSpPr>
          <p:cNvPr id="171" name="Flowchart: Connector 170">
            <a:extLst>
              <a:ext uri="{FF2B5EF4-FFF2-40B4-BE49-F238E27FC236}">
                <a16:creationId xmlns:a16="http://schemas.microsoft.com/office/drawing/2014/main" id="{A064974D-7838-4E8D-119E-684CAF6A8541}"/>
              </a:ext>
            </a:extLst>
          </p:cNvPr>
          <p:cNvSpPr/>
          <p:nvPr/>
        </p:nvSpPr>
        <p:spPr>
          <a:xfrm>
            <a:off x="4898736" y="4154919"/>
            <a:ext cx="1460500" cy="1390710"/>
          </a:xfrm>
          <a:prstGeom prst="flowChartConnector">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73" name="Graphic 172" descr="Money with solid fill">
            <a:extLst>
              <a:ext uri="{FF2B5EF4-FFF2-40B4-BE49-F238E27FC236}">
                <a16:creationId xmlns:a16="http://schemas.microsoft.com/office/drawing/2014/main" id="{3AE49583-E6F5-F9FA-519D-9A4F2A9A5271}"/>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5167888" y="4336302"/>
            <a:ext cx="922197" cy="922197"/>
          </a:xfrm>
          <a:prstGeom prst="rect">
            <a:avLst/>
          </a:prstGeom>
        </p:spPr>
      </p:pic>
      <p:sp>
        <p:nvSpPr>
          <p:cNvPr id="175" name="Flowchart: Alternate Process 174">
            <a:extLst>
              <a:ext uri="{FF2B5EF4-FFF2-40B4-BE49-F238E27FC236}">
                <a16:creationId xmlns:a16="http://schemas.microsoft.com/office/drawing/2014/main" id="{96EA793E-DE66-AE9A-DAC8-FCAE7026AB9F}"/>
              </a:ext>
            </a:extLst>
          </p:cNvPr>
          <p:cNvSpPr/>
          <p:nvPr/>
        </p:nvSpPr>
        <p:spPr>
          <a:xfrm>
            <a:off x="4097481" y="5580969"/>
            <a:ext cx="3103419" cy="1104900"/>
          </a:xfrm>
          <a:prstGeom prst="flowChartAlternateProcess">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latin typeface="Bahnschrift" panose="020B0502040204020203" pitchFamily="34" charset="0"/>
              </a:rPr>
              <a:t>INVOICE GENERATION</a:t>
            </a:r>
          </a:p>
        </p:txBody>
      </p:sp>
      <p:sp>
        <p:nvSpPr>
          <p:cNvPr id="177" name="Flowchart: Connector 176">
            <a:extLst>
              <a:ext uri="{FF2B5EF4-FFF2-40B4-BE49-F238E27FC236}">
                <a16:creationId xmlns:a16="http://schemas.microsoft.com/office/drawing/2014/main" id="{A642DB22-401C-6FCA-8EAA-A299F5541979}"/>
              </a:ext>
            </a:extLst>
          </p:cNvPr>
          <p:cNvSpPr/>
          <p:nvPr/>
        </p:nvSpPr>
        <p:spPr>
          <a:xfrm>
            <a:off x="8920018" y="6969349"/>
            <a:ext cx="1460500" cy="1390710"/>
          </a:xfrm>
          <a:prstGeom prst="flowChartConnector">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179" name="Graphic 178" descr="Magnifying glass with solid fill">
            <a:extLst>
              <a:ext uri="{FF2B5EF4-FFF2-40B4-BE49-F238E27FC236}">
                <a16:creationId xmlns:a16="http://schemas.microsoft.com/office/drawing/2014/main" id="{CD7F0A7A-8613-932B-E1BD-8E5809B79413}"/>
              </a:ext>
            </a:extLst>
          </p:cNvPr>
          <p:cNvPicPr>
            <a:picLocks noChangeAspect="1"/>
          </p:cNvPicPr>
          <p:nvPr/>
        </p:nvPicPr>
        <p:blipFill>
          <a:blip>
            <a:extLst>
              <a:ext uri="{96DAC541-7B7A-43D3-8B79-37D633B846F1}">
                <asvg:svgBlip xmlns:asvg="http://schemas.microsoft.com/office/drawing/2016/SVG/main" r:embed="rId8"/>
              </a:ext>
            </a:extLst>
          </a:blip>
          <a:srcRect/>
          <a:stretch/>
        </p:blipFill>
        <p:spPr>
          <a:xfrm>
            <a:off x="9181088" y="7158462"/>
            <a:ext cx="922197" cy="922197"/>
          </a:xfrm>
          <a:prstGeom prst="rect">
            <a:avLst/>
          </a:prstGeom>
        </p:spPr>
      </p:pic>
      <p:sp>
        <p:nvSpPr>
          <p:cNvPr id="181" name="Flowchart: Alternate Process 180">
            <a:extLst>
              <a:ext uri="{FF2B5EF4-FFF2-40B4-BE49-F238E27FC236}">
                <a16:creationId xmlns:a16="http://schemas.microsoft.com/office/drawing/2014/main" id="{E367962F-581E-41A0-17FC-52D0DF861B70}"/>
              </a:ext>
            </a:extLst>
          </p:cNvPr>
          <p:cNvSpPr/>
          <p:nvPr/>
        </p:nvSpPr>
        <p:spPr>
          <a:xfrm>
            <a:off x="8462818" y="8377729"/>
            <a:ext cx="2751282" cy="1104900"/>
          </a:xfrm>
          <a:prstGeom prst="flowChartAlternateProcess">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latin typeface="Bahnschrift" panose="020B0502040204020203" pitchFamily="34" charset="0"/>
              </a:rPr>
              <a:t>SEARCH AND RECORD MANAGEMENT</a:t>
            </a:r>
          </a:p>
        </p:txBody>
      </p:sp>
    </p:spTree>
    <p:extLst>
      <p:ext uri="{BB962C8B-B14F-4D97-AF65-F5344CB8AC3E}">
        <p14:creationId xmlns:p14="http://schemas.microsoft.com/office/powerpoint/2010/main" val="305026325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01DE00-3595-1AE2-AB02-A70644B18ACA}"/>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AAA5E229-E8DA-66EF-2C95-DE19568B4CDB}"/>
              </a:ext>
            </a:extLst>
          </p:cNvPr>
          <p:cNvPicPr>
            <a:picLocks noChangeAspect="1"/>
          </p:cNvPicPr>
          <p:nvPr/>
        </p:nvPicPr>
        <p:blipFill>
          <a:blip r:embed="rId2">
            <a:extLst>
              <a:ext uri="{28A0092B-C50C-407E-A947-70E740481C1C}">
                <a14:useLocalDpi xmlns:a14="http://schemas.microsoft.com/office/drawing/2010/main" val="0"/>
              </a:ext>
            </a:extLst>
          </a:blip>
          <a:srcRect t="6014" b="6014"/>
          <a:stretch/>
        </p:blipFill>
        <p:spPr>
          <a:xfrm>
            <a:off x="21773" y="7498467"/>
            <a:ext cx="12192000" cy="6862830"/>
          </a:xfrm>
          <a:prstGeom prst="rect">
            <a:avLst/>
          </a:prstGeom>
        </p:spPr>
      </p:pic>
      <p:sp>
        <p:nvSpPr>
          <p:cNvPr id="9" name="Rectangle 8">
            <a:extLst>
              <a:ext uri="{FF2B5EF4-FFF2-40B4-BE49-F238E27FC236}">
                <a16:creationId xmlns:a16="http://schemas.microsoft.com/office/drawing/2014/main" id="{0AD4B5DA-77E6-28EF-DC58-F236029A7F79}"/>
              </a:ext>
            </a:extLst>
          </p:cNvPr>
          <p:cNvSpPr/>
          <p:nvPr/>
        </p:nvSpPr>
        <p:spPr>
          <a:xfrm>
            <a:off x="12248" y="7516137"/>
            <a:ext cx="12201524" cy="6877199"/>
          </a:xfrm>
          <a:prstGeom prst="rect">
            <a:avLst/>
          </a:prstGeom>
          <a:solidFill>
            <a:schemeClr val="tx1">
              <a:alpha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5" name="Picture 4">
            <a:extLst>
              <a:ext uri="{FF2B5EF4-FFF2-40B4-BE49-F238E27FC236}">
                <a16:creationId xmlns:a16="http://schemas.microsoft.com/office/drawing/2014/main" id="{9818D245-B7B9-60E8-B83D-8C67F7775AAD}"/>
              </a:ext>
            </a:extLst>
          </p:cNvPr>
          <p:cNvPicPr>
            <a:picLocks noChangeAspect="1"/>
          </p:cNvPicPr>
          <p:nvPr/>
        </p:nvPicPr>
        <p:blipFill>
          <a:blip r:embed="rId3">
            <a:extLst>
              <a:ext uri="{28A0092B-C50C-407E-A947-70E740481C1C}">
                <a14:useLocalDpi xmlns:a14="http://schemas.microsoft.com/office/drawing/2010/main" val="0"/>
              </a:ext>
            </a:extLst>
          </a:blip>
          <a:srcRect t="7057" b="7057"/>
          <a:stretch/>
        </p:blipFill>
        <p:spPr>
          <a:xfrm>
            <a:off x="1" y="-27195"/>
            <a:ext cx="12192000" cy="6862830"/>
          </a:xfrm>
          <a:prstGeom prst="rect">
            <a:avLst/>
          </a:prstGeom>
        </p:spPr>
      </p:pic>
      <p:sp>
        <p:nvSpPr>
          <p:cNvPr id="12" name="Rectangle 11">
            <a:extLst>
              <a:ext uri="{FF2B5EF4-FFF2-40B4-BE49-F238E27FC236}">
                <a16:creationId xmlns:a16="http://schemas.microsoft.com/office/drawing/2014/main" id="{2F63E157-F774-A1CA-27BA-3BFDDCB2B9C1}"/>
              </a:ext>
            </a:extLst>
          </p:cNvPr>
          <p:cNvSpPr/>
          <p:nvPr/>
        </p:nvSpPr>
        <p:spPr>
          <a:xfrm>
            <a:off x="-9524" y="-261257"/>
            <a:ext cx="12201524" cy="7128931"/>
          </a:xfrm>
          <a:prstGeom prst="rect">
            <a:avLst/>
          </a:prstGeom>
          <a:solidFill>
            <a:schemeClr val="tx1">
              <a:alpha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1" name="Pentagon 57">
            <a:extLst>
              <a:ext uri="{FF2B5EF4-FFF2-40B4-BE49-F238E27FC236}">
                <a16:creationId xmlns:a16="http://schemas.microsoft.com/office/drawing/2014/main" id="{749CB29B-9322-F088-11F7-A46BE1573617}"/>
              </a:ext>
            </a:extLst>
          </p:cNvPr>
          <p:cNvSpPr/>
          <p:nvPr/>
        </p:nvSpPr>
        <p:spPr>
          <a:xfrm>
            <a:off x="1155701" y="152400"/>
            <a:ext cx="9829800" cy="1278169"/>
          </a:xfrm>
          <a:prstGeom prst="homePlate">
            <a:avLst/>
          </a:prstGeom>
          <a:no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400" b="1" dirty="0">
                <a:solidFill>
                  <a:schemeClr val="bg1"/>
                </a:solidFill>
                <a:latin typeface="Bahnschrift" panose="020B0502040204020203" pitchFamily="34" charset="0"/>
                <a:cs typeface="Dubai Light" panose="020B0303030403030204" pitchFamily="34" charset="-78"/>
              </a:rPr>
              <a:t>IMPLEMENTED FEATURES</a:t>
            </a:r>
          </a:p>
        </p:txBody>
      </p:sp>
      <p:sp>
        <p:nvSpPr>
          <p:cNvPr id="7" name="Flowchart: Connector 6">
            <a:extLst>
              <a:ext uri="{FF2B5EF4-FFF2-40B4-BE49-F238E27FC236}">
                <a16:creationId xmlns:a16="http://schemas.microsoft.com/office/drawing/2014/main" id="{4B453BB4-514C-CA8B-2C93-4A378927EFDC}"/>
              </a:ext>
            </a:extLst>
          </p:cNvPr>
          <p:cNvSpPr/>
          <p:nvPr/>
        </p:nvSpPr>
        <p:spPr>
          <a:xfrm>
            <a:off x="1130300" y="1720790"/>
            <a:ext cx="1460500" cy="1390710"/>
          </a:xfrm>
          <a:prstGeom prst="flowChartConnector">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3" name="Flowchart: Alternate Process 122">
            <a:extLst>
              <a:ext uri="{FF2B5EF4-FFF2-40B4-BE49-F238E27FC236}">
                <a16:creationId xmlns:a16="http://schemas.microsoft.com/office/drawing/2014/main" id="{68B7F671-7EF8-2FF3-3BE5-3C85C2C64459}"/>
              </a:ext>
            </a:extLst>
          </p:cNvPr>
          <p:cNvSpPr/>
          <p:nvPr/>
        </p:nvSpPr>
        <p:spPr>
          <a:xfrm>
            <a:off x="469900" y="3429000"/>
            <a:ext cx="2159000" cy="774700"/>
          </a:xfrm>
          <a:prstGeom prst="flowChartAlternateProcess">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endParaRPr lang="en-GB">
              <a:solidFill>
                <a:schemeClr val="bg1"/>
              </a:solidFill>
            </a:endParaRPr>
          </a:p>
        </p:txBody>
      </p:sp>
      <p:pic>
        <p:nvPicPr>
          <p:cNvPr id="148" name="Graphic 147" descr="Users with solid fill">
            <a:extLst>
              <a:ext uri="{FF2B5EF4-FFF2-40B4-BE49-F238E27FC236}">
                <a16:creationId xmlns:a16="http://schemas.microsoft.com/office/drawing/2014/main" id="{B0A90905-6EBA-16DA-963E-68B5C5FBD485}"/>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1391370" y="1909903"/>
            <a:ext cx="922197" cy="922197"/>
          </a:xfrm>
          <a:prstGeom prst="rect">
            <a:avLst/>
          </a:prstGeom>
        </p:spPr>
      </p:pic>
      <p:sp>
        <p:nvSpPr>
          <p:cNvPr id="149" name="Flowchart: Alternate Process 148">
            <a:extLst>
              <a:ext uri="{FF2B5EF4-FFF2-40B4-BE49-F238E27FC236}">
                <a16:creationId xmlns:a16="http://schemas.microsoft.com/office/drawing/2014/main" id="{EE2E9E8F-1886-1AA0-843A-C9B65354A621}"/>
              </a:ext>
            </a:extLst>
          </p:cNvPr>
          <p:cNvSpPr/>
          <p:nvPr/>
        </p:nvSpPr>
        <p:spPr>
          <a:xfrm>
            <a:off x="673100" y="3129170"/>
            <a:ext cx="2751282" cy="1104900"/>
          </a:xfrm>
          <a:prstGeom prst="flowChartAlternateProcess">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latin typeface="Bahnschrift" panose="020B0502040204020203" pitchFamily="34" charset="0"/>
              </a:rPr>
              <a:t>USER AUTHENTICATION</a:t>
            </a:r>
          </a:p>
        </p:txBody>
      </p:sp>
      <p:sp>
        <p:nvSpPr>
          <p:cNvPr id="151" name="Flowchart: Connector 150">
            <a:extLst>
              <a:ext uri="{FF2B5EF4-FFF2-40B4-BE49-F238E27FC236}">
                <a16:creationId xmlns:a16="http://schemas.microsoft.com/office/drawing/2014/main" id="{8CF6DDD0-B8F0-665F-22E4-FA5A9A3F672D}"/>
              </a:ext>
            </a:extLst>
          </p:cNvPr>
          <p:cNvSpPr/>
          <p:nvPr/>
        </p:nvSpPr>
        <p:spPr>
          <a:xfrm>
            <a:off x="4898736" y="1690420"/>
            <a:ext cx="1460500" cy="1390710"/>
          </a:xfrm>
          <a:prstGeom prst="flowChartConnector">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53" name="Graphic 152" descr="Playbook with solid fill">
            <a:extLst>
              <a:ext uri="{FF2B5EF4-FFF2-40B4-BE49-F238E27FC236}">
                <a16:creationId xmlns:a16="http://schemas.microsoft.com/office/drawing/2014/main" id="{49790166-E6C3-D240-12D3-703251AFCF59}"/>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5167888" y="1902173"/>
            <a:ext cx="922197" cy="922197"/>
          </a:xfrm>
          <a:prstGeom prst="rect">
            <a:avLst/>
          </a:prstGeom>
        </p:spPr>
      </p:pic>
      <p:sp>
        <p:nvSpPr>
          <p:cNvPr id="155" name="Flowchart: Alternate Process 154">
            <a:extLst>
              <a:ext uri="{FF2B5EF4-FFF2-40B4-BE49-F238E27FC236}">
                <a16:creationId xmlns:a16="http://schemas.microsoft.com/office/drawing/2014/main" id="{75C81853-20D2-4021-8B54-783C49F0A95A}"/>
              </a:ext>
            </a:extLst>
          </p:cNvPr>
          <p:cNvSpPr/>
          <p:nvPr/>
        </p:nvSpPr>
        <p:spPr>
          <a:xfrm>
            <a:off x="4097481" y="3146840"/>
            <a:ext cx="3103419" cy="1104900"/>
          </a:xfrm>
          <a:prstGeom prst="flowChartAlternateProcess">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latin typeface="Bahnschrift" panose="020B0502040204020203" pitchFamily="34" charset="0"/>
              </a:rPr>
              <a:t>CUSTOMER MANAGEMENT</a:t>
            </a:r>
          </a:p>
        </p:txBody>
      </p:sp>
      <p:sp>
        <p:nvSpPr>
          <p:cNvPr id="157" name="Flowchart: Connector 156">
            <a:extLst>
              <a:ext uri="{FF2B5EF4-FFF2-40B4-BE49-F238E27FC236}">
                <a16:creationId xmlns:a16="http://schemas.microsoft.com/office/drawing/2014/main" id="{C3A46A5B-5C78-E2AE-255C-E04734697A14}"/>
              </a:ext>
            </a:extLst>
          </p:cNvPr>
          <p:cNvSpPr/>
          <p:nvPr/>
        </p:nvSpPr>
        <p:spPr>
          <a:xfrm>
            <a:off x="8920018" y="1690420"/>
            <a:ext cx="1460500" cy="1390710"/>
          </a:xfrm>
          <a:prstGeom prst="flowChartConnector">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59" name="Graphic 158" descr="Checklist with solid fill">
            <a:extLst>
              <a:ext uri="{FF2B5EF4-FFF2-40B4-BE49-F238E27FC236}">
                <a16:creationId xmlns:a16="http://schemas.microsoft.com/office/drawing/2014/main" id="{473C410F-22DC-4759-56B4-BCC75928742C}"/>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9181088" y="1879533"/>
            <a:ext cx="922197" cy="922197"/>
          </a:xfrm>
          <a:prstGeom prst="rect">
            <a:avLst/>
          </a:prstGeom>
        </p:spPr>
      </p:pic>
      <p:sp>
        <p:nvSpPr>
          <p:cNvPr id="161" name="Flowchart: Alternate Process 160">
            <a:extLst>
              <a:ext uri="{FF2B5EF4-FFF2-40B4-BE49-F238E27FC236}">
                <a16:creationId xmlns:a16="http://schemas.microsoft.com/office/drawing/2014/main" id="{CF5A5A6B-5281-FFAE-BCB9-C3FB4B5C3401}"/>
              </a:ext>
            </a:extLst>
          </p:cNvPr>
          <p:cNvSpPr/>
          <p:nvPr/>
        </p:nvSpPr>
        <p:spPr>
          <a:xfrm>
            <a:off x="8462818" y="3098800"/>
            <a:ext cx="2751282" cy="1104900"/>
          </a:xfrm>
          <a:prstGeom prst="flowChartAlternateProcess">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latin typeface="Bahnschrift" panose="020B0502040204020203" pitchFamily="34" charset="0"/>
              </a:rPr>
              <a:t>LAUNDRY ORDER MANAGEMENT</a:t>
            </a:r>
          </a:p>
        </p:txBody>
      </p:sp>
      <p:sp>
        <p:nvSpPr>
          <p:cNvPr id="163" name="Flowchart: Connector 162">
            <a:extLst>
              <a:ext uri="{FF2B5EF4-FFF2-40B4-BE49-F238E27FC236}">
                <a16:creationId xmlns:a16="http://schemas.microsoft.com/office/drawing/2014/main" id="{F04D508A-D8DA-4668-CFD2-D5FD02ADCC96}"/>
              </a:ext>
            </a:extLst>
          </p:cNvPr>
          <p:cNvSpPr/>
          <p:nvPr/>
        </p:nvSpPr>
        <p:spPr>
          <a:xfrm>
            <a:off x="1130300" y="4154919"/>
            <a:ext cx="1460500" cy="1390710"/>
          </a:xfrm>
          <a:prstGeom prst="flowChartConnector">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5" name="Flowchart: Alternate Process 164">
            <a:extLst>
              <a:ext uri="{FF2B5EF4-FFF2-40B4-BE49-F238E27FC236}">
                <a16:creationId xmlns:a16="http://schemas.microsoft.com/office/drawing/2014/main" id="{BBEF5E49-AD0E-39C6-8FE8-63598670449D}"/>
              </a:ext>
            </a:extLst>
          </p:cNvPr>
          <p:cNvSpPr/>
          <p:nvPr/>
        </p:nvSpPr>
        <p:spPr>
          <a:xfrm>
            <a:off x="469900" y="5863129"/>
            <a:ext cx="2159000" cy="774700"/>
          </a:xfrm>
          <a:prstGeom prst="flowChartAlternateProcess">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endParaRPr lang="en-GB">
              <a:solidFill>
                <a:schemeClr val="bg1"/>
              </a:solidFill>
            </a:endParaRPr>
          </a:p>
        </p:txBody>
      </p:sp>
      <p:pic>
        <p:nvPicPr>
          <p:cNvPr id="167" name="Graphic 166" descr="Marker with solid fill">
            <a:extLst>
              <a:ext uri="{FF2B5EF4-FFF2-40B4-BE49-F238E27FC236}">
                <a16:creationId xmlns:a16="http://schemas.microsoft.com/office/drawing/2014/main" id="{58BAB27F-EB8C-0BCF-F965-77020374C1D9}"/>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1391370" y="4344032"/>
            <a:ext cx="922197" cy="922197"/>
          </a:xfrm>
          <a:prstGeom prst="rect">
            <a:avLst/>
          </a:prstGeom>
        </p:spPr>
      </p:pic>
      <p:sp>
        <p:nvSpPr>
          <p:cNvPr id="169" name="Flowchart: Alternate Process 168">
            <a:extLst>
              <a:ext uri="{FF2B5EF4-FFF2-40B4-BE49-F238E27FC236}">
                <a16:creationId xmlns:a16="http://schemas.microsoft.com/office/drawing/2014/main" id="{90EA7D23-72D2-871F-4A99-306B752AF844}"/>
              </a:ext>
            </a:extLst>
          </p:cNvPr>
          <p:cNvSpPr/>
          <p:nvPr/>
        </p:nvSpPr>
        <p:spPr>
          <a:xfrm>
            <a:off x="673100" y="5563299"/>
            <a:ext cx="2751282" cy="1104900"/>
          </a:xfrm>
          <a:prstGeom prst="flowChartAlternateProcess">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latin typeface="Bahnschrift" panose="020B0502040204020203" pitchFamily="34" charset="0"/>
              </a:rPr>
              <a:t>GARMENT STATUS TRACKING</a:t>
            </a:r>
          </a:p>
        </p:txBody>
      </p:sp>
      <p:sp>
        <p:nvSpPr>
          <p:cNvPr id="171" name="Flowchart: Connector 170">
            <a:extLst>
              <a:ext uri="{FF2B5EF4-FFF2-40B4-BE49-F238E27FC236}">
                <a16:creationId xmlns:a16="http://schemas.microsoft.com/office/drawing/2014/main" id="{A1F34335-7D25-6612-CEE6-C423C93B30FC}"/>
              </a:ext>
            </a:extLst>
          </p:cNvPr>
          <p:cNvSpPr/>
          <p:nvPr/>
        </p:nvSpPr>
        <p:spPr>
          <a:xfrm>
            <a:off x="4898736" y="4154919"/>
            <a:ext cx="1460500" cy="1390710"/>
          </a:xfrm>
          <a:prstGeom prst="flowChartConnector">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73" name="Graphic 172" descr="Money with solid fill">
            <a:extLst>
              <a:ext uri="{FF2B5EF4-FFF2-40B4-BE49-F238E27FC236}">
                <a16:creationId xmlns:a16="http://schemas.microsoft.com/office/drawing/2014/main" id="{8DA7F050-D47B-DD8B-5866-E52BC216F532}"/>
              </a:ext>
            </a:extLst>
          </p:cNvPr>
          <p:cNvPicPr>
            <a:picLocks noChangeAspect="1"/>
          </p:cNvPicPr>
          <p:nvPr/>
        </p:nvPicPr>
        <p:blipFill>
          <a:blip>
            <a:extLst>
              <a:ext uri="{96DAC541-7B7A-43D3-8B79-37D633B846F1}">
                <asvg:svgBlip xmlns:asvg="http://schemas.microsoft.com/office/drawing/2016/SVG/main" r:embed="rId8"/>
              </a:ext>
            </a:extLst>
          </a:blip>
          <a:srcRect/>
          <a:stretch/>
        </p:blipFill>
        <p:spPr>
          <a:xfrm>
            <a:off x="5167888" y="4336302"/>
            <a:ext cx="922197" cy="922197"/>
          </a:xfrm>
          <a:prstGeom prst="rect">
            <a:avLst/>
          </a:prstGeom>
        </p:spPr>
      </p:pic>
      <p:sp>
        <p:nvSpPr>
          <p:cNvPr id="175" name="Flowchart: Alternate Process 174">
            <a:extLst>
              <a:ext uri="{FF2B5EF4-FFF2-40B4-BE49-F238E27FC236}">
                <a16:creationId xmlns:a16="http://schemas.microsoft.com/office/drawing/2014/main" id="{585B2C46-09EC-B0DC-9385-B3AD7E8A0906}"/>
              </a:ext>
            </a:extLst>
          </p:cNvPr>
          <p:cNvSpPr/>
          <p:nvPr/>
        </p:nvSpPr>
        <p:spPr>
          <a:xfrm>
            <a:off x="4097481" y="5580969"/>
            <a:ext cx="3103419" cy="1104900"/>
          </a:xfrm>
          <a:prstGeom prst="flowChartAlternateProcess">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latin typeface="Bahnschrift" panose="020B0502040204020203" pitchFamily="34" charset="0"/>
              </a:rPr>
              <a:t>INVOICE GENERATION</a:t>
            </a:r>
          </a:p>
        </p:txBody>
      </p:sp>
      <p:sp>
        <p:nvSpPr>
          <p:cNvPr id="177" name="Flowchart: Connector 176">
            <a:extLst>
              <a:ext uri="{FF2B5EF4-FFF2-40B4-BE49-F238E27FC236}">
                <a16:creationId xmlns:a16="http://schemas.microsoft.com/office/drawing/2014/main" id="{29733D39-F143-3C04-A4F3-8A56E4C19EC7}"/>
              </a:ext>
            </a:extLst>
          </p:cNvPr>
          <p:cNvSpPr/>
          <p:nvPr/>
        </p:nvSpPr>
        <p:spPr>
          <a:xfrm>
            <a:off x="8920018" y="4124549"/>
            <a:ext cx="1460500" cy="1390710"/>
          </a:xfrm>
          <a:prstGeom prst="flowChartConnector">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179" name="Graphic 178" descr="Magnifying glass with solid fill">
            <a:extLst>
              <a:ext uri="{FF2B5EF4-FFF2-40B4-BE49-F238E27FC236}">
                <a16:creationId xmlns:a16="http://schemas.microsoft.com/office/drawing/2014/main" id="{32B03443-3426-E47A-44BB-6D3F3F661209}"/>
              </a:ext>
            </a:extLst>
          </p:cNvPr>
          <p:cNvPicPr>
            <a:picLocks noChangeAspect="1"/>
          </p:cNvPicPr>
          <p:nvPr/>
        </p:nvPicPr>
        <p:blipFill>
          <a:blip>
            <a:extLst>
              <a:ext uri="{96DAC541-7B7A-43D3-8B79-37D633B846F1}">
                <asvg:svgBlip xmlns:asvg="http://schemas.microsoft.com/office/drawing/2016/SVG/main" r:embed="rId9"/>
              </a:ext>
            </a:extLst>
          </a:blip>
          <a:srcRect/>
          <a:stretch/>
        </p:blipFill>
        <p:spPr>
          <a:xfrm>
            <a:off x="9181088" y="4313662"/>
            <a:ext cx="922197" cy="922197"/>
          </a:xfrm>
          <a:prstGeom prst="rect">
            <a:avLst/>
          </a:prstGeom>
        </p:spPr>
      </p:pic>
      <p:sp>
        <p:nvSpPr>
          <p:cNvPr id="181" name="Flowchart: Alternate Process 180">
            <a:extLst>
              <a:ext uri="{FF2B5EF4-FFF2-40B4-BE49-F238E27FC236}">
                <a16:creationId xmlns:a16="http://schemas.microsoft.com/office/drawing/2014/main" id="{B1942720-BDD1-9749-0B98-9BF7D088C6D3}"/>
              </a:ext>
            </a:extLst>
          </p:cNvPr>
          <p:cNvSpPr/>
          <p:nvPr/>
        </p:nvSpPr>
        <p:spPr>
          <a:xfrm>
            <a:off x="8462818" y="5532929"/>
            <a:ext cx="2751282" cy="1104900"/>
          </a:xfrm>
          <a:prstGeom prst="flowChartAlternateProcess">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latin typeface="Bahnschrift" panose="020B0502040204020203" pitchFamily="34" charset="0"/>
              </a:rPr>
              <a:t>SEARCH AND RECORD MANAGEMENT</a:t>
            </a:r>
          </a:p>
        </p:txBody>
      </p:sp>
      <p:sp>
        <p:nvSpPr>
          <p:cNvPr id="3" name="Pentagon 57">
            <a:extLst>
              <a:ext uri="{FF2B5EF4-FFF2-40B4-BE49-F238E27FC236}">
                <a16:creationId xmlns:a16="http://schemas.microsoft.com/office/drawing/2014/main" id="{BCAD6288-0743-75CB-DE69-AC134594B202}"/>
              </a:ext>
            </a:extLst>
          </p:cNvPr>
          <p:cNvSpPr/>
          <p:nvPr/>
        </p:nvSpPr>
        <p:spPr>
          <a:xfrm>
            <a:off x="1155701" y="7112000"/>
            <a:ext cx="9829800" cy="1278169"/>
          </a:xfrm>
          <a:prstGeom prst="homePlate">
            <a:avLst/>
          </a:prstGeom>
          <a:no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400" b="1" dirty="0">
                <a:solidFill>
                  <a:schemeClr val="bg1"/>
                </a:solidFill>
                <a:latin typeface="Bahnschrift" panose="020B0502040204020203" pitchFamily="34" charset="0"/>
                <a:cs typeface="Dubai Light" panose="020B0303030403030204" pitchFamily="34" charset="-78"/>
              </a:rPr>
              <a:t>TOOLS USED</a:t>
            </a:r>
          </a:p>
        </p:txBody>
      </p:sp>
    </p:spTree>
    <p:extLst>
      <p:ext uri="{BB962C8B-B14F-4D97-AF65-F5344CB8AC3E}">
        <p14:creationId xmlns:p14="http://schemas.microsoft.com/office/powerpoint/2010/main" val="97160521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A2BDFB-F838-D3FB-33C9-EB6A11C4A265}"/>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0948E40-3FC3-BDAD-8406-87CF6E1A1F1F}"/>
              </a:ext>
            </a:extLst>
          </p:cNvPr>
          <p:cNvPicPr>
            <a:picLocks noChangeAspect="1"/>
          </p:cNvPicPr>
          <p:nvPr/>
        </p:nvPicPr>
        <p:blipFill>
          <a:blip r:embed="rId2">
            <a:extLst>
              <a:ext uri="{28A0092B-C50C-407E-A947-70E740481C1C}">
                <a14:useLocalDpi xmlns:a14="http://schemas.microsoft.com/office/drawing/2010/main" val="0"/>
              </a:ext>
            </a:extLst>
          </a:blip>
          <a:srcRect t="6014" b="6014"/>
          <a:stretch/>
        </p:blipFill>
        <p:spPr>
          <a:xfrm>
            <a:off x="1" y="-27195"/>
            <a:ext cx="12192000" cy="6862830"/>
          </a:xfrm>
          <a:prstGeom prst="rect">
            <a:avLst/>
          </a:prstGeom>
        </p:spPr>
      </p:pic>
      <p:sp>
        <p:nvSpPr>
          <p:cNvPr id="12" name="Rectangle 11">
            <a:extLst>
              <a:ext uri="{FF2B5EF4-FFF2-40B4-BE49-F238E27FC236}">
                <a16:creationId xmlns:a16="http://schemas.microsoft.com/office/drawing/2014/main" id="{B11CBB17-F4D1-6F30-B444-E8D324C2CFE4}"/>
              </a:ext>
            </a:extLst>
          </p:cNvPr>
          <p:cNvSpPr/>
          <p:nvPr/>
        </p:nvSpPr>
        <p:spPr>
          <a:xfrm>
            <a:off x="-9524" y="-9525"/>
            <a:ext cx="12201524" cy="6877199"/>
          </a:xfrm>
          <a:prstGeom prst="rect">
            <a:avLst/>
          </a:prstGeom>
          <a:solidFill>
            <a:schemeClr val="tx1">
              <a:alpha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1" name="Pentagon 57">
            <a:extLst>
              <a:ext uri="{FF2B5EF4-FFF2-40B4-BE49-F238E27FC236}">
                <a16:creationId xmlns:a16="http://schemas.microsoft.com/office/drawing/2014/main" id="{FEA41482-7DF6-6653-4F6E-B508E4642E95}"/>
              </a:ext>
            </a:extLst>
          </p:cNvPr>
          <p:cNvSpPr/>
          <p:nvPr/>
        </p:nvSpPr>
        <p:spPr>
          <a:xfrm>
            <a:off x="1155701" y="152400"/>
            <a:ext cx="9829800" cy="1278169"/>
          </a:xfrm>
          <a:prstGeom prst="homePlate">
            <a:avLst/>
          </a:prstGeom>
          <a:no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400" b="1" dirty="0">
                <a:solidFill>
                  <a:schemeClr val="bg1"/>
                </a:solidFill>
                <a:latin typeface="Bahnschrift" panose="020B0502040204020203" pitchFamily="34" charset="0"/>
                <a:cs typeface="Dubai Light" panose="020B0303030403030204" pitchFamily="34" charset="-78"/>
              </a:rPr>
              <a:t>TOOLS USED</a:t>
            </a:r>
          </a:p>
        </p:txBody>
      </p:sp>
      <p:grpSp>
        <p:nvGrpSpPr>
          <p:cNvPr id="34" name="Group 4">
            <a:extLst>
              <a:ext uri="{FF2B5EF4-FFF2-40B4-BE49-F238E27FC236}">
                <a16:creationId xmlns:a16="http://schemas.microsoft.com/office/drawing/2014/main" id="{C47D2FB5-CFAA-7D40-7B6E-3ABF45893D41}"/>
              </a:ext>
            </a:extLst>
          </p:cNvPr>
          <p:cNvGrpSpPr/>
          <p:nvPr/>
        </p:nvGrpSpPr>
        <p:grpSpPr>
          <a:xfrm>
            <a:off x="-9144798" y="3177972"/>
            <a:ext cx="345325" cy="428828"/>
            <a:chOff x="0" y="0"/>
            <a:chExt cx="812800" cy="812800"/>
          </a:xfrm>
        </p:grpSpPr>
        <p:sp>
          <p:nvSpPr>
            <p:cNvPr id="35" name="Freeform 5">
              <a:extLst>
                <a:ext uri="{FF2B5EF4-FFF2-40B4-BE49-F238E27FC236}">
                  <a16:creationId xmlns:a16="http://schemas.microsoft.com/office/drawing/2014/main" id="{B1A0B373-CA4A-08F7-1918-7EC017066206}"/>
                </a:ext>
              </a:extLst>
            </p:cNvPr>
            <p:cNvSpPr/>
            <p:nvPr/>
          </p:nvSpPr>
          <p:spPr>
            <a:xfrm>
              <a:off x="0" y="0"/>
              <a:ext cx="812800" cy="812800"/>
            </a:xfrm>
            <a:custGeom>
              <a:avLst/>
              <a:gdLst/>
              <a:ahLst/>
              <a:cxnLst/>
              <a:rect l="l" t="t" r="r" b="b"/>
              <a:pathLst>
                <a:path w="812800" h="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chemeClr val="bg1"/>
            </a:solidFill>
            <a:ln cap="sq">
              <a:noFill/>
              <a:prstDash val="solid"/>
              <a:miter/>
            </a:ln>
          </p:spPr>
          <p:txBody>
            <a:bodyPr/>
            <a:lstStyle/>
            <a:p>
              <a:endParaRPr lang="en-AU" dirty="0"/>
            </a:p>
          </p:txBody>
        </p:sp>
        <p:sp>
          <p:nvSpPr>
            <p:cNvPr id="36" name="TextBox 6">
              <a:extLst>
                <a:ext uri="{FF2B5EF4-FFF2-40B4-BE49-F238E27FC236}">
                  <a16:creationId xmlns:a16="http://schemas.microsoft.com/office/drawing/2014/main" id="{791E45D9-B742-7DDE-634A-D7BE3D76C2A1}"/>
                </a:ext>
              </a:extLst>
            </p:cNvPr>
            <p:cNvSpPr txBox="1"/>
            <p:nvPr/>
          </p:nvSpPr>
          <p:spPr>
            <a:xfrm>
              <a:off x="190500" y="219075"/>
              <a:ext cx="431800" cy="403225"/>
            </a:xfrm>
            <a:prstGeom prst="rect">
              <a:avLst/>
            </a:prstGeom>
          </p:spPr>
          <p:txBody>
            <a:bodyPr lIns="50800" tIns="50800" rIns="50800" bIns="50800" rtlCol="0" anchor="ctr"/>
            <a:lstStyle/>
            <a:p>
              <a:pPr marL="0" lvl="0" indent="0" algn="ctr">
                <a:lnSpc>
                  <a:spcPts val="2266"/>
                </a:lnSpc>
                <a:spcBef>
                  <a:spcPct val="0"/>
                </a:spcBef>
              </a:pPr>
              <a:endParaRPr dirty="0"/>
            </a:p>
          </p:txBody>
        </p:sp>
      </p:grpSp>
      <p:grpSp>
        <p:nvGrpSpPr>
          <p:cNvPr id="37" name="Group 7">
            <a:extLst>
              <a:ext uri="{FF2B5EF4-FFF2-40B4-BE49-F238E27FC236}">
                <a16:creationId xmlns:a16="http://schemas.microsoft.com/office/drawing/2014/main" id="{03AF6EF4-9832-D99D-07E8-B2E1F3B507E0}"/>
              </a:ext>
            </a:extLst>
          </p:cNvPr>
          <p:cNvGrpSpPr/>
          <p:nvPr/>
        </p:nvGrpSpPr>
        <p:grpSpPr>
          <a:xfrm>
            <a:off x="-11658601" y="3177972"/>
            <a:ext cx="345325" cy="428828"/>
            <a:chOff x="0" y="0"/>
            <a:chExt cx="812800" cy="812800"/>
          </a:xfrm>
        </p:grpSpPr>
        <p:sp>
          <p:nvSpPr>
            <p:cNvPr id="38" name="Freeform 8">
              <a:extLst>
                <a:ext uri="{FF2B5EF4-FFF2-40B4-BE49-F238E27FC236}">
                  <a16:creationId xmlns:a16="http://schemas.microsoft.com/office/drawing/2014/main" id="{2E002D78-13EA-6086-F2D3-AD9C8801E527}"/>
                </a:ext>
              </a:extLst>
            </p:cNvPr>
            <p:cNvSpPr/>
            <p:nvPr/>
          </p:nvSpPr>
          <p:spPr>
            <a:xfrm>
              <a:off x="0" y="0"/>
              <a:ext cx="812800" cy="812800"/>
            </a:xfrm>
            <a:custGeom>
              <a:avLst/>
              <a:gdLst/>
              <a:ahLst/>
              <a:cxnLst/>
              <a:rect l="l" t="t" r="r" b="b"/>
              <a:pathLst>
                <a:path w="812800" h="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chemeClr val="bg1"/>
            </a:solidFill>
          </p:spPr>
          <p:txBody>
            <a:bodyPr/>
            <a:lstStyle/>
            <a:p>
              <a:endParaRPr lang="en-AU" dirty="0"/>
            </a:p>
          </p:txBody>
        </p:sp>
        <p:sp>
          <p:nvSpPr>
            <p:cNvPr id="39" name="TextBox 9">
              <a:extLst>
                <a:ext uri="{FF2B5EF4-FFF2-40B4-BE49-F238E27FC236}">
                  <a16:creationId xmlns:a16="http://schemas.microsoft.com/office/drawing/2014/main" id="{BA621B89-49E5-C00D-43B9-E76A774AF3CD}"/>
                </a:ext>
              </a:extLst>
            </p:cNvPr>
            <p:cNvSpPr txBox="1"/>
            <p:nvPr/>
          </p:nvSpPr>
          <p:spPr>
            <a:xfrm>
              <a:off x="190500" y="219075"/>
              <a:ext cx="431800" cy="403225"/>
            </a:xfrm>
            <a:prstGeom prst="rect">
              <a:avLst/>
            </a:prstGeom>
          </p:spPr>
          <p:txBody>
            <a:bodyPr lIns="50800" tIns="50800" rIns="50800" bIns="50800" rtlCol="0" anchor="ctr"/>
            <a:lstStyle/>
            <a:p>
              <a:pPr algn="ctr">
                <a:lnSpc>
                  <a:spcPts val="2266"/>
                </a:lnSpc>
              </a:pPr>
              <a:endParaRPr dirty="0"/>
            </a:p>
          </p:txBody>
        </p:sp>
      </p:grpSp>
      <p:grpSp>
        <p:nvGrpSpPr>
          <p:cNvPr id="40" name="Group 10">
            <a:extLst>
              <a:ext uri="{FF2B5EF4-FFF2-40B4-BE49-F238E27FC236}">
                <a16:creationId xmlns:a16="http://schemas.microsoft.com/office/drawing/2014/main" id="{7ACFB659-446A-7A9F-9203-F6F30E67115F}"/>
              </a:ext>
            </a:extLst>
          </p:cNvPr>
          <p:cNvGrpSpPr/>
          <p:nvPr/>
        </p:nvGrpSpPr>
        <p:grpSpPr>
          <a:xfrm>
            <a:off x="-6361137" y="3177972"/>
            <a:ext cx="345325" cy="428828"/>
            <a:chOff x="0" y="0"/>
            <a:chExt cx="812800" cy="812800"/>
          </a:xfrm>
        </p:grpSpPr>
        <p:sp>
          <p:nvSpPr>
            <p:cNvPr id="41" name="Freeform 11">
              <a:extLst>
                <a:ext uri="{FF2B5EF4-FFF2-40B4-BE49-F238E27FC236}">
                  <a16:creationId xmlns:a16="http://schemas.microsoft.com/office/drawing/2014/main" id="{EC89A477-3FCC-F000-98CF-C9C4070D3676}"/>
                </a:ext>
              </a:extLst>
            </p:cNvPr>
            <p:cNvSpPr/>
            <p:nvPr/>
          </p:nvSpPr>
          <p:spPr>
            <a:xfrm>
              <a:off x="0" y="0"/>
              <a:ext cx="812800" cy="812800"/>
            </a:xfrm>
            <a:custGeom>
              <a:avLst/>
              <a:gdLst/>
              <a:ahLst/>
              <a:cxnLst/>
              <a:rect l="l" t="t" r="r" b="b"/>
              <a:pathLst>
                <a:path w="812800" h="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chemeClr val="bg1"/>
            </a:solidFill>
            <a:ln cap="sq">
              <a:noFill/>
              <a:prstDash val="solid"/>
              <a:miter/>
            </a:ln>
          </p:spPr>
          <p:txBody>
            <a:bodyPr/>
            <a:lstStyle/>
            <a:p>
              <a:endParaRPr lang="en-AU" dirty="0"/>
            </a:p>
          </p:txBody>
        </p:sp>
        <p:sp>
          <p:nvSpPr>
            <p:cNvPr id="42" name="TextBox 12">
              <a:extLst>
                <a:ext uri="{FF2B5EF4-FFF2-40B4-BE49-F238E27FC236}">
                  <a16:creationId xmlns:a16="http://schemas.microsoft.com/office/drawing/2014/main" id="{5DE97ABE-97E1-A94C-8B12-1BDD3F01D1DB}"/>
                </a:ext>
              </a:extLst>
            </p:cNvPr>
            <p:cNvSpPr txBox="1"/>
            <p:nvPr/>
          </p:nvSpPr>
          <p:spPr>
            <a:xfrm>
              <a:off x="190500" y="219075"/>
              <a:ext cx="431800" cy="403225"/>
            </a:xfrm>
            <a:prstGeom prst="rect">
              <a:avLst/>
            </a:prstGeom>
          </p:spPr>
          <p:txBody>
            <a:bodyPr lIns="50800" tIns="50800" rIns="50800" bIns="50800" rtlCol="0" anchor="ctr"/>
            <a:lstStyle/>
            <a:p>
              <a:pPr marL="0" lvl="0" indent="0" algn="ctr">
                <a:lnSpc>
                  <a:spcPts val="2266"/>
                </a:lnSpc>
                <a:spcBef>
                  <a:spcPct val="0"/>
                </a:spcBef>
              </a:pPr>
              <a:endParaRPr dirty="0"/>
            </a:p>
          </p:txBody>
        </p:sp>
      </p:grpSp>
      <p:grpSp>
        <p:nvGrpSpPr>
          <p:cNvPr id="43" name="Group 13">
            <a:extLst>
              <a:ext uri="{FF2B5EF4-FFF2-40B4-BE49-F238E27FC236}">
                <a16:creationId xmlns:a16="http://schemas.microsoft.com/office/drawing/2014/main" id="{DAFFEF40-1FFA-608D-5319-6235936CEBF5}"/>
              </a:ext>
            </a:extLst>
          </p:cNvPr>
          <p:cNvGrpSpPr/>
          <p:nvPr/>
        </p:nvGrpSpPr>
        <p:grpSpPr>
          <a:xfrm>
            <a:off x="-4041025" y="3177972"/>
            <a:ext cx="345325" cy="428828"/>
            <a:chOff x="0" y="0"/>
            <a:chExt cx="812800" cy="812800"/>
          </a:xfrm>
        </p:grpSpPr>
        <p:sp>
          <p:nvSpPr>
            <p:cNvPr id="44" name="Freeform 14">
              <a:extLst>
                <a:ext uri="{FF2B5EF4-FFF2-40B4-BE49-F238E27FC236}">
                  <a16:creationId xmlns:a16="http://schemas.microsoft.com/office/drawing/2014/main" id="{C7DC9AFE-AA10-E2B7-5EDE-62C6890572B3}"/>
                </a:ext>
              </a:extLst>
            </p:cNvPr>
            <p:cNvSpPr/>
            <p:nvPr/>
          </p:nvSpPr>
          <p:spPr>
            <a:xfrm>
              <a:off x="0" y="0"/>
              <a:ext cx="812800" cy="812800"/>
            </a:xfrm>
            <a:custGeom>
              <a:avLst/>
              <a:gdLst/>
              <a:ahLst/>
              <a:cxnLst/>
              <a:rect l="l" t="t" r="r" b="b"/>
              <a:pathLst>
                <a:path w="812800" h="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chemeClr val="bg1"/>
            </a:solidFill>
            <a:ln cap="sq">
              <a:noFill/>
              <a:prstDash val="solid"/>
              <a:miter/>
            </a:ln>
          </p:spPr>
          <p:txBody>
            <a:bodyPr/>
            <a:lstStyle/>
            <a:p>
              <a:endParaRPr lang="en-AU" dirty="0"/>
            </a:p>
          </p:txBody>
        </p:sp>
        <p:sp>
          <p:nvSpPr>
            <p:cNvPr id="45" name="TextBox 15">
              <a:extLst>
                <a:ext uri="{FF2B5EF4-FFF2-40B4-BE49-F238E27FC236}">
                  <a16:creationId xmlns:a16="http://schemas.microsoft.com/office/drawing/2014/main" id="{CBABE1C0-FF76-E4FC-4234-7DF8FEB82BAE}"/>
                </a:ext>
              </a:extLst>
            </p:cNvPr>
            <p:cNvSpPr txBox="1"/>
            <p:nvPr/>
          </p:nvSpPr>
          <p:spPr>
            <a:xfrm>
              <a:off x="190500" y="219075"/>
              <a:ext cx="431800" cy="403225"/>
            </a:xfrm>
            <a:prstGeom prst="rect">
              <a:avLst/>
            </a:prstGeom>
          </p:spPr>
          <p:txBody>
            <a:bodyPr lIns="50800" tIns="50800" rIns="50800" bIns="50800" rtlCol="0" anchor="ctr"/>
            <a:lstStyle/>
            <a:p>
              <a:pPr marL="0" lvl="0" indent="0" algn="ctr">
                <a:lnSpc>
                  <a:spcPts val="2266"/>
                </a:lnSpc>
                <a:spcBef>
                  <a:spcPct val="0"/>
                </a:spcBef>
              </a:pPr>
              <a:endParaRPr dirty="0"/>
            </a:p>
          </p:txBody>
        </p:sp>
      </p:grpSp>
      <p:cxnSp>
        <p:nvCxnSpPr>
          <p:cNvPr id="47" name="Straight Connector 46">
            <a:extLst>
              <a:ext uri="{FF2B5EF4-FFF2-40B4-BE49-F238E27FC236}">
                <a16:creationId xmlns:a16="http://schemas.microsoft.com/office/drawing/2014/main" id="{B1FD5382-F3A0-E1AB-BE37-F883A8CBFFCA}"/>
              </a:ext>
            </a:extLst>
          </p:cNvPr>
          <p:cNvCxnSpPr>
            <a:cxnSpLocks/>
          </p:cNvCxnSpPr>
          <p:nvPr/>
        </p:nvCxnSpPr>
        <p:spPr>
          <a:xfrm>
            <a:off x="-13039724" y="3390975"/>
            <a:ext cx="12201524"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49" name="Freeform 24">
            <a:extLst>
              <a:ext uri="{FF2B5EF4-FFF2-40B4-BE49-F238E27FC236}">
                <a16:creationId xmlns:a16="http://schemas.microsoft.com/office/drawing/2014/main" id="{DE0CC451-723C-8951-7FA3-0EC7A5D6B812}"/>
              </a:ext>
            </a:extLst>
          </p:cNvPr>
          <p:cNvSpPr/>
          <p:nvPr/>
        </p:nvSpPr>
        <p:spPr>
          <a:xfrm>
            <a:off x="-12202000" y="3523964"/>
            <a:ext cx="1432122" cy="1460955"/>
          </a:xfrm>
          <a:custGeom>
            <a:avLst/>
            <a:gdLst/>
            <a:ahLst/>
            <a:cxnLst/>
            <a:rect l="l" t="t" r="r" b="b"/>
            <a:pathLst>
              <a:path w="2395283" h="1833168">
                <a:moveTo>
                  <a:pt x="0" y="0"/>
                </a:moveTo>
                <a:lnTo>
                  <a:pt x="2395283" y="0"/>
                </a:lnTo>
                <a:lnTo>
                  <a:pt x="2395283" y="1833167"/>
                </a:lnTo>
                <a:lnTo>
                  <a:pt x="0" y="1833167"/>
                </a:lnTo>
                <a:lnTo>
                  <a:pt x="0" y="0"/>
                </a:lnTo>
                <a:close/>
              </a:path>
            </a:pathLst>
          </a:custGeom>
          <a:blipFill>
            <a:blip r:embed="rId3"/>
            <a:stretch>
              <a:fillRect/>
            </a:stretch>
          </a:blipFill>
        </p:spPr>
        <p:txBody>
          <a:bodyPr/>
          <a:lstStyle/>
          <a:p>
            <a:endParaRPr lang="en-AU" dirty="0"/>
          </a:p>
        </p:txBody>
      </p:sp>
      <p:sp>
        <p:nvSpPr>
          <p:cNvPr id="52" name="Rectangle 51">
            <a:extLst>
              <a:ext uri="{FF2B5EF4-FFF2-40B4-BE49-F238E27FC236}">
                <a16:creationId xmlns:a16="http://schemas.microsoft.com/office/drawing/2014/main" id="{4DA082B2-0612-C89D-1796-7196F4C513C6}"/>
              </a:ext>
            </a:extLst>
          </p:cNvPr>
          <p:cNvSpPr/>
          <p:nvPr/>
        </p:nvSpPr>
        <p:spPr>
          <a:xfrm>
            <a:off x="-12192000" y="2120900"/>
            <a:ext cx="1358900" cy="84124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600" dirty="0">
                <a:latin typeface="Bahnschrift" panose="020B0502040204020203" pitchFamily="34" charset="0"/>
              </a:rPr>
              <a:t>01</a:t>
            </a:r>
          </a:p>
        </p:txBody>
      </p:sp>
      <p:sp>
        <p:nvSpPr>
          <p:cNvPr id="61" name="Rectangle 60">
            <a:extLst>
              <a:ext uri="{FF2B5EF4-FFF2-40B4-BE49-F238E27FC236}">
                <a16:creationId xmlns:a16="http://schemas.microsoft.com/office/drawing/2014/main" id="{6381AB28-B31E-CE0C-9E07-421BB7B8C54D}"/>
              </a:ext>
            </a:extLst>
          </p:cNvPr>
          <p:cNvSpPr/>
          <p:nvPr/>
        </p:nvSpPr>
        <p:spPr>
          <a:xfrm>
            <a:off x="-9743312" y="2145127"/>
            <a:ext cx="1358900" cy="84124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600" dirty="0">
                <a:latin typeface="Bahnschrift" panose="020B0502040204020203" pitchFamily="34" charset="0"/>
              </a:rPr>
              <a:t>02</a:t>
            </a:r>
          </a:p>
        </p:txBody>
      </p:sp>
      <p:sp>
        <p:nvSpPr>
          <p:cNvPr id="62" name="Rectangle 61">
            <a:extLst>
              <a:ext uri="{FF2B5EF4-FFF2-40B4-BE49-F238E27FC236}">
                <a16:creationId xmlns:a16="http://schemas.microsoft.com/office/drawing/2014/main" id="{E8642726-B6B0-B19D-512D-FFD35A47106F}"/>
              </a:ext>
            </a:extLst>
          </p:cNvPr>
          <p:cNvSpPr/>
          <p:nvPr/>
        </p:nvSpPr>
        <p:spPr>
          <a:xfrm>
            <a:off x="-6938962" y="2136316"/>
            <a:ext cx="1358900" cy="84124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600" dirty="0">
                <a:latin typeface="Bahnschrift" panose="020B0502040204020203" pitchFamily="34" charset="0"/>
              </a:rPr>
              <a:t>03</a:t>
            </a:r>
          </a:p>
        </p:txBody>
      </p:sp>
      <p:sp>
        <p:nvSpPr>
          <p:cNvPr id="63" name="Rectangle 62">
            <a:extLst>
              <a:ext uri="{FF2B5EF4-FFF2-40B4-BE49-F238E27FC236}">
                <a16:creationId xmlns:a16="http://schemas.microsoft.com/office/drawing/2014/main" id="{C1A96FC1-D560-B8E7-90C5-BBC93E74B45A}"/>
              </a:ext>
            </a:extLst>
          </p:cNvPr>
          <p:cNvSpPr/>
          <p:nvPr/>
        </p:nvSpPr>
        <p:spPr>
          <a:xfrm>
            <a:off x="-4639539" y="2170958"/>
            <a:ext cx="1358900" cy="84124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600" dirty="0">
                <a:latin typeface="Bahnschrift" panose="020B0502040204020203" pitchFamily="34" charset="0"/>
              </a:rPr>
              <a:t>04</a:t>
            </a:r>
          </a:p>
        </p:txBody>
      </p:sp>
      <p:sp>
        <p:nvSpPr>
          <p:cNvPr id="65" name="Freeform 25">
            <a:extLst>
              <a:ext uri="{FF2B5EF4-FFF2-40B4-BE49-F238E27FC236}">
                <a16:creationId xmlns:a16="http://schemas.microsoft.com/office/drawing/2014/main" id="{08948C32-F867-3CCD-C450-FA0DB1494BAF}"/>
              </a:ext>
            </a:extLst>
          </p:cNvPr>
          <p:cNvSpPr/>
          <p:nvPr/>
        </p:nvSpPr>
        <p:spPr>
          <a:xfrm>
            <a:off x="-9630174" y="3700931"/>
            <a:ext cx="1316076" cy="1227356"/>
          </a:xfrm>
          <a:custGeom>
            <a:avLst/>
            <a:gdLst/>
            <a:ahLst/>
            <a:cxnLst/>
            <a:rect l="l" t="t" r="r" b="b"/>
            <a:pathLst>
              <a:path w="1522754" h="1522754">
                <a:moveTo>
                  <a:pt x="0" y="0"/>
                </a:moveTo>
                <a:lnTo>
                  <a:pt x="1522754" y="0"/>
                </a:lnTo>
                <a:lnTo>
                  <a:pt x="1522754" y="1522754"/>
                </a:lnTo>
                <a:lnTo>
                  <a:pt x="0" y="1522754"/>
                </a:lnTo>
                <a:lnTo>
                  <a:pt x="0" y="0"/>
                </a:lnTo>
                <a:close/>
              </a:path>
            </a:pathLst>
          </a:custGeom>
          <a:blipFill>
            <a:blip r:embed="rId4"/>
            <a:stretch>
              <a:fillRect/>
            </a:stretch>
          </a:blipFill>
        </p:spPr>
        <p:txBody>
          <a:bodyPr/>
          <a:lstStyle/>
          <a:p>
            <a:endParaRPr lang="en-AU" dirty="0"/>
          </a:p>
        </p:txBody>
      </p:sp>
      <p:sp>
        <p:nvSpPr>
          <p:cNvPr id="68" name="Flowchart: Alternate Process 67">
            <a:extLst>
              <a:ext uri="{FF2B5EF4-FFF2-40B4-BE49-F238E27FC236}">
                <a16:creationId xmlns:a16="http://schemas.microsoft.com/office/drawing/2014/main" id="{73865BB1-D650-547B-5FEF-D3FA62AFCAA4}"/>
              </a:ext>
            </a:extLst>
          </p:cNvPr>
          <p:cNvSpPr/>
          <p:nvPr/>
        </p:nvSpPr>
        <p:spPr>
          <a:xfrm>
            <a:off x="-12509500" y="4984919"/>
            <a:ext cx="1955800" cy="818977"/>
          </a:xfrm>
          <a:prstGeom prst="flowChartAlternateProcess">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en-GB" dirty="0">
                <a:solidFill>
                  <a:schemeClr val="bg1"/>
                </a:solidFill>
                <a:latin typeface="Bahnschrift" panose="020B0502040204020203" pitchFamily="34" charset="0"/>
              </a:rPr>
              <a:t>QT (FRAMEWORK)</a:t>
            </a:r>
          </a:p>
        </p:txBody>
      </p:sp>
      <p:sp>
        <p:nvSpPr>
          <p:cNvPr id="69" name="Flowchart: Alternate Process 68">
            <a:extLst>
              <a:ext uri="{FF2B5EF4-FFF2-40B4-BE49-F238E27FC236}">
                <a16:creationId xmlns:a16="http://schemas.microsoft.com/office/drawing/2014/main" id="{60DC618F-8CA5-B031-3857-E32CE0D0D65A}"/>
              </a:ext>
            </a:extLst>
          </p:cNvPr>
          <p:cNvSpPr/>
          <p:nvPr/>
        </p:nvSpPr>
        <p:spPr>
          <a:xfrm>
            <a:off x="-9777373" y="5022418"/>
            <a:ext cx="1955800" cy="1010079"/>
          </a:xfrm>
          <a:prstGeom prst="flowChartAlternateProcess">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en-GB" dirty="0">
                <a:solidFill>
                  <a:schemeClr val="bg1"/>
                </a:solidFill>
                <a:latin typeface="Bahnschrift" panose="020B0502040204020203" pitchFamily="34" charset="0"/>
              </a:rPr>
              <a:t>C++  (PROGRAMMING LANGUAGE)</a:t>
            </a:r>
          </a:p>
        </p:txBody>
      </p:sp>
      <p:pic>
        <p:nvPicPr>
          <p:cNvPr id="73" name="Picture 72">
            <a:extLst>
              <a:ext uri="{FF2B5EF4-FFF2-40B4-BE49-F238E27FC236}">
                <a16:creationId xmlns:a16="http://schemas.microsoft.com/office/drawing/2014/main" id="{7EEFBA53-DC06-563A-D246-C45028EC36F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607122" y="3700931"/>
            <a:ext cx="1557796" cy="1557796"/>
          </a:xfrm>
          <a:prstGeom prst="rect">
            <a:avLst/>
          </a:prstGeom>
        </p:spPr>
      </p:pic>
      <p:sp>
        <p:nvSpPr>
          <p:cNvPr id="75" name="Flowchart: Alternate Process 74">
            <a:extLst>
              <a:ext uri="{FF2B5EF4-FFF2-40B4-BE49-F238E27FC236}">
                <a16:creationId xmlns:a16="http://schemas.microsoft.com/office/drawing/2014/main" id="{016DB88B-031A-39B2-B1EE-5A10A97DCE52}"/>
              </a:ext>
            </a:extLst>
          </p:cNvPr>
          <p:cNvSpPr/>
          <p:nvPr/>
        </p:nvSpPr>
        <p:spPr>
          <a:xfrm>
            <a:off x="-5405786" y="5213845"/>
            <a:ext cx="3155124" cy="1010079"/>
          </a:xfrm>
          <a:prstGeom prst="flowChartAlternateProcess">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en-GB" dirty="0">
                <a:solidFill>
                  <a:schemeClr val="bg1"/>
                </a:solidFill>
                <a:latin typeface="Bahnschrift" panose="020B0502040204020203" pitchFamily="34" charset="0"/>
              </a:rPr>
              <a:t>GITHUB</a:t>
            </a:r>
          </a:p>
          <a:p>
            <a:pPr algn="ctr"/>
            <a:r>
              <a:rPr lang="en-GB" dirty="0">
                <a:solidFill>
                  <a:schemeClr val="bg1"/>
                </a:solidFill>
                <a:latin typeface="Bahnschrift" panose="020B0502040204020203" pitchFamily="34" charset="0"/>
              </a:rPr>
              <a:t>(STORE CODE AND COLLABORATION)</a:t>
            </a:r>
          </a:p>
        </p:txBody>
      </p:sp>
      <p:pic>
        <p:nvPicPr>
          <p:cNvPr id="79" name="Picture 78">
            <a:extLst>
              <a:ext uri="{FF2B5EF4-FFF2-40B4-BE49-F238E27FC236}">
                <a16:creationId xmlns:a16="http://schemas.microsoft.com/office/drawing/2014/main" id="{F922ECAF-AABB-CDB2-2F0D-105CF2246C96}"/>
              </a:ext>
            </a:extLst>
          </p:cNvPr>
          <p:cNvPicPr>
            <a:picLocks noChangeAspect="1"/>
          </p:cNvPicPr>
          <p:nvPr/>
        </p:nvPicPr>
        <p:blipFill>
          <a:blip r:embed="rId6"/>
          <a:stretch>
            <a:fillRect/>
          </a:stretch>
        </p:blipFill>
        <p:spPr>
          <a:xfrm>
            <a:off x="-7469986" y="3819803"/>
            <a:ext cx="2217698" cy="1055410"/>
          </a:xfrm>
          <a:prstGeom prst="rect">
            <a:avLst/>
          </a:prstGeom>
        </p:spPr>
      </p:pic>
      <p:sp>
        <p:nvSpPr>
          <p:cNvPr id="81" name="Flowchart: Alternate Process 80">
            <a:extLst>
              <a:ext uri="{FF2B5EF4-FFF2-40B4-BE49-F238E27FC236}">
                <a16:creationId xmlns:a16="http://schemas.microsoft.com/office/drawing/2014/main" id="{7DAD1335-5A13-FD66-7FAB-08978E7F483E}"/>
              </a:ext>
            </a:extLst>
          </p:cNvPr>
          <p:cNvSpPr/>
          <p:nvPr/>
        </p:nvSpPr>
        <p:spPr>
          <a:xfrm>
            <a:off x="-7438510" y="5067363"/>
            <a:ext cx="1955800" cy="1010079"/>
          </a:xfrm>
          <a:prstGeom prst="flowChartAlternateProcess">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en-GB" dirty="0">
                <a:solidFill>
                  <a:schemeClr val="bg1"/>
                </a:solidFill>
                <a:latin typeface="Bahnschrift" panose="020B0502040204020203" pitchFamily="34" charset="0"/>
              </a:rPr>
              <a:t>SQLite</a:t>
            </a:r>
          </a:p>
          <a:p>
            <a:pPr algn="ctr"/>
            <a:r>
              <a:rPr lang="en-GB" dirty="0">
                <a:solidFill>
                  <a:schemeClr val="bg1"/>
                </a:solidFill>
                <a:latin typeface="Bahnschrift" panose="020B0502040204020203" pitchFamily="34" charset="0"/>
              </a:rPr>
              <a:t>(DATABASE SERVER)</a:t>
            </a:r>
          </a:p>
        </p:txBody>
      </p:sp>
    </p:spTree>
    <p:extLst>
      <p:ext uri="{BB962C8B-B14F-4D97-AF65-F5344CB8AC3E}">
        <p14:creationId xmlns:p14="http://schemas.microsoft.com/office/powerpoint/2010/main" val="229497439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947F08-12BB-D5CB-C12E-56F1F288CAEC}"/>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80FC554F-A4D1-EDD6-316B-B6F8884FE38E}"/>
              </a:ext>
            </a:extLst>
          </p:cNvPr>
          <p:cNvPicPr>
            <a:picLocks noChangeAspect="1"/>
          </p:cNvPicPr>
          <p:nvPr/>
        </p:nvPicPr>
        <p:blipFill>
          <a:blip r:embed="rId2">
            <a:extLst>
              <a:ext uri="{28A0092B-C50C-407E-A947-70E740481C1C}">
                <a14:useLocalDpi xmlns:a14="http://schemas.microsoft.com/office/drawing/2010/main" val="0"/>
              </a:ext>
            </a:extLst>
          </a:blip>
          <a:srcRect t="7754" b="7754"/>
          <a:stretch/>
        </p:blipFill>
        <p:spPr>
          <a:xfrm>
            <a:off x="1" y="7346213"/>
            <a:ext cx="12192000" cy="6877199"/>
          </a:xfrm>
          <a:prstGeom prst="rect">
            <a:avLst/>
          </a:prstGeom>
        </p:spPr>
      </p:pic>
      <p:sp>
        <p:nvSpPr>
          <p:cNvPr id="10" name="Rectangle 9">
            <a:extLst>
              <a:ext uri="{FF2B5EF4-FFF2-40B4-BE49-F238E27FC236}">
                <a16:creationId xmlns:a16="http://schemas.microsoft.com/office/drawing/2014/main" id="{A5F46D4E-A57C-7A82-20CF-95C6CF85E270}"/>
              </a:ext>
            </a:extLst>
          </p:cNvPr>
          <p:cNvSpPr/>
          <p:nvPr/>
        </p:nvSpPr>
        <p:spPr>
          <a:xfrm>
            <a:off x="-25400" y="7346213"/>
            <a:ext cx="12217400" cy="6909163"/>
          </a:xfrm>
          <a:prstGeom prst="rect">
            <a:avLst/>
          </a:prstGeom>
          <a:solidFill>
            <a:schemeClr val="tx1">
              <a:alpha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5" name="Picture 4">
            <a:extLst>
              <a:ext uri="{FF2B5EF4-FFF2-40B4-BE49-F238E27FC236}">
                <a16:creationId xmlns:a16="http://schemas.microsoft.com/office/drawing/2014/main" id="{E13340BF-5A37-206C-AF9F-C63A62C4F533}"/>
              </a:ext>
            </a:extLst>
          </p:cNvPr>
          <p:cNvPicPr>
            <a:picLocks noChangeAspect="1"/>
          </p:cNvPicPr>
          <p:nvPr/>
        </p:nvPicPr>
        <p:blipFill>
          <a:blip r:embed="rId3">
            <a:extLst>
              <a:ext uri="{28A0092B-C50C-407E-A947-70E740481C1C}">
                <a14:useLocalDpi xmlns:a14="http://schemas.microsoft.com/office/drawing/2010/main" val="0"/>
              </a:ext>
            </a:extLst>
          </a:blip>
          <a:srcRect t="6014" b="6014"/>
          <a:stretch/>
        </p:blipFill>
        <p:spPr>
          <a:xfrm>
            <a:off x="1" y="-27195"/>
            <a:ext cx="12192000" cy="6862830"/>
          </a:xfrm>
          <a:prstGeom prst="rect">
            <a:avLst/>
          </a:prstGeom>
        </p:spPr>
      </p:pic>
      <p:sp>
        <p:nvSpPr>
          <p:cNvPr id="12" name="Rectangle 11">
            <a:extLst>
              <a:ext uri="{FF2B5EF4-FFF2-40B4-BE49-F238E27FC236}">
                <a16:creationId xmlns:a16="http://schemas.microsoft.com/office/drawing/2014/main" id="{AEE12225-DF3E-DA85-9521-0CB25339CC0D}"/>
              </a:ext>
            </a:extLst>
          </p:cNvPr>
          <p:cNvSpPr/>
          <p:nvPr/>
        </p:nvSpPr>
        <p:spPr>
          <a:xfrm>
            <a:off x="-9524" y="-9525"/>
            <a:ext cx="12201524" cy="6877199"/>
          </a:xfrm>
          <a:prstGeom prst="rect">
            <a:avLst/>
          </a:prstGeom>
          <a:solidFill>
            <a:schemeClr val="tx1">
              <a:alpha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1" name="Pentagon 57">
            <a:extLst>
              <a:ext uri="{FF2B5EF4-FFF2-40B4-BE49-F238E27FC236}">
                <a16:creationId xmlns:a16="http://schemas.microsoft.com/office/drawing/2014/main" id="{93C740E8-16F7-B8C1-0AEB-E5F2F3B4153A}"/>
              </a:ext>
            </a:extLst>
          </p:cNvPr>
          <p:cNvSpPr/>
          <p:nvPr/>
        </p:nvSpPr>
        <p:spPr>
          <a:xfrm>
            <a:off x="1155701" y="152400"/>
            <a:ext cx="9829800" cy="1278169"/>
          </a:xfrm>
          <a:prstGeom prst="homePlate">
            <a:avLst/>
          </a:prstGeom>
          <a:no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400" b="1" dirty="0">
                <a:solidFill>
                  <a:schemeClr val="bg1"/>
                </a:solidFill>
                <a:latin typeface="Bahnschrift" panose="020B0502040204020203" pitchFamily="34" charset="0"/>
                <a:cs typeface="Dubai Light" panose="020B0303030403030204" pitchFamily="34" charset="-78"/>
              </a:rPr>
              <a:t>TOOLS USED</a:t>
            </a:r>
          </a:p>
        </p:txBody>
      </p:sp>
      <p:grpSp>
        <p:nvGrpSpPr>
          <p:cNvPr id="34" name="Group 4">
            <a:extLst>
              <a:ext uri="{FF2B5EF4-FFF2-40B4-BE49-F238E27FC236}">
                <a16:creationId xmlns:a16="http://schemas.microsoft.com/office/drawing/2014/main" id="{D13054F8-204A-20C0-41C5-236E6C47BEC7}"/>
              </a:ext>
            </a:extLst>
          </p:cNvPr>
          <p:cNvGrpSpPr/>
          <p:nvPr/>
        </p:nvGrpSpPr>
        <p:grpSpPr>
          <a:xfrm>
            <a:off x="3885402" y="3177972"/>
            <a:ext cx="345325" cy="428828"/>
            <a:chOff x="0" y="0"/>
            <a:chExt cx="812800" cy="812800"/>
          </a:xfrm>
        </p:grpSpPr>
        <p:sp>
          <p:nvSpPr>
            <p:cNvPr id="35" name="Freeform 5">
              <a:extLst>
                <a:ext uri="{FF2B5EF4-FFF2-40B4-BE49-F238E27FC236}">
                  <a16:creationId xmlns:a16="http://schemas.microsoft.com/office/drawing/2014/main" id="{2EA76802-A17E-40A8-CB71-A44BE18E8C33}"/>
                </a:ext>
              </a:extLst>
            </p:cNvPr>
            <p:cNvSpPr/>
            <p:nvPr/>
          </p:nvSpPr>
          <p:spPr>
            <a:xfrm>
              <a:off x="0" y="0"/>
              <a:ext cx="812800" cy="812800"/>
            </a:xfrm>
            <a:custGeom>
              <a:avLst/>
              <a:gdLst/>
              <a:ahLst/>
              <a:cxnLst/>
              <a:rect l="l" t="t" r="r" b="b"/>
              <a:pathLst>
                <a:path w="812800" h="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chemeClr val="bg1"/>
            </a:solidFill>
            <a:ln cap="sq">
              <a:noFill/>
              <a:prstDash val="solid"/>
              <a:miter/>
            </a:ln>
          </p:spPr>
          <p:txBody>
            <a:bodyPr/>
            <a:lstStyle/>
            <a:p>
              <a:endParaRPr lang="en-AU" dirty="0"/>
            </a:p>
          </p:txBody>
        </p:sp>
        <p:sp>
          <p:nvSpPr>
            <p:cNvPr id="36" name="TextBox 6">
              <a:extLst>
                <a:ext uri="{FF2B5EF4-FFF2-40B4-BE49-F238E27FC236}">
                  <a16:creationId xmlns:a16="http://schemas.microsoft.com/office/drawing/2014/main" id="{D2843D33-339C-C0C4-0881-9149127F78B3}"/>
                </a:ext>
              </a:extLst>
            </p:cNvPr>
            <p:cNvSpPr txBox="1"/>
            <p:nvPr/>
          </p:nvSpPr>
          <p:spPr>
            <a:xfrm>
              <a:off x="190500" y="219075"/>
              <a:ext cx="431800" cy="403225"/>
            </a:xfrm>
            <a:prstGeom prst="rect">
              <a:avLst/>
            </a:prstGeom>
          </p:spPr>
          <p:txBody>
            <a:bodyPr lIns="50800" tIns="50800" rIns="50800" bIns="50800" rtlCol="0" anchor="ctr"/>
            <a:lstStyle/>
            <a:p>
              <a:pPr marL="0" lvl="0" indent="0" algn="ctr">
                <a:lnSpc>
                  <a:spcPts val="2266"/>
                </a:lnSpc>
                <a:spcBef>
                  <a:spcPct val="0"/>
                </a:spcBef>
              </a:pPr>
              <a:endParaRPr dirty="0"/>
            </a:p>
          </p:txBody>
        </p:sp>
      </p:grpSp>
      <p:grpSp>
        <p:nvGrpSpPr>
          <p:cNvPr id="37" name="Group 7">
            <a:extLst>
              <a:ext uri="{FF2B5EF4-FFF2-40B4-BE49-F238E27FC236}">
                <a16:creationId xmlns:a16="http://schemas.microsoft.com/office/drawing/2014/main" id="{BE74640B-D6F1-1FF7-FF3F-F6E1C0BEE069}"/>
              </a:ext>
            </a:extLst>
          </p:cNvPr>
          <p:cNvGrpSpPr/>
          <p:nvPr/>
        </p:nvGrpSpPr>
        <p:grpSpPr>
          <a:xfrm>
            <a:off x="1371599" y="3177972"/>
            <a:ext cx="345325" cy="428828"/>
            <a:chOff x="0" y="0"/>
            <a:chExt cx="812800" cy="812800"/>
          </a:xfrm>
        </p:grpSpPr>
        <p:sp>
          <p:nvSpPr>
            <p:cNvPr id="38" name="Freeform 8">
              <a:extLst>
                <a:ext uri="{FF2B5EF4-FFF2-40B4-BE49-F238E27FC236}">
                  <a16:creationId xmlns:a16="http://schemas.microsoft.com/office/drawing/2014/main" id="{80BB836B-5338-5EDA-B613-1DB50BBAA205}"/>
                </a:ext>
              </a:extLst>
            </p:cNvPr>
            <p:cNvSpPr/>
            <p:nvPr/>
          </p:nvSpPr>
          <p:spPr>
            <a:xfrm>
              <a:off x="0" y="0"/>
              <a:ext cx="812800" cy="812800"/>
            </a:xfrm>
            <a:custGeom>
              <a:avLst/>
              <a:gdLst/>
              <a:ahLst/>
              <a:cxnLst/>
              <a:rect l="l" t="t" r="r" b="b"/>
              <a:pathLst>
                <a:path w="812800" h="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chemeClr val="bg1"/>
            </a:solidFill>
          </p:spPr>
          <p:txBody>
            <a:bodyPr/>
            <a:lstStyle/>
            <a:p>
              <a:endParaRPr lang="en-AU" dirty="0"/>
            </a:p>
          </p:txBody>
        </p:sp>
        <p:sp>
          <p:nvSpPr>
            <p:cNvPr id="39" name="TextBox 9">
              <a:extLst>
                <a:ext uri="{FF2B5EF4-FFF2-40B4-BE49-F238E27FC236}">
                  <a16:creationId xmlns:a16="http://schemas.microsoft.com/office/drawing/2014/main" id="{D541F317-4070-FCB0-F9B5-77D124D3F0A8}"/>
                </a:ext>
              </a:extLst>
            </p:cNvPr>
            <p:cNvSpPr txBox="1"/>
            <p:nvPr/>
          </p:nvSpPr>
          <p:spPr>
            <a:xfrm>
              <a:off x="190500" y="219075"/>
              <a:ext cx="431800" cy="403225"/>
            </a:xfrm>
            <a:prstGeom prst="rect">
              <a:avLst/>
            </a:prstGeom>
          </p:spPr>
          <p:txBody>
            <a:bodyPr lIns="50800" tIns="50800" rIns="50800" bIns="50800" rtlCol="0" anchor="ctr"/>
            <a:lstStyle/>
            <a:p>
              <a:pPr algn="ctr">
                <a:lnSpc>
                  <a:spcPts val="2266"/>
                </a:lnSpc>
              </a:pPr>
              <a:endParaRPr dirty="0"/>
            </a:p>
          </p:txBody>
        </p:sp>
      </p:grpSp>
      <p:grpSp>
        <p:nvGrpSpPr>
          <p:cNvPr id="40" name="Group 10">
            <a:extLst>
              <a:ext uri="{FF2B5EF4-FFF2-40B4-BE49-F238E27FC236}">
                <a16:creationId xmlns:a16="http://schemas.microsoft.com/office/drawing/2014/main" id="{3EA6A9B3-0728-A753-042D-B6D1AA2FC830}"/>
              </a:ext>
            </a:extLst>
          </p:cNvPr>
          <p:cNvGrpSpPr/>
          <p:nvPr/>
        </p:nvGrpSpPr>
        <p:grpSpPr>
          <a:xfrm>
            <a:off x="6669063" y="3177972"/>
            <a:ext cx="345325" cy="428828"/>
            <a:chOff x="0" y="0"/>
            <a:chExt cx="812800" cy="812800"/>
          </a:xfrm>
        </p:grpSpPr>
        <p:sp>
          <p:nvSpPr>
            <p:cNvPr id="41" name="Freeform 11">
              <a:extLst>
                <a:ext uri="{FF2B5EF4-FFF2-40B4-BE49-F238E27FC236}">
                  <a16:creationId xmlns:a16="http://schemas.microsoft.com/office/drawing/2014/main" id="{26CCECD0-0836-2637-CA97-99E477134ABA}"/>
                </a:ext>
              </a:extLst>
            </p:cNvPr>
            <p:cNvSpPr/>
            <p:nvPr/>
          </p:nvSpPr>
          <p:spPr>
            <a:xfrm>
              <a:off x="0" y="0"/>
              <a:ext cx="812800" cy="812800"/>
            </a:xfrm>
            <a:custGeom>
              <a:avLst/>
              <a:gdLst/>
              <a:ahLst/>
              <a:cxnLst/>
              <a:rect l="l" t="t" r="r" b="b"/>
              <a:pathLst>
                <a:path w="812800" h="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chemeClr val="bg1"/>
            </a:solidFill>
            <a:ln cap="sq">
              <a:noFill/>
              <a:prstDash val="solid"/>
              <a:miter/>
            </a:ln>
          </p:spPr>
          <p:txBody>
            <a:bodyPr/>
            <a:lstStyle/>
            <a:p>
              <a:endParaRPr lang="en-AU" dirty="0"/>
            </a:p>
          </p:txBody>
        </p:sp>
        <p:sp>
          <p:nvSpPr>
            <p:cNvPr id="42" name="TextBox 12">
              <a:extLst>
                <a:ext uri="{FF2B5EF4-FFF2-40B4-BE49-F238E27FC236}">
                  <a16:creationId xmlns:a16="http://schemas.microsoft.com/office/drawing/2014/main" id="{381AE1C9-6DA9-13E7-FDA2-37CF9C6C58C7}"/>
                </a:ext>
              </a:extLst>
            </p:cNvPr>
            <p:cNvSpPr txBox="1"/>
            <p:nvPr/>
          </p:nvSpPr>
          <p:spPr>
            <a:xfrm>
              <a:off x="190500" y="219075"/>
              <a:ext cx="431800" cy="403225"/>
            </a:xfrm>
            <a:prstGeom prst="rect">
              <a:avLst/>
            </a:prstGeom>
          </p:spPr>
          <p:txBody>
            <a:bodyPr lIns="50800" tIns="50800" rIns="50800" bIns="50800" rtlCol="0" anchor="ctr"/>
            <a:lstStyle/>
            <a:p>
              <a:pPr marL="0" lvl="0" indent="0" algn="ctr">
                <a:lnSpc>
                  <a:spcPts val="2266"/>
                </a:lnSpc>
                <a:spcBef>
                  <a:spcPct val="0"/>
                </a:spcBef>
              </a:pPr>
              <a:endParaRPr dirty="0"/>
            </a:p>
          </p:txBody>
        </p:sp>
      </p:grpSp>
      <p:grpSp>
        <p:nvGrpSpPr>
          <p:cNvPr id="43" name="Group 13">
            <a:extLst>
              <a:ext uri="{FF2B5EF4-FFF2-40B4-BE49-F238E27FC236}">
                <a16:creationId xmlns:a16="http://schemas.microsoft.com/office/drawing/2014/main" id="{B796D93E-A6D4-906E-81F8-F92E3310D2AA}"/>
              </a:ext>
            </a:extLst>
          </p:cNvPr>
          <p:cNvGrpSpPr/>
          <p:nvPr/>
        </p:nvGrpSpPr>
        <p:grpSpPr>
          <a:xfrm>
            <a:off x="8989175" y="3177972"/>
            <a:ext cx="345325" cy="428828"/>
            <a:chOff x="0" y="0"/>
            <a:chExt cx="812800" cy="812800"/>
          </a:xfrm>
        </p:grpSpPr>
        <p:sp>
          <p:nvSpPr>
            <p:cNvPr id="44" name="Freeform 14">
              <a:extLst>
                <a:ext uri="{FF2B5EF4-FFF2-40B4-BE49-F238E27FC236}">
                  <a16:creationId xmlns:a16="http://schemas.microsoft.com/office/drawing/2014/main" id="{8E2D5F92-6780-F2FC-A561-F8506C41D3CB}"/>
                </a:ext>
              </a:extLst>
            </p:cNvPr>
            <p:cNvSpPr/>
            <p:nvPr/>
          </p:nvSpPr>
          <p:spPr>
            <a:xfrm>
              <a:off x="0" y="0"/>
              <a:ext cx="812800" cy="812800"/>
            </a:xfrm>
            <a:custGeom>
              <a:avLst/>
              <a:gdLst/>
              <a:ahLst/>
              <a:cxnLst/>
              <a:rect l="l" t="t" r="r" b="b"/>
              <a:pathLst>
                <a:path w="812800" h="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chemeClr val="bg1"/>
            </a:solidFill>
            <a:ln cap="sq">
              <a:noFill/>
              <a:prstDash val="solid"/>
              <a:miter/>
            </a:ln>
          </p:spPr>
          <p:txBody>
            <a:bodyPr/>
            <a:lstStyle/>
            <a:p>
              <a:endParaRPr lang="en-AU" dirty="0"/>
            </a:p>
          </p:txBody>
        </p:sp>
        <p:sp>
          <p:nvSpPr>
            <p:cNvPr id="45" name="TextBox 15">
              <a:extLst>
                <a:ext uri="{FF2B5EF4-FFF2-40B4-BE49-F238E27FC236}">
                  <a16:creationId xmlns:a16="http://schemas.microsoft.com/office/drawing/2014/main" id="{EB9C2BC2-2DE8-96FE-E680-D6228C928A50}"/>
                </a:ext>
              </a:extLst>
            </p:cNvPr>
            <p:cNvSpPr txBox="1"/>
            <p:nvPr/>
          </p:nvSpPr>
          <p:spPr>
            <a:xfrm>
              <a:off x="190500" y="219075"/>
              <a:ext cx="431800" cy="403225"/>
            </a:xfrm>
            <a:prstGeom prst="rect">
              <a:avLst/>
            </a:prstGeom>
          </p:spPr>
          <p:txBody>
            <a:bodyPr lIns="50800" tIns="50800" rIns="50800" bIns="50800" rtlCol="0" anchor="ctr"/>
            <a:lstStyle/>
            <a:p>
              <a:pPr marL="0" lvl="0" indent="0" algn="ctr">
                <a:lnSpc>
                  <a:spcPts val="2266"/>
                </a:lnSpc>
                <a:spcBef>
                  <a:spcPct val="0"/>
                </a:spcBef>
              </a:pPr>
              <a:endParaRPr dirty="0"/>
            </a:p>
          </p:txBody>
        </p:sp>
      </p:grpSp>
      <p:cxnSp>
        <p:nvCxnSpPr>
          <p:cNvPr id="47" name="Straight Connector 46">
            <a:extLst>
              <a:ext uri="{FF2B5EF4-FFF2-40B4-BE49-F238E27FC236}">
                <a16:creationId xmlns:a16="http://schemas.microsoft.com/office/drawing/2014/main" id="{A291650A-4190-3380-979C-CE101C3EAC9B}"/>
              </a:ext>
            </a:extLst>
          </p:cNvPr>
          <p:cNvCxnSpPr>
            <a:cxnSpLocks/>
          </p:cNvCxnSpPr>
          <p:nvPr/>
        </p:nvCxnSpPr>
        <p:spPr>
          <a:xfrm>
            <a:off x="-9524" y="3390975"/>
            <a:ext cx="12201524"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49" name="Freeform 24">
            <a:extLst>
              <a:ext uri="{FF2B5EF4-FFF2-40B4-BE49-F238E27FC236}">
                <a16:creationId xmlns:a16="http://schemas.microsoft.com/office/drawing/2014/main" id="{14F71C55-7534-15D5-D084-079A2AA0B6BA}"/>
              </a:ext>
            </a:extLst>
          </p:cNvPr>
          <p:cNvSpPr/>
          <p:nvPr/>
        </p:nvSpPr>
        <p:spPr>
          <a:xfrm>
            <a:off x="828200" y="3523964"/>
            <a:ext cx="1432122" cy="1460955"/>
          </a:xfrm>
          <a:custGeom>
            <a:avLst/>
            <a:gdLst/>
            <a:ahLst/>
            <a:cxnLst/>
            <a:rect l="l" t="t" r="r" b="b"/>
            <a:pathLst>
              <a:path w="2395283" h="1833168">
                <a:moveTo>
                  <a:pt x="0" y="0"/>
                </a:moveTo>
                <a:lnTo>
                  <a:pt x="2395283" y="0"/>
                </a:lnTo>
                <a:lnTo>
                  <a:pt x="2395283" y="1833167"/>
                </a:lnTo>
                <a:lnTo>
                  <a:pt x="0" y="1833167"/>
                </a:lnTo>
                <a:lnTo>
                  <a:pt x="0" y="0"/>
                </a:lnTo>
                <a:close/>
              </a:path>
            </a:pathLst>
          </a:custGeom>
          <a:blipFill>
            <a:blip r:embed="rId4"/>
            <a:stretch>
              <a:fillRect/>
            </a:stretch>
          </a:blipFill>
        </p:spPr>
        <p:txBody>
          <a:bodyPr/>
          <a:lstStyle/>
          <a:p>
            <a:endParaRPr lang="en-AU" dirty="0"/>
          </a:p>
        </p:txBody>
      </p:sp>
      <p:sp>
        <p:nvSpPr>
          <p:cNvPr id="52" name="Rectangle 51">
            <a:extLst>
              <a:ext uri="{FF2B5EF4-FFF2-40B4-BE49-F238E27FC236}">
                <a16:creationId xmlns:a16="http://schemas.microsoft.com/office/drawing/2014/main" id="{F3D7605E-B76F-6766-D408-0FBD1A82A0FC}"/>
              </a:ext>
            </a:extLst>
          </p:cNvPr>
          <p:cNvSpPr/>
          <p:nvPr/>
        </p:nvSpPr>
        <p:spPr>
          <a:xfrm>
            <a:off x="838200" y="2120900"/>
            <a:ext cx="1358900" cy="84124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600" dirty="0">
                <a:latin typeface="Bahnschrift" panose="020B0502040204020203" pitchFamily="34" charset="0"/>
              </a:rPr>
              <a:t>01</a:t>
            </a:r>
          </a:p>
        </p:txBody>
      </p:sp>
      <p:sp>
        <p:nvSpPr>
          <p:cNvPr id="61" name="Rectangle 60">
            <a:extLst>
              <a:ext uri="{FF2B5EF4-FFF2-40B4-BE49-F238E27FC236}">
                <a16:creationId xmlns:a16="http://schemas.microsoft.com/office/drawing/2014/main" id="{32904A44-DB6F-C551-8F3B-2F4E9BF18F26}"/>
              </a:ext>
            </a:extLst>
          </p:cNvPr>
          <p:cNvSpPr/>
          <p:nvPr/>
        </p:nvSpPr>
        <p:spPr>
          <a:xfrm>
            <a:off x="3286888" y="2145127"/>
            <a:ext cx="1358900" cy="84124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600" dirty="0">
                <a:latin typeface="Bahnschrift" panose="020B0502040204020203" pitchFamily="34" charset="0"/>
              </a:rPr>
              <a:t>02</a:t>
            </a:r>
          </a:p>
        </p:txBody>
      </p:sp>
      <p:sp>
        <p:nvSpPr>
          <p:cNvPr id="62" name="Rectangle 61">
            <a:extLst>
              <a:ext uri="{FF2B5EF4-FFF2-40B4-BE49-F238E27FC236}">
                <a16:creationId xmlns:a16="http://schemas.microsoft.com/office/drawing/2014/main" id="{F084AD92-BA0B-D23D-2926-2EBB41E1D4C7}"/>
              </a:ext>
            </a:extLst>
          </p:cNvPr>
          <p:cNvSpPr/>
          <p:nvPr/>
        </p:nvSpPr>
        <p:spPr>
          <a:xfrm>
            <a:off x="6091238" y="2136316"/>
            <a:ext cx="1358900" cy="84124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600" dirty="0">
                <a:latin typeface="Bahnschrift" panose="020B0502040204020203" pitchFamily="34" charset="0"/>
              </a:rPr>
              <a:t>03</a:t>
            </a:r>
          </a:p>
        </p:txBody>
      </p:sp>
      <p:sp>
        <p:nvSpPr>
          <p:cNvPr id="63" name="Rectangle 62">
            <a:extLst>
              <a:ext uri="{FF2B5EF4-FFF2-40B4-BE49-F238E27FC236}">
                <a16:creationId xmlns:a16="http://schemas.microsoft.com/office/drawing/2014/main" id="{D84ECB8E-3290-8478-AD45-B2C7E7FF57C2}"/>
              </a:ext>
            </a:extLst>
          </p:cNvPr>
          <p:cNvSpPr/>
          <p:nvPr/>
        </p:nvSpPr>
        <p:spPr>
          <a:xfrm>
            <a:off x="8390661" y="2170958"/>
            <a:ext cx="1358900" cy="84124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600" dirty="0">
                <a:latin typeface="Bahnschrift" panose="020B0502040204020203" pitchFamily="34" charset="0"/>
              </a:rPr>
              <a:t>04</a:t>
            </a:r>
          </a:p>
        </p:txBody>
      </p:sp>
      <p:sp>
        <p:nvSpPr>
          <p:cNvPr id="65" name="Freeform 25">
            <a:extLst>
              <a:ext uri="{FF2B5EF4-FFF2-40B4-BE49-F238E27FC236}">
                <a16:creationId xmlns:a16="http://schemas.microsoft.com/office/drawing/2014/main" id="{255AC066-9BEE-D98F-54B9-DD077D63ED6D}"/>
              </a:ext>
            </a:extLst>
          </p:cNvPr>
          <p:cNvSpPr/>
          <p:nvPr/>
        </p:nvSpPr>
        <p:spPr>
          <a:xfrm>
            <a:off x="3400026" y="3700931"/>
            <a:ext cx="1316076" cy="1227356"/>
          </a:xfrm>
          <a:custGeom>
            <a:avLst/>
            <a:gdLst/>
            <a:ahLst/>
            <a:cxnLst/>
            <a:rect l="l" t="t" r="r" b="b"/>
            <a:pathLst>
              <a:path w="1522754" h="1522754">
                <a:moveTo>
                  <a:pt x="0" y="0"/>
                </a:moveTo>
                <a:lnTo>
                  <a:pt x="1522754" y="0"/>
                </a:lnTo>
                <a:lnTo>
                  <a:pt x="1522754" y="1522754"/>
                </a:lnTo>
                <a:lnTo>
                  <a:pt x="0" y="1522754"/>
                </a:lnTo>
                <a:lnTo>
                  <a:pt x="0" y="0"/>
                </a:lnTo>
                <a:close/>
              </a:path>
            </a:pathLst>
          </a:custGeom>
          <a:blipFill>
            <a:blip r:embed="rId5"/>
            <a:stretch>
              <a:fillRect/>
            </a:stretch>
          </a:blipFill>
        </p:spPr>
        <p:txBody>
          <a:bodyPr/>
          <a:lstStyle/>
          <a:p>
            <a:endParaRPr lang="en-AU" dirty="0"/>
          </a:p>
        </p:txBody>
      </p:sp>
      <p:sp>
        <p:nvSpPr>
          <p:cNvPr id="68" name="Flowchart: Alternate Process 67">
            <a:extLst>
              <a:ext uri="{FF2B5EF4-FFF2-40B4-BE49-F238E27FC236}">
                <a16:creationId xmlns:a16="http://schemas.microsoft.com/office/drawing/2014/main" id="{205566AB-6259-1E4E-C758-DB38650D8084}"/>
              </a:ext>
            </a:extLst>
          </p:cNvPr>
          <p:cNvSpPr/>
          <p:nvPr/>
        </p:nvSpPr>
        <p:spPr>
          <a:xfrm>
            <a:off x="520700" y="4984919"/>
            <a:ext cx="1955800" cy="818977"/>
          </a:xfrm>
          <a:prstGeom prst="flowChartAlternateProcess">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en-GB" dirty="0">
                <a:solidFill>
                  <a:schemeClr val="bg1"/>
                </a:solidFill>
                <a:latin typeface="Bahnschrift" panose="020B0502040204020203" pitchFamily="34" charset="0"/>
              </a:rPr>
              <a:t>QT (FRAMEWORK)</a:t>
            </a:r>
          </a:p>
        </p:txBody>
      </p:sp>
      <p:sp>
        <p:nvSpPr>
          <p:cNvPr id="69" name="Flowchart: Alternate Process 68">
            <a:extLst>
              <a:ext uri="{FF2B5EF4-FFF2-40B4-BE49-F238E27FC236}">
                <a16:creationId xmlns:a16="http://schemas.microsoft.com/office/drawing/2014/main" id="{F11C0995-5521-5240-DE19-E7D4B546ABE6}"/>
              </a:ext>
            </a:extLst>
          </p:cNvPr>
          <p:cNvSpPr/>
          <p:nvPr/>
        </p:nvSpPr>
        <p:spPr>
          <a:xfrm>
            <a:off x="3252827" y="5022418"/>
            <a:ext cx="1955800" cy="1010079"/>
          </a:xfrm>
          <a:prstGeom prst="flowChartAlternateProcess">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en-GB" dirty="0">
                <a:solidFill>
                  <a:schemeClr val="bg1"/>
                </a:solidFill>
                <a:latin typeface="Bahnschrift" panose="020B0502040204020203" pitchFamily="34" charset="0"/>
              </a:rPr>
              <a:t>C++  (PROGRAMMING LANGUAGE)</a:t>
            </a:r>
          </a:p>
        </p:txBody>
      </p:sp>
      <p:pic>
        <p:nvPicPr>
          <p:cNvPr id="73" name="Picture 72">
            <a:extLst>
              <a:ext uri="{FF2B5EF4-FFF2-40B4-BE49-F238E27FC236}">
                <a16:creationId xmlns:a16="http://schemas.microsoft.com/office/drawing/2014/main" id="{3DFD09B7-C17B-EF9B-31FF-C71F9FEF275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423078" y="3700931"/>
            <a:ext cx="1557796" cy="1557796"/>
          </a:xfrm>
          <a:prstGeom prst="rect">
            <a:avLst/>
          </a:prstGeom>
        </p:spPr>
      </p:pic>
      <p:sp>
        <p:nvSpPr>
          <p:cNvPr id="75" name="Flowchart: Alternate Process 74">
            <a:extLst>
              <a:ext uri="{FF2B5EF4-FFF2-40B4-BE49-F238E27FC236}">
                <a16:creationId xmlns:a16="http://schemas.microsoft.com/office/drawing/2014/main" id="{4C3AE2C9-70FE-A9EF-93D0-6DB18A28ED42}"/>
              </a:ext>
            </a:extLst>
          </p:cNvPr>
          <p:cNvSpPr/>
          <p:nvPr/>
        </p:nvSpPr>
        <p:spPr>
          <a:xfrm>
            <a:off x="7624414" y="5213845"/>
            <a:ext cx="3155124" cy="1010079"/>
          </a:xfrm>
          <a:prstGeom prst="flowChartAlternateProcess">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en-GB" dirty="0">
                <a:solidFill>
                  <a:schemeClr val="bg1"/>
                </a:solidFill>
                <a:latin typeface="Bahnschrift" panose="020B0502040204020203" pitchFamily="34" charset="0"/>
              </a:rPr>
              <a:t>GITHUB</a:t>
            </a:r>
          </a:p>
          <a:p>
            <a:pPr algn="ctr"/>
            <a:r>
              <a:rPr lang="en-GB" dirty="0">
                <a:solidFill>
                  <a:schemeClr val="bg1"/>
                </a:solidFill>
                <a:latin typeface="Bahnschrift" panose="020B0502040204020203" pitchFamily="34" charset="0"/>
              </a:rPr>
              <a:t>(STORE CODE AND COLLABORATION)</a:t>
            </a:r>
          </a:p>
        </p:txBody>
      </p:sp>
      <p:pic>
        <p:nvPicPr>
          <p:cNvPr id="79" name="Picture 78">
            <a:extLst>
              <a:ext uri="{FF2B5EF4-FFF2-40B4-BE49-F238E27FC236}">
                <a16:creationId xmlns:a16="http://schemas.microsoft.com/office/drawing/2014/main" id="{6BBB29C8-9519-D0FD-19FD-F2956BE1F070}"/>
              </a:ext>
            </a:extLst>
          </p:cNvPr>
          <p:cNvPicPr>
            <a:picLocks noChangeAspect="1"/>
          </p:cNvPicPr>
          <p:nvPr/>
        </p:nvPicPr>
        <p:blipFill>
          <a:blip r:embed="rId7"/>
          <a:stretch>
            <a:fillRect/>
          </a:stretch>
        </p:blipFill>
        <p:spPr>
          <a:xfrm>
            <a:off x="5560214" y="3819803"/>
            <a:ext cx="2217698" cy="1055410"/>
          </a:xfrm>
          <a:prstGeom prst="rect">
            <a:avLst/>
          </a:prstGeom>
        </p:spPr>
      </p:pic>
      <p:sp>
        <p:nvSpPr>
          <p:cNvPr id="81" name="Flowchart: Alternate Process 80">
            <a:extLst>
              <a:ext uri="{FF2B5EF4-FFF2-40B4-BE49-F238E27FC236}">
                <a16:creationId xmlns:a16="http://schemas.microsoft.com/office/drawing/2014/main" id="{2CA8D75C-1C03-86E6-F013-9FE040535D11}"/>
              </a:ext>
            </a:extLst>
          </p:cNvPr>
          <p:cNvSpPr/>
          <p:nvPr/>
        </p:nvSpPr>
        <p:spPr>
          <a:xfrm>
            <a:off x="5591690" y="5067363"/>
            <a:ext cx="1955800" cy="1010079"/>
          </a:xfrm>
          <a:prstGeom prst="flowChartAlternateProcess">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en-GB" dirty="0">
                <a:solidFill>
                  <a:schemeClr val="bg1"/>
                </a:solidFill>
                <a:latin typeface="Bahnschrift" panose="020B0502040204020203" pitchFamily="34" charset="0"/>
              </a:rPr>
              <a:t>SQLite</a:t>
            </a:r>
          </a:p>
          <a:p>
            <a:pPr algn="ctr"/>
            <a:r>
              <a:rPr lang="en-GB" dirty="0">
                <a:solidFill>
                  <a:schemeClr val="bg1"/>
                </a:solidFill>
                <a:latin typeface="Bahnschrift" panose="020B0502040204020203" pitchFamily="34" charset="0"/>
              </a:rPr>
              <a:t>(DATABASE SERVER)</a:t>
            </a:r>
          </a:p>
        </p:txBody>
      </p:sp>
      <p:sp>
        <p:nvSpPr>
          <p:cNvPr id="3" name="Pentagon 57">
            <a:extLst>
              <a:ext uri="{FF2B5EF4-FFF2-40B4-BE49-F238E27FC236}">
                <a16:creationId xmlns:a16="http://schemas.microsoft.com/office/drawing/2014/main" id="{7AB14113-1EBF-C9C1-3B61-FB02CEBBF42A}"/>
              </a:ext>
            </a:extLst>
          </p:cNvPr>
          <p:cNvSpPr/>
          <p:nvPr/>
        </p:nvSpPr>
        <p:spPr>
          <a:xfrm>
            <a:off x="-2429329" y="6858000"/>
            <a:ext cx="9829800" cy="1278169"/>
          </a:xfrm>
          <a:prstGeom prst="homePlate">
            <a:avLst/>
          </a:prstGeom>
          <a:no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400" b="1" dirty="0">
                <a:solidFill>
                  <a:schemeClr val="bg1"/>
                </a:solidFill>
                <a:latin typeface="Bahnschrift" panose="020B0502040204020203" pitchFamily="34" charset="0"/>
                <a:cs typeface="Dubai Light" panose="020B0303030403030204" pitchFamily="34" charset="-78"/>
              </a:rPr>
              <a:t>CONCLUSION</a:t>
            </a:r>
          </a:p>
        </p:txBody>
      </p:sp>
      <p:sp>
        <p:nvSpPr>
          <p:cNvPr id="4" name="Flowchart: Alternate Process 3">
            <a:extLst>
              <a:ext uri="{FF2B5EF4-FFF2-40B4-BE49-F238E27FC236}">
                <a16:creationId xmlns:a16="http://schemas.microsoft.com/office/drawing/2014/main" id="{BA89ABFA-B681-81F9-A665-4594AA8827B6}"/>
              </a:ext>
            </a:extLst>
          </p:cNvPr>
          <p:cNvSpPr/>
          <p:nvPr/>
        </p:nvSpPr>
        <p:spPr>
          <a:xfrm>
            <a:off x="6070600" y="7362833"/>
            <a:ext cx="5651500" cy="5257800"/>
          </a:xfrm>
          <a:prstGeom prst="flowChartAlternateProcess">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dirty="0">
                <a:latin typeface="Bahnschrift" panose="020B0502040204020203" pitchFamily="34" charset="0"/>
              </a:rPr>
              <a:t>Successfully developed a desktop-based Laundry Management System. Simplifies order management, billing, and status tracking. Improves efficiency and reduces manual work</a:t>
            </a:r>
          </a:p>
        </p:txBody>
      </p:sp>
      <p:cxnSp>
        <p:nvCxnSpPr>
          <p:cNvPr id="6" name="Straight Connector 5">
            <a:extLst>
              <a:ext uri="{FF2B5EF4-FFF2-40B4-BE49-F238E27FC236}">
                <a16:creationId xmlns:a16="http://schemas.microsoft.com/office/drawing/2014/main" id="{9A2E24D7-7EC4-620E-8592-E67415ED419C}"/>
              </a:ext>
            </a:extLst>
          </p:cNvPr>
          <p:cNvCxnSpPr>
            <a:cxnSpLocks/>
          </p:cNvCxnSpPr>
          <p:nvPr/>
        </p:nvCxnSpPr>
        <p:spPr>
          <a:xfrm flipV="1">
            <a:off x="5105400" y="7053949"/>
            <a:ext cx="0" cy="6857999"/>
          </a:xfrm>
          <a:prstGeom prst="line">
            <a:avLst/>
          </a:prstGeom>
          <a:ln w="60325" cmpd="thickThi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626574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0FF7D2-DDDD-0D32-4FB9-AB03DDFB014B}"/>
            </a:ext>
          </a:extLst>
        </p:cNvPr>
        <p:cNvGrpSpPr/>
        <p:nvPr/>
      </p:nvGrpSpPr>
      <p:grpSpPr>
        <a:xfrm>
          <a:off x="0" y="0"/>
          <a:ext cx="0" cy="0"/>
          <a:chOff x="0" y="0"/>
          <a:chExt cx="0" cy="0"/>
        </a:xfrm>
      </p:grpSpPr>
      <p:pic>
        <p:nvPicPr>
          <p:cNvPr id="14" name="Picture 13">
            <a:extLst>
              <a:ext uri="{FF2B5EF4-FFF2-40B4-BE49-F238E27FC236}">
                <a16:creationId xmlns:a16="http://schemas.microsoft.com/office/drawing/2014/main" id="{F08E8C0F-7E44-D0F1-7BD5-63E839B82335}"/>
              </a:ext>
            </a:extLst>
          </p:cNvPr>
          <p:cNvPicPr>
            <a:picLocks noChangeAspect="1"/>
          </p:cNvPicPr>
          <p:nvPr/>
        </p:nvPicPr>
        <p:blipFill>
          <a:blip r:embed="rId2">
            <a:extLst>
              <a:ext uri="{28A0092B-C50C-407E-A947-70E740481C1C}">
                <a14:useLocalDpi xmlns:a14="http://schemas.microsoft.com/office/drawing/2010/main" val="0"/>
              </a:ext>
            </a:extLst>
          </a:blip>
          <a:srcRect t="7754" b="7754"/>
          <a:stretch/>
        </p:blipFill>
        <p:spPr>
          <a:xfrm>
            <a:off x="1" y="8768469"/>
            <a:ext cx="12192000" cy="6862830"/>
          </a:xfrm>
          <a:prstGeom prst="rect">
            <a:avLst/>
          </a:prstGeom>
        </p:spPr>
      </p:pic>
      <p:sp>
        <p:nvSpPr>
          <p:cNvPr id="16" name="Rectangle 15">
            <a:extLst>
              <a:ext uri="{FF2B5EF4-FFF2-40B4-BE49-F238E27FC236}">
                <a16:creationId xmlns:a16="http://schemas.microsoft.com/office/drawing/2014/main" id="{DB784391-DC27-1ED6-A5B6-DA9C61E9261C}"/>
              </a:ext>
            </a:extLst>
          </p:cNvPr>
          <p:cNvSpPr/>
          <p:nvPr/>
        </p:nvSpPr>
        <p:spPr>
          <a:xfrm>
            <a:off x="-25400" y="8768470"/>
            <a:ext cx="12217400" cy="6894794"/>
          </a:xfrm>
          <a:prstGeom prst="rect">
            <a:avLst/>
          </a:prstGeom>
          <a:solidFill>
            <a:schemeClr val="tx1">
              <a:alpha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5" name="Picture 4">
            <a:extLst>
              <a:ext uri="{FF2B5EF4-FFF2-40B4-BE49-F238E27FC236}">
                <a16:creationId xmlns:a16="http://schemas.microsoft.com/office/drawing/2014/main" id="{7B3AF472-FE4B-9060-5319-AFBFE1DB5170}"/>
              </a:ext>
            </a:extLst>
          </p:cNvPr>
          <p:cNvPicPr>
            <a:picLocks noChangeAspect="1"/>
          </p:cNvPicPr>
          <p:nvPr/>
        </p:nvPicPr>
        <p:blipFill>
          <a:blip r:embed="rId3">
            <a:extLst>
              <a:ext uri="{28A0092B-C50C-407E-A947-70E740481C1C}">
                <a14:useLocalDpi xmlns:a14="http://schemas.microsoft.com/office/drawing/2010/main" val="0"/>
              </a:ext>
            </a:extLst>
          </a:blip>
          <a:srcRect t="7754" b="7754"/>
          <a:stretch/>
        </p:blipFill>
        <p:spPr>
          <a:xfrm>
            <a:off x="1" y="-41564"/>
            <a:ext cx="12192000" cy="6877199"/>
          </a:xfrm>
          <a:prstGeom prst="rect">
            <a:avLst/>
          </a:prstGeom>
        </p:spPr>
      </p:pic>
      <p:sp>
        <p:nvSpPr>
          <p:cNvPr id="12" name="Rectangle 11">
            <a:extLst>
              <a:ext uri="{FF2B5EF4-FFF2-40B4-BE49-F238E27FC236}">
                <a16:creationId xmlns:a16="http://schemas.microsoft.com/office/drawing/2014/main" id="{76765883-FA43-38CA-F8B4-CEC569048927}"/>
              </a:ext>
            </a:extLst>
          </p:cNvPr>
          <p:cNvSpPr/>
          <p:nvPr/>
        </p:nvSpPr>
        <p:spPr>
          <a:xfrm>
            <a:off x="-25400" y="-41564"/>
            <a:ext cx="12217400" cy="6909163"/>
          </a:xfrm>
          <a:prstGeom prst="rect">
            <a:avLst/>
          </a:prstGeom>
          <a:solidFill>
            <a:schemeClr val="tx1">
              <a:alpha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1" name="Pentagon 57">
            <a:extLst>
              <a:ext uri="{FF2B5EF4-FFF2-40B4-BE49-F238E27FC236}">
                <a16:creationId xmlns:a16="http://schemas.microsoft.com/office/drawing/2014/main" id="{E2B33840-6A2D-EB59-02F3-83C99B3C10D3}"/>
              </a:ext>
            </a:extLst>
          </p:cNvPr>
          <p:cNvSpPr/>
          <p:nvPr/>
        </p:nvSpPr>
        <p:spPr>
          <a:xfrm>
            <a:off x="-2197099" y="2070100"/>
            <a:ext cx="9829800" cy="1278169"/>
          </a:xfrm>
          <a:prstGeom prst="homePlate">
            <a:avLst/>
          </a:prstGeom>
          <a:no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400" b="1" dirty="0">
                <a:solidFill>
                  <a:schemeClr val="bg1"/>
                </a:solidFill>
                <a:latin typeface="Bahnschrift" panose="020B0502040204020203" pitchFamily="34" charset="0"/>
                <a:cs typeface="Dubai Light" panose="020B0303030403030204" pitchFamily="34" charset="-78"/>
              </a:rPr>
              <a:t>CONCLUSION</a:t>
            </a:r>
          </a:p>
        </p:txBody>
      </p:sp>
      <p:sp>
        <p:nvSpPr>
          <p:cNvPr id="3" name="Pentagon 57">
            <a:extLst>
              <a:ext uri="{FF2B5EF4-FFF2-40B4-BE49-F238E27FC236}">
                <a16:creationId xmlns:a16="http://schemas.microsoft.com/office/drawing/2014/main" id="{BEB951A9-0DD4-5DC9-8233-1A35A0AD6FE9}"/>
              </a:ext>
            </a:extLst>
          </p:cNvPr>
          <p:cNvSpPr/>
          <p:nvPr/>
        </p:nvSpPr>
        <p:spPr>
          <a:xfrm>
            <a:off x="1155700" y="-3208205"/>
            <a:ext cx="9829800" cy="1278169"/>
          </a:xfrm>
          <a:prstGeom prst="homePlate">
            <a:avLst/>
          </a:prstGeom>
          <a:no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400" b="1" dirty="0">
                <a:solidFill>
                  <a:schemeClr val="bg1"/>
                </a:solidFill>
                <a:latin typeface="Bahnschrift" panose="020B0502040204020203" pitchFamily="34" charset="0"/>
                <a:cs typeface="Dubai Light" panose="020B0303030403030204" pitchFamily="34" charset="-78"/>
              </a:rPr>
              <a:t>TOOLS USED</a:t>
            </a:r>
          </a:p>
        </p:txBody>
      </p:sp>
      <p:sp>
        <p:nvSpPr>
          <p:cNvPr id="4" name="Flowchart: Alternate Process 3">
            <a:extLst>
              <a:ext uri="{FF2B5EF4-FFF2-40B4-BE49-F238E27FC236}">
                <a16:creationId xmlns:a16="http://schemas.microsoft.com/office/drawing/2014/main" id="{C252DF4F-59FA-1974-6AC9-952B217547F5}"/>
              </a:ext>
            </a:extLst>
          </p:cNvPr>
          <p:cNvSpPr/>
          <p:nvPr/>
        </p:nvSpPr>
        <p:spPr>
          <a:xfrm>
            <a:off x="6070600" y="308885"/>
            <a:ext cx="5651500" cy="5257800"/>
          </a:xfrm>
          <a:prstGeom prst="flowChartAlternateProcess">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dirty="0">
                <a:latin typeface="Bahnschrift" panose="020B0502040204020203" pitchFamily="34" charset="0"/>
              </a:rPr>
              <a:t>Successfully developed a desktop-based Laundry Management System. Simplifies order management, billing, and status tracking. Improves efficiency and reduces manual work</a:t>
            </a:r>
          </a:p>
        </p:txBody>
      </p:sp>
      <p:sp>
        <p:nvSpPr>
          <p:cNvPr id="7" name="Pentagon 57">
            <a:extLst>
              <a:ext uri="{FF2B5EF4-FFF2-40B4-BE49-F238E27FC236}">
                <a16:creationId xmlns:a16="http://schemas.microsoft.com/office/drawing/2014/main" id="{B588ACE3-BA3A-4D34-2B9D-BCA2A1A5978D}"/>
              </a:ext>
            </a:extLst>
          </p:cNvPr>
          <p:cNvSpPr/>
          <p:nvPr/>
        </p:nvSpPr>
        <p:spPr>
          <a:xfrm>
            <a:off x="-2044699" y="7785100"/>
            <a:ext cx="9829800" cy="1278169"/>
          </a:xfrm>
          <a:prstGeom prst="homePlate">
            <a:avLst/>
          </a:prstGeom>
          <a:no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400" b="1" dirty="0">
                <a:solidFill>
                  <a:schemeClr val="bg1"/>
                </a:solidFill>
                <a:latin typeface="Bahnschrift" panose="020B0502040204020203" pitchFamily="34" charset="0"/>
                <a:cs typeface="Dubai Light" panose="020B0303030403030204" pitchFamily="34" charset="-78"/>
              </a:rPr>
              <a:t>LIMITATION</a:t>
            </a:r>
          </a:p>
        </p:txBody>
      </p:sp>
      <p:sp>
        <p:nvSpPr>
          <p:cNvPr id="9" name="Rectangle 8">
            <a:extLst>
              <a:ext uri="{FF2B5EF4-FFF2-40B4-BE49-F238E27FC236}">
                <a16:creationId xmlns:a16="http://schemas.microsoft.com/office/drawing/2014/main" id="{22E7300C-782E-FCE8-1B15-70E37C3E600D}"/>
              </a:ext>
            </a:extLst>
          </p:cNvPr>
          <p:cNvSpPr/>
          <p:nvPr/>
        </p:nvSpPr>
        <p:spPr>
          <a:xfrm>
            <a:off x="5092700" y="8013700"/>
            <a:ext cx="6654800" cy="52578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gn="just">
              <a:buFont typeface="Arial" panose="020B0604020202020204" pitchFamily="34" charset="0"/>
              <a:buChar char="•"/>
            </a:pPr>
            <a:r>
              <a:rPr lang="en-GB" dirty="0">
                <a:latin typeface="Bahnschrift" panose="020B0502040204020203" pitchFamily="34" charset="0"/>
              </a:rPr>
              <a:t>The application is designed as a desktop-based system and is limited to the Windows operating system.</a:t>
            </a:r>
          </a:p>
          <a:p>
            <a:pPr marL="285750" indent="-285750" algn="just">
              <a:buFont typeface="Arial" panose="020B0604020202020204" pitchFamily="34" charset="0"/>
              <a:buChar char="•"/>
            </a:pPr>
            <a:endParaRPr lang="en-GB" dirty="0">
              <a:latin typeface="Bahnschrift" panose="020B0502040204020203" pitchFamily="34" charset="0"/>
            </a:endParaRPr>
          </a:p>
          <a:p>
            <a:pPr marL="285750" indent="-285750" algn="just">
              <a:buFont typeface="Arial" panose="020B0604020202020204" pitchFamily="34" charset="0"/>
              <a:buChar char="•"/>
            </a:pPr>
            <a:r>
              <a:rPr lang="en-GB" dirty="0">
                <a:latin typeface="Bahnschrift" panose="020B0502040204020203" pitchFamily="34" charset="0"/>
              </a:rPr>
              <a:t>The system is intended for a single laundry shop and does not support multi-branch management.</a:t>
            </a:r>
          </a:p>
          <a:p>
            <a:pPr marL="285750" indent="-285750" algn="just">
              <a:buFont typeface="Arial" panose="020B0604020202020204" pitchFamily="34" charset="0"/>
              <a:buChar char="•"/>
            </a:pPr>
            <a:endParaRPr lang="en-GB" dirty="0">
              <a:latin typeface="Bahnschrift" panose="020B0502040204020203" pitchFamily="34" charset="0"/>
            </a:endParaRPr>
          </a:p>
          <a:p>
            <a:pPr marL="285750" indent="-285750" algn="just">
              <a:buFont typeface="Arial" panose="020B0604020202020204" pitchFamily="34" charset="0"/>
              <a:buChar char="•"/>
            </a:pPr>
            <a:r>
              <a:rPr lang="en-GB" dirty="0">
                <a:latin typeface="Bahnschrift" panose="020B0502040204020203" pitchFamily="34" charset="0"/>
              </a:rPr>
              <a:t>Online booking, payment processing, and customer notification features are not included in the current implementation.</a:t>
            </a:r>
          </a:p>
          <a:p>
            <a:pPr marL="285750" indent="-285750" algn="just">
              <a:buFont typeface="Arial" panose="020B0604020202020204" pitchFamily="34" charset="0"/>
              <a:buChar char="•"/>
            </a:pPr>
            <a:endParaRPr lang="en-GB" dirty="0">
              <a:latin typeface="Bahnschrift" panose="020B0502040204020203" pitchFamily="34" charset="0"/>
            </a:endParaRPr>
          </a:p>
          <a:p>
            <a:pPr marL="285750" indent="-285750" algn="just">
              <a:buFont typeface="Arial" panose="020B0604020202020204" pitchFamily="34" charset="0"/>
              <a:buChar char="•"/>
            </a:pPr>
            <a:r>
              <a:rPr lang="en-GB" dirty="0">
                <a:latin typeface="Bahnschrift" panose="020B0502040204020203" pitchFamily="34" charset="0"/>
              </a:rPr>
              <a:t>The system has been tested under normal operating conditions, and extensive performance and scalability testing were beyond the scope of this project.</a:t>
            </a:r>
          </a:p>
          <a:p>
            <a:pPr algn="just"/>
            <a:endParaRPr lang="en-GB" dirty="0">
              <a:latin typeface="Bahnschrift" panose="020B0502040204020203" pitchFamily="34" charset="0"/>
            </a:endParaRPr>
          </a:p>
          <a:p>
            <a:pPr marL="285750" indent="-285750" algn="just">
              <a:buFont typeface="Arial" panose="020B0604020202020204" pitchFamily="34" charset="0"/>
              <a:buChar char="•"/>
            </a:pPr>
            <a:r>
              <a:rPr lang="en-GB" dirty="0">
                <a:latin typeface="Bahnschrift" panose="020B0502040204020203" pitchFamily="34" charset="0"/>
              </a:rPr>
              <a:t>Reporting and data analytics features are limited and can be further improved in future versions</a:t>
            </a:r>
          </a:p>
        </p:txBody>
      </p:sp>
      <p:cxnSp>
        <p:nvCxnSpPr>
          <p:cNvPr id="2" name="Straight Connector 1">
            <a:extLst>
              <a:ext uri="{FF2B5EF4-FFF2-40B4-BE49-F238E27FC236}">
                <a16:creationId xmlns:a16="http://schemas.microsoft.com/office/drawing/2014/main" id="{9784E62A-CA65-1A19-DCF8-6E5C3D882F6B}"/>
              </a:ext>
            </a:extLst>
          </p:cNvPr>
          <p:cNvCxnSpPr>
            <a:cxnSpLocks/>
          </p:cNvCxnSpPr>
          <p:nvPr/>
        </p:nvCxnSpPr>
        <p:spPr>
          <a:xfrm flipV="1">
            <a:off x="4972232" y="8215093"/>
            <a:ext cx="0" cy="6857999"/>
          </a:xfrm>
          <a:prstGeom prst="line">
            <a:avLst/>
          </a:prstGeom>
          <a:ln w="60325" cmpd="thickThi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0DD313D7-571F-B17D-0E8D-E9FE89576B96}"/>
              </a:ext>
            </a:extLst>
          </p:cNvPr>
          <p:cNvCxnSpPr>
            <a:cxnSpLocks/>
          </p:cNvCxnSpPr>
          <p:nvPr/>
        </p:nvCxnSpPr>
        <p:spPr>
          <a:xfrm flipV="1">
            <a:off x="5105400" y="-14511"/>
            <a:ext cx="0" cy="6857999"/>
          </a:xfrm>
          <a:prstGeom prst="line">
            <a:avLst/>
          </a:prstGeom>
          <a:ln w="60325" cmpd="thickThi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9551297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28880A-59AF-3613-8C0E-D9A57F90D14B}"/>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93E4CDD8-34AA-F223-DFD8-AF479C2A71F9}"/>
              </a:ext>
            </a:extLst>
          </p:cNvPr>
          <p:cNvPicPr>
            <a:picLocks noChangeAspect="1"/>
          </p:cNvPicPr>
          <p:nvPr/>
        </p:nvPicPr>
        <p:blipFill>
          <a:blip r:embed="rId2">
            <a:extLst>
              <a:ext uri="{28A0092B-C50C-407E-A947-70E740481C1C}">
                <a14:useLocalDpi xmlns:a14="http://schemas.microsoft.com/office/drawing/2010/main" val="0"/>
              </a:ext>
            </a:extLst>
          </a:blip>
          <a:srcRect t="7804" b="7804"/>
          <a:stretch/>
        </p:blipFill>
        <p:spPr>
          <a:xfrm>
            <a:off x="1" y="7476695"/>
            <a:ext cx="12192000" cy="6862830"/>
          </a:xfrm>
          <a:prstGeom prst="rect">
            <a:avLst/>
          </a:prstGeom>
        </p:spPr>
      </p:pic>
      <p:sp>
        <p:nvSpPr>
          <p:cNvPr id="10" name="Rectangle 9">
            <a:extLst>
              <a:ext uri="{FF2B5EF4-FFF2-40B4-BE49-F238E27FC236}">
                <a16:creationId xmlns:a16="http://schemas.microsoft.com/office/drawing/2014/main" id="{E0BF0DAE-C0F7-CF82-B06C-C3C12BCAEA4E}"/>
              </a:ext>
            </a:extLst>
          </p:cNvPr>
          <p:cNvSpPr/>
          <p:nvPr/>
        </p:nvSpPr>
        <p:spPr>
          <a:xfrm>
            <a:off x="-25400" y="7494290"/>
            <a:ext cx="12217400" cy="6877199"/>
          </a:xfrm>
          <a:prstGeom prst="rect">
            <a:avLst/>
          </a:prstGeom>
          <a:solidFill>
            <a:schemeClr val="tx1">
              <a:alpha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5" name="Picture 4">
            <a:extLst>
              <a:ext uri="{FF2B5EF4-FFF2-40B4-BE49-F238E27FC236}">
                <a16:creationId xmlns:a16="http://schemas.microsoft.com/office/drawing/2014/main" id="{8025F969-5AA7-781D-88E7-1C3D86B1A10B}"/>
              </a:ext>
            </a:extLst>
          </p:cNvPr>
          <p:cNvPicPr>
            <a:picLocks noChangeAspect="1"/>
          </p:cNvPicPr>
          <p:nvPr/>
        </p:nvPicPr>
        <p:blipFill>
          <a:blip r:embed="rId3">
            <a:extLst>
              <a:ext uri="{28A0092B-C50C-407E-A947-70E740481C1C}">
                <a14:useLocalDpi xmlns:a14="http://schemas.microsoft.com/office/drawing/2010/main" val="0"/>
              </a:ext>
            </a:extLst>
          </a:blip>
          <a:srcRect t="7754" b="7754"/>
          <a:stretch/>
        </p:blipFill>
        <p:spPr>
          <a:xfrm>
            <a:off x="1" y="-27195"/>
            <a:ext cx="12192000" cy="6862830"/>
          </a:xfrm>
          <a:prstGeom prst="rect">
            <a:avLst/>
          </a:prstGeom>
        </p:spPr>
      </p:pic>
      <p:sp>
        <p:nvSpPr>
          <p:cNvPr id="12" name="Rectangle 11">
            <a:extLst>
              <a:ext uri="{FF2B5EF4-FFF2-40B4-BE49-F238E27FC236}">
                <a16:creationId xmlns:a16="http://schemas.microsoft.com/office/drawing/2014/main" id="{5F8ACFD0-AB88-FEDD-646B-2446C1C8467C}"/>
              </a:ext>
            </a:extLst>
          </p:cNvPr>
          <p:cNvSpPr/>
          <p:nvPr/>
        </p:nvSpPr>
        <p:spPr>
          <a:xfrm>
            <a:off x="-25400" y="-27194"/>
            <a:ext cx="12217400" cy="6894794"/>
          </a:xfrm>
          <a:prstGeom prst="rect">
            <a:avLst/>
          </a:prstGeom>
          <a:solidFill>
            <a:schemeClr val="tx1">
              <a:alpha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1" name="Pentagon 57">
            <a:extLst>
              <a:ext uri="{FF2B5EF4-FFF2-40B4-BE49-F238E27FC236}">
                <a16:creationId xmlns:a16="http://schemas.microsoft.com/office/drawing/2014/main" id="{F3275D5D-C8CF-841F-6035-BE47F15E507D}"/>
              </a:ext>
            </a:extLst>
          </p:cNvPr>
          <p:cNvSpPr/>
          <p:nvPr/>
        </p:nvSpPr>
        <p:spPr>
          <a:xfrm>
            <a:off x="-2197099" y="2070100"/>
            <a:ext cx="9829800" cy="1278169"/>
          </a:xfrm>
          <a:prstGeom prst="homePlate">
            <a:avLst/>
          </a:prstGeom>
          <a:no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400" b="1" dirty="0">
                <a:solidFill>
                  <a:schemeClr val="bg1"/>
                </a:solidFill>
                <a:latin typeface="Bahnschrift" panose="020B0502040204020203" pitchFamily="34" charset="0"/>
                <a:cs typeface="Dubai Light" panose="020B0303030403030204" pitchFamily="34" charset="-78"/>
              </a:rPr>
              <a:t>LIMITATION</a:t>
            </a:r>
          </a:p>
        </p:txBody>
      </p:sp>
      <p:sp>
        <p:nvSpPr>
          <p:cNvPr id="4" name="Rectangle 3">
            <a:extLst>
              <a:ext uri="{FF2B5EF4-FFF2-40B4-BE49-F238E27FC236}">
                <a16:creationId xmlns:a16="http://schemas.microsoft.com/office/drawing/2014/main" id="{B0A69CEE-C3AE-4F52-21C9-5C19D0E61A21}"/>
              </a:ext>
            </a:extLst>
          </p:cNvPr>
          <p:cNvSpPr/>
          <p:nvPr/>
        </p:nvSpPr>
        <p:spPr>
          <a:xfrm>
            <a:off x="5092700" y="825500"/>
            <a:ext cx="6654800" cy="52578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gn="just">
              <a:buFont typeface="Arial" panose="020B0604020202020204" pitchFamily="34" charset="0"/>
              <a:buChar char="•"/>
            </a:pPr>
            <a:r>
              <a:rPr lang="en-GB" dirty="0">
                <a:latin typeface="Bahnschrift" panose="020B0502040204020203" pitchFamily="34" charset="0"/>
              </a:rPr>
              <a:t>The application is designed as a desktop-based system and is limited to the Windows operating system.</a:t>
            </a:r>
          </a:p>
          <a:p>
            <a:pPr marL="285750" indent="-285750" algn="just">
              <a:buFont typeface="Arial" panose="020B0604020202020204" pitchFamily="34" charset="0"/>
              <a:buChar char="•"/>
            </a:pPr>
            <a:endParaRPr lang="en-GB" dirty="0">
              <a:latin typeface="Bahnschrift" panose="020B0502040204020203" pitchFamily="34" charset="0"/>
            </a:endParaRPr>
          </a:p>
          <a:p>
            <a:pPr marL="285750" indent="-285750" algn="just">
              <a:buFont typeface="Arial" panose="020B0604020202020204" pitchFamily="34" charset="0"/>
              <a:buChar char="•"/>
            </a:pPr>
            <a:r>
              <a:rPr lang="en-GB" dirty="0">
                <a:latin typeface="Bahnschrift" panose="020B0502040204020203" pitchFamily="34" charset="0"/>
              </a:rPr>
              <a:t>The system is intended for a single laundry shop and does not support multi-branch management.</a:t>
            </a:r>
          </a:p>
          <a:p>
            <a:pPr marL="285750" indent="-285750" algn="just">
              <a:buFont typeface="Arial" panose="020B0604020202020204" pitchFamily="34" charset="0"/>
              <a:buChar char="•"/>
            </a:pPr>
            <a:endParaRPr lang="en-GB" dirty="0">
              <a:latin typeface="Bahnschrift" panose="020B0502040204020203" pitchFamily="34" charset="0"/>
            </a:endParaRPr>
          </a:p>
          <a:p>
            <a:pPr marL="285750" indent="-285750" algn="just">
              <a:buFont typeface="Arial" panose="020B0604020202020204" pitchFamily="34" charset="0"/>
              <a:buChar char="•"/>
            </a:pPr>
            <a:r>
              <a:rPr lang="en-GB" dirty="0">
                <a:latin typeface="Bahnschrift" panose="020B0502040204020203" pitchFamily="34" charset="0"/>
              </a:rPr>
              <a:t>Online booking, payment processing, and customer notification features are not included in the current implementation.</a:t>
            </a:r>
          </a:p>
          <a:p>
            <a:pPr marL="285750" indent="-285750" algn="just">
              <a:buFont typeface="Arial" panose="020B0604020202020204" pitchFamily="34" charset="0"/>
              <a:buChar char="•"/>
            </a:pPr>
            <a:endParaRPr lang="en-GB" dirty="0">
              <a:latin typeface="Bahnschrift" panose="020B0502040204020203" pitchFamily="34" charset="0"/>
            </a:endParaRPr>
          </a:p>
          <a:p>
            <a:pPr marL="285750" indent="-285750" algn="just">
              <a:buFont typeface="Arial" panose="020B0604020202020204" pitchFamily="34" charset="0"/>
              <a:buChar char="•"/>
            </a:pPr>
            <a:r>
              <a:rPr lang="en-GB" dirty="0">
                <a:latin typeface="Bahnschrift" panose="020B0502040204020203" pitchFamily="34" charset="0"/>
              </a:rPr>
              <a:t>The system has been tested under normal operating conditions, and extensive performance and scalability testing were beyond the scope of this project.</a:t>
            </a:r>
          </a:p>
          <a:p>
            <a:pPr algn="just"/>
            <a:endParaRPr lang="en-GB" dirty="0">
              <a:latin typeface="Bahnschrift" panose="020B0502040204020203" pitchFamily="34" charset="0"/>
            </a:endParaRPr>
          </a:p>
          <a:p>
            <a:pPr marL="285750" indent="-285750" algn="just">
              <a:buFont typeface="Arial" panose="020B0604020202020204" pitchFamily="34" charset="0"/>
              <a:buChar char="•"/>
            </a:pPr>
            <a:r>
              <a:rPr lang="en-GB" dirty="0">
                <a:latin typeface="Bahnschrift" panose="020B0502040204020203" pitchFamily="34" charset="0"/>
              </a:rPr>
              <a:t>Reporting and data analytics features are limited and can be further improved in future versions</a:t>
            </a:r>
          </a:p>
        </p:txBody>
      </p:sp>
      <p:sp>
        <p:nvSpPr>
          <p:cNvPr id="6" name="Pentagon 57">
            <a:extLst>
              <a:ext uri="{FF2B5EF4-FFF2-40B4-BE49-F238E27FC236}">
                <a16:creationId xmlns:a16="http://schemas.microsoft.com/office/drawing/2014/main" id="{CF1EE638-B966-20E7-5781-F6552952812B}"/>
              </a:ext>
            </a:extLst>
          </p:cNvPr>
          <p:cNvSpPr/>
          <p:nvPr/>
        </p:nvSpPr>
        <p:spPr>
          <a:xfrm>
            <a:off x="0" y="7669130"/>
            <a:ext cx="6261101" cy="1278169"/>
          </a:xfrm>
          <a:prstGeom prst="homePlate">
            <a:avLst/>
          </a:prstGeom>
          <a:no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400" b="1" dirty="0">
                <a:solidFill>
                  <a:schemeClr val="bg1"/>
                </a:solidFill>
                <a:latin typeface="Bahnschrift" panose="020B0502040204020203" pitchFamily="34" charset="0"/>
                <a:cs typeface="Dubai Light" panose="020B0303030403030204" pitchFamily="34" charset="-78"/>
              </a:rPr>
              <a:t>FUTURE IMPROVEMENT</a:t>
            </a:r>
          </a:p>
        </p:txBody>
      </p:sp>
      <p:sp>
        <p:nvSpPr>
          <p:cNvPr id="17" name="Rectangle 16">
            <a:extLst>
              <a:ext uri="{FF2B5EF4-FFF2-40B4-BE49-F238E27FC236}">
                <a16:creationId xmlns:a16="http://schemas.microsoft.com/office/drawing/2014/main" id="{DE792E27-4F33-AE0C-3F54-552D3968FAEF}"/>
              </a:ext>
            </a:extLst>
          </p:cNvPr>
          <p:cNvSpPr/>
          <p:nvPr/>
        </p:nvSpPr>
        <p:spPr>
          <a:xfrm>
            <a:off x="5085446" y="7552876"/>
            <a:ext cx="6654800" cy="52578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gn="just">
              <a:buFont typeface="Arial" panose="020B0604020202020204" pitchFamily="34" charset="0"/>
              <a:buChar char="•"/>
            </a:pPr>
            <a:r>
              <a:rPr lang="en-GB" dirty="0">
                <a:latin typeface="Bahnschrift" panose="020B0502040204020203" pitchFamily="34" charset="0"/>
              </a:rPr>
              <a:t>Develop a web-based or mobile application to enable remote access for customers and staff. </a:t>
            </a:r>
          </a:p>
          <a:p>
            <a:pPr marL="285750" indent="-285750" algn="just">
              <a:buFont typeface="Arial" panose="020B0604020202020204" pitchFamily="34" charset="0"/>
              <a:buChar char="•"/>
            </a:pPr>
            <a:endParaRPr lang="en-GB" dirty="0">
              <a:latin typeface="Bahnschrift" panose="020B0502040204020203" pitchFamily="34" charset="0"/>
            </a:endParaRPr>
          </a:p>
          <a:p>
            <a:pPr marL="285750" indent="-285750" algn="just">
              <a:buFont typeface="Arial" panose="020B0604020202020204" pitchFamily="34" charset="0"/>
              <a:buChar char="•"/>
            </a:pPr>
            <a:r>
              <a:rPr lang="en-GB" dirty="0">
                <a:latin typeface="Bahnschrift" panose="020B0502040204020203" pitchFamily="34" charset="0"/>
              </a:rPr>
              <a:t>Integrate online payment methods to simplify the billing process.</a:t>
            </a:r>
          </a:p>
          <a:p>
            <a:pPr marL="285750" indent="-285750" algn="just">
              <a:buFont typeface="Arial" panose="020B0604020202020204" pitchFamily="34" charset="0"/>
              <a:buChar char="•"/>
            </a:pPr>
            <a:endParaRPr lang="en-GB" dirty="0">
              <a:latin typeface="Bahnschrift" panose="020B0502040204020203" pitchFamily="34" charset="0"/>
            </a:endParaRPr>
          </a:p>
          <a:p>
            <a:pPr marL="285750" indent="-285750" algn="just">
              <a:buFont typeface="Arial" panose="020B0604020202020204" pitchFamily="34" charset="0"/>
              <a:buChar char="•"/>
            </a:pPr>
            <a:r>
              <a:rPr lang="en-GB" dirty="0">
                <a:latin typeface="Bahnschrift" panose="020B0502040204020203" pitchFamily="34" charset="0"/>
              </a:rPr>
              <a:t>Implement SMS or email notifications to inform customers when their laundry is ready for pickup.</a:t>
            </a:r>
          </a:p>
          <a:p>
            <a:pPr marL="285750" indent="-285750" algn="just">
              <a:buFont typeface="Arial" panose="020B0604020202020204" pitchFamily="34" charset="0"/>
              <a:buChar char="•"/>
            </a:pPr>
            <a:endParaRPr lang="en-GB" dirty="0">
              <a:latin typeface="Bahnschrift" panose="020B0502040204020203" pitchFamily="34" charset="0"/>
            </a:endParaRPr>
          </a:p>
          <a:p>
            <a:pPr marL="285750" indent="-285750" algn="just">
              <a:buFont typeface="Arial" panose="020B0604020202020204" pitchFamily="34" charset="0"/>
              <a:buChar char="•"/>
            </a:pPr>
            <a:r>
              <a:rPr lang="en-GB" dirty="0">
                <a:latin typeface="Bahnschrift" panose="020B0502040204020203" pitchFamily="34" charset="0"/>
              </a:rPr>
              <a:t>Add reporting and analytics features to provide insights into orders, revenue, and customer activity.</a:t>
            </a:r>
          </a:p>
          <a:p>
            <a:pPr marL="285750" indent="-285750" algn="just">
              <a:buFont typeface="Arial" panose="020B0604020202020204" pitchFamily="34" charset="0"/>
              <a:buChar char="•"/>
            </a:pPr>
            <a:endParaRPr lang="en-GB" dirty="0">
              <a:latin typeface="Bahnschrift" panose="020B0502040204020203" pitchFamily="34" charset="0"/>
            </a:endParaRPr>
          </a:p>
          <a:p>
            <a:pPr marL="285750" indent="-285750" algn="just">
              <a:buFont typeface="Arial" panose="020B0604020202020204" pitchFamily="34" charset="0"/>
              <a:buChar char="•"/>
            </a:pPr>
            <a:r>
              <a:rPr lang="en-GB" dirty="0">
                <a:latin typeface="Bahnschrift" panose="020B0502040204020203" pitchFamily="34" charset="0"/>
              </a:rPr>
              <a:t>Extend the system to support multiple laundry branches with centralized data management.</a:t>
            </a:r>
          </a:p>
          <a:p>
            <a:pPr marL="285750" indent="-285750" algn="just">
              <a:buFont typeface="Arial" panose="020B0604020202020204" pitchFamily="34" charset="0"/>
              <a:buChar char="•"/>
            </a:pPr>
            <a:endParaRPr lang="en-GB" dirty="0">
              <a:latin typeface="Bahnschrift" panose="020B0502040204020203" pitchFamily="34" charset="0"/>
            </a:endParaRPr>
          </a:p>
          <a:p>
            <a:pPr marL="285750" indent="-285750" algn="just">
              <a:buFont typeface="Arial" panose="020B0604020202020204" pitchFamily="34" charset="0"/>
              <a:buChar char="•"/>
            </a:pPr>
            <a:r>
              <a:rPr lang="en-GB" dirty="0">
                <a:latin typeface="Bahnschrift" panose="020B0502040204020203" pitchFamily="34" charset="0"/>
              </a:rPr>
              <a:t>Improve system security by implementing role-based access control and enhanced data protection mechanisms.</a:t>
            </a:r>
          </a:p>
        </p:txBody>
      </p:sp>
      <p:sp>
        <p:nvSpPr>
          <p:cNvPr id="3" name="Pentagon 57">
            <a:extLst>
              <a:ext uri="{FF2B5EF4-FFF2-40B4-BE49-F238E27FC236}">
                <a16:creationId xmlns:a16="http://schemas.microsoft.com/office/drawing/2014/main" id="{0F2EC2F0-0205-6D32-4D6C-B30ADDCFEC2A}"/>
              </a:ext>
            </a:extLst>
          </p:cNvPr>
          <p:cNvSpPr/>
          <p:nvPr/>
        </p:nvSpPr>
        <p:spPr>
          <a:xfrm>
            <a:off x="-2044699" y="-3380018"/>
            <a:ext cx="9829800" cy="1278169"/>
          </a:xfrm>
          <a:prstGeom prst="homePlate">
            <a:avLst/>
          </a:prstGeom>
          <a:no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400" b="1" dirty="0">
                <a:solidFill>
                  <a:schemeClr val="bg1"/>
                </a:solidFill>
                <a:latin typeface="Bahnschrift" panose="020B0502040204020203" pitchFamily="34" charset="0"/>
                <a:cs typeface="Dubai Light" panose="020B0303030403030204" pitchFamily="34" charset="-78"/>
              </a:rPr>
              <a:t>CONCLUSION</a:t>
            </a:r>
          </a:p>
        </p:txBody>
      </p:sp>
      <p:cxnSp>
        <p:nvCxnSpPr>
          <p:cNvPr id="2" name="Straight Connector 1">
            <a:extLst>
              <a:ext uri="{FF2B5EF4-FFF2-40B4-BE49-F238E27FC236}">
                <a16:creationId xmlns:a16="http://schemas.microsoft.com/office/drawing/2014/main" id="{B9F29A8B-0BEE-CAFF-6ADD-CD94A60A5399}"/>
              </a:ext>
            </a:extLst>
          </p:cNvPr>
          <p:cNvCxnSpPr>
            <a:cxnSpLocks/>
          </p:cNvCxnSpPr>
          <p:nvPr/>
        </p:nvCxnSpPr>
        <p:spPr>
          <a:xfrm flipV="1">
            <a:off x="4972232" y="1"/>
            <a:ext cx="0" cy="6857999"/>
          </a:xfrm>
          <a:prstGeom prst="line">
            <a:avLst/>
          </a:prstGeom>
          <a:ln w="60325" cmpd="thickThi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7B266A81-01BF-6B98-0388-00BC91AD5B35}"/>
              </a:ext>
            </a:extLst>
          </p:cNvPr>
          <p:cNvCxnSpPr>
            <a:cxnSpLocks/>
          </p:cNvCxnSpPr>
          <p:nvPr/>
        </p:nvCxnSpPr>
        <p:spPr>
          <a:xfrm flipV="1">
            <a:off x="4979489" y="8077207"/>
            <a:ext cx="0" cy="6857999"/>
          </a:xfrm>
          <a:prstGeom prst="line">
            <a:avLst/>
          </a:prstGeom>
          <a:ln w="60325" cmpd="thickThi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1512665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C3ED1D-EA02-19B1-FB22-E140713BB46C}"/>
            </a:ext>
          </a:extLst>
        </p:cNvPr>
        <p:cNvGrpSpPr/>
        <p:nvPr/>
      </p:nvGrpSpPr>
      <p:grpSpPr>
        <a:xfrm>
          <a:off x="0" y="0"/>
          <a:ext cx="0" cy="0"/>
          <a:chOff x="0" y="0"/>
          <a:chExt cx="0" cy="0"/>
        </a:xfrm>
      </p:grpSpPr>
      <p:pic>
        <p:nvPicPr>
          <p:cNvPr id="27" name="Picture 26">
            <a:extLst>
              <a:ext uri="{FF2B5EF4-FFF2-40B4-BE49-F238E27FC236}">
                <a16:creationId xmlns:a16="http://schemas.microsoft.com/office/drawing/2014/main" id="{3A30E10A-187E-8584-FFC7-744F9B271A78}"/>
              </a:ext>
            </a:extLst>
          </p:cNvPr>
          <p:cNvPicPr>
            <a:picLocks noChangeAspect="1"/>
          </p:cNvPicPr>
          <p:nvPr/>
        </p:nvPicPr>
        <p:blipFill>
          <a:blip r:embed="rId2">
            <a:extLst>
              <a:ext uri="{28A0092B-C50C-407E-A947-70E740481C1C}">
                <a14:useLocalDpi xmlns:a14="http://schemas.microsoft.com/office/drawing/2010/main" val="0"/>
              </a:ext>
            </a:extLst>
          </a:blip>
          <a:srcRect l="35" r="35"/>
          <a:stretch/>
        </p:blipFill>
        <p:spPr>
          <a:xfrm>
            <a:off x="36289" y="8137098"/>
            <a:ext cx="12192000" cy="6862830"/>
          </a:xfrm>
          <a:prstGeom prst="rect">
            <a:avLst/>
          </a:prstGeom>
        </p:spPr>
      </p:pic>
      <p:sp>
        <p:nvSpPr>
          <p:cNvPr id="29" name="Rectangle 28">
            <a:extLst>
              <a:ext uri="{FF2B5EF4-FFF2-40B4-BE49-F238E27FC236}">
                <a16:creationId xmlns:a16="http://schemas.microsoft.com/office/drawing/2014/main" id="{C89531CB-9B1F-D9DD-37F9-686BEBDD956F}"/>
              </a:ext>
            </a:extLst>
          </p:cNvPr>
          <p:cNvSpPr/>
          <p:nvPr/>
        </p:nvSpPr>
        <p:spPr>
          <a:xfrm>
            <a:off x="10888" y="8154693"/>
            <a:ext cx="12217400" cy="6877199"/>
          </a:xfrm>
          <a:prstGeom prst="rect">
            <a:avLst/>
          </a:prstGeom>
          <a:solidFill>
            <a:schemeClr val="tx1">
              <a:alpha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5" name="Picture 4">
            <a:extLst>
              <a:ext uri="{FF2B5EF4-FFF2-40B4-BE49-F238E27FC236}">
                <a16:creationId xmlns:a16="http://schemas.microsoft.com/office/drawing/2014/main" id="{F8336183-140A-1B54-5A49-A4088E31F495}"/>
              </a:ext>
            </a:extLst>
          </p:cNvPr>
          <p:cNvPicPr>
            <a:picLocks noChangeAspect="1"/>
          </p:cNvPicPr>
          <p:nvPr/>
        </p:nvPicPr>
        <p:blipFill>
          <a:blip r:embed="rId3">
            <a:extLst>
              <a:ext uri="{28A0092B-C50C-407E-A947-70E740481C1C}">
                <a14:useLocalDpi xmlns:a14="http://schemas.microsoft.com/office/drawing/2010/main" val="0"/>
              </a:ext>
            </a:extLst>
          </a:blip>
          <a:srcRect t="7804" b="7804"/>
          <a:stretch/>
        </p:blipFill>
        <p:spPr>
          <a:xfrm>
            <a:off x="1" y="-27195"/>
            <a:ext cx="12192000" cy="6862830"/>
          </a:xfrm>
          <a:prstGeom prst="rect">
            <a:avLst/>
          </a:prstGeom>
        </p:spPr>
      </p:pic>
      <p:sp>
        <p:nvSpPr>
          <p:cNvPr id="12" name="Rectangle 11">
            <a:extLst>
              <a:ext uri="{FF2B5EF4-FFF2-40B4-BE49-F238E27FC236}">
                <a16:creationId xmlns:a16="http://schemas.microsoft.com/office/drawing/2014/main" id="{DFE1EA14-2DA7-C45E-9E71-E535BAD53CB5}"/>
              </a:ext>
            </a:extLst>
          </p:cNvPr>
          <p:cNvSpPr/>
          <p:nvPr/>
        </p:nvSpPr>
        <p:spPr>
          <a:xfrm>
            <a:off x="-25400" y="-9600"/>
            <a:ext cx="12217400" cy="6877199"/>
          </a:xfrm>
          <a:prstGeom prst="rect">
            <a:avLst/>
          </a:prstGeom>
          <a:solidFill>
            <a:schemeClr val="tx1">
              <a:alpha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1" name="Pentagon 57">
            <a:extLst>
              <a:ext uri="{FF2B5EF4-FFF2-40B4-BE49-F238E27FC236}">
                <a16:creationId xmlns:a16="http://schemas.microsoft.com/office/drawing/2014/main" id="{78AA8B23-BE78-63A3-6B3C-1E2EC4142641}"/>
              </a:ext>
            </a:extLst>
          </p:cNvPr>
          <p:cNvSpPr/>
          <p:nvPr/>
        </p:nvSpPr>
        <p:spPr>
          <a:xfrm>
            <a:off x="-2197099" y="-6580421"/>
            <a:ext cx="9829800" cy="1278169"/>
          </a:xfrm>
          <a:prstGeom prst="homePlate">
            <a:avLst/>
          </a:prstGeom>
          <a:no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400" b="1" dirty="0">
                <a:solidFill>
                  <a:schemeClr val="bg1"/>
                </a:solidFill>
                <a:latin typeface="Bahnschrift" panose="020B0502040204020203" pitchFamily="34" charset="0"/>
                <a:cs typeface="Dubai Light" panose="020B0303030403030204" pitchFamily="34" charset="-78"/>
              </a:rPr>
              <a:t>LIMITATION</a:t>
            </a:r>
          </a:p>
        </p:txBody>
      </p:sp>
      <p:sp>
        <p:nvSpPr>
          <p:cNvPr id="4" name="Rectangle 3">
            <a:extLst>
              <a:ext uri="{FF2B5EF4-FFF2-40B4-BE49-F238E27FC236}">
                <a16:creationId xmlns:a16="http://schemas.microsoft.com/office/drawing/2014/main" id="{812DDD5B-4968-7043-64FE-872DC0BA8727}"/>
              </a:ext>
            </a:extLst>
          </p:cNvPr>
          <p:cNvSpPr/>
          <p:nvPr/>
        </p:nvSpPr>
        <p:spPr>
          <a:xfrm>
            <a:off x="5092700" y="-7825021"/>
            <a:ext cx="6654800" cy="52578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gn="just">
              <a:buFont typeface="Arial" panose="020B0604020202020204" pitchFamily="34" charset="0"/>
              <a:buChar char="•"/>
            </a:pPr>
            <a:r>
              <a:rPr lang="en-GB" dirty="0">
                <a:latin typeface="Bahnschrift" panose="020B0502040204020203" pitchFamily="34" charset="0"/>
              </a:rPr>
              <a:t>The application is designed as a desktop-based system and is limited to the Windows operating system.</a:t>
            </a:r>
          </a:p>
          <a:p>
            <a:pPr marL="285750" indent="-285750" algn="just">
              <a:buFont typeface="Arial" panose="020B0604020202020204" pitchFamily="34" charset="0"/>
              <a:buChar char="•"/>
            </a:pPr>
            <a:endParaRPr lang="en-GB" dirty="0">
              <a:latin typeface="Bahnschrift" panose="020B0502040204020203" pitchFamily="34" charset="0"/>
            </a:endParaRPr>
          </a:p>
          <a:p>
            <a:pPr marL="285750" indent="-285750" algn="just">
              <a:buFont typeface="Arial" panose="020B0604020202020204" pitchFamily="34" charset="0"/>
              <a:buChar char="•"/>
            </a:pPr>
            <a:r>
              <a:rPr lang="en-GB" dirty="0">
                <a:latin typeface="Bahnschrift" panose="020B0502040204020203" pitchFamily="34" charset="0"/>
              </a:rPr>
              <a:t>The system is intended for a single laundry shop and does not support multi-branch management.</a:t>
            </a:r>
          </a:p>
          <a:p>
            <a:pPr marL="285750" indent="-285750" algn="just">
              <a:buFont typeface="Arial" panose="020B0604020202020204" pitchFamily="34" charset="0"/>
              <a:buChar char="•"/>
            </a:pPr>
            <a:endParaRPr lang="en-GB" dirty="0">
              <a:latin typeface="Bahnschrift" panose="020B0502040204020203" pitchFamily="34" charset="0"/>
            </a:endParaRPr>
          </a:p>
          <a:p>
            <a:pPr marL="285750" indent="-285750" algn="just">
              <a:buFont typeface="Arial" panose="020B0604020202020204" pitchFamily="34" charset="0"/>
              <a:buChar char="•"/>
            </a:pPr>
            <a:r>
              <a:rPr lang="en-GB" dirty="0">
                <a:latin typeface="Bahnschrift" panose="020B0502040204020203" pitchFamily="34" charset="0"/>
              </a:rPr>
              <a:t>Online booking, payment processing, and customer notification features are not included in the current implementation.</a:t>
            </a:r>
          </a:p>
          <a:p>
            <a:pPr marL="285750" indent="-285750" algn="just">
              <a:buFont typeface="Arial" panose="020B0604020202020204" pitchFamily="34" charset="0"/>
              <a:buChar char="•"/>
            </a:pPr>
            <a:endParaRPr lang="en-GB" dirty="0">
              <a:latin typeface="Bahnschrift" panose="020B0502040204020203" pitchFamily="34" charset="0"/>
            </a:endParaRPr>
          </a:p>
          <a:p>
            <a:pPr marL="285750" indent="-285750" algn="just">
              <a:buFont typeface="Arial" panose="020B0604020202020204" pitchFamily="34" charset="0"/>
              <a:buChar char="•"/>
            </a:pPr>
            <a:r>
              <a:rPr lang="en-GB" dirty="0">
                <a:latin typeface="Bahnschrift" panose="020B0502040204020203" pitchFamily="34" charset="0"/>
              </a:rPr>
              <a:t>The system has been tested under normal operating conditions, and extensive performance and scalability testing were beyond the scope of this project.</a:t>
            </a:r>
          </a:p>
          <a:p>
            <a:pPr algn="just"/>
            <a:endParaRPr lang="en-GB" dirty="0">
              <a:latin typeface="Bahnschrift" panose="020B0502040204020203" pitchFamily="34" charset="0"/>
            </a:endParaRPr>
          </a:p>
          <a:p>
            <a:pPr marL="285750" indent="-285750" algn="just">
              <a:buFont typeface="Arial" panose="020B0604020202020204" pitchFamily="34" charset="0"/>
              <a:buChar char="•"/>
            </a:pPr>
            <a:r>
              <a:rPr lang="en-GB" dirty="0">
                <a:latin typeface="Bahnschrift" panose="020B0502040204020203" pitchFamily="34" charset="0"/>
              </a:rPr>
              <a:t>Reporting and data analytics features are limited and can be further improved in future versions</a:t>
            </a:r>
          </a:p>
        </p:txBody>
      </p:sp>
      <p:sp>
        <p:nvSpPr>
          <p:cNvPr id="6" name="Pentagon 57">
            <a:extLst>
              <a:ext uri="{FF2B5EF4-FFF2-40B4-BE49-F238E27FC236}">
                <a16:creationId xmlns:a16="http://schemas.microsoft.com/office/drawing/2014/main" id="{80AC0B99-94E5-982D-85FA-980EEB6E9836}"/>
              </a:ext>
            </a:extLst>
          </p:cNvPr>
          <p:cNvSpPr/>
          <p:nvPr/>
        </p:nvSpPr>
        <p:spPr>
          <a:xfrm>
            <a:off x="0" y="1776323"/>
            <a:ext cx="6261101" cy="1278169"/>
          </a:xfrm>
          <a:prstGeom prst="homePlate">
            <a:avLst/>
          </a:prstGeom>
          <a:no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400" b="1" dirty="0">
                <a:solidFill>
                  <a:schemeClr val="bg1"/>
                </a:solidFill>
                <a:latin typeface="Bahnschrift" panose="020B0502040204020203" pitchFamily="34" charset="0"/>
                <a:cs typeface="Dubai Light" panose="020B0303030403030204" pitchFamily="34" charset="-78"/>
              </a:rPr>
              <a:t>FUTURE IMPROVEMENT</a:t>
            </a:r>
          </a:p>
        </p:txBody>
      </p:sp>
      <p:sp>
        <p:nvSpPr>
          <p:cNvPr id="17" name="Rectangle 16">
            <a:extLst>
              <a:ext uri="{FF2B5EF4-FFF2-40B4-BE49-F238E27FC236}">
                <a16:creationId xmlns:a16="http://schemas.microsoft.com/office/drawing/2014/main" id="{E2D8DAF3-FC0E-2521-88DE-5C7B48FA671D}"/>
              </a:ext>
            </a:extLst>
          </p:cNvPr>
          <p:cNvSpPr/>
          <p:nvPr/>
        </p:nvSpPr>
        <p:spPr>
          <a:xfrm>
            <a:off x="5085446" y="745671"/>
            <a:ext cx="6654800" cy="52578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gn="just">
              <a:buFont typeface="Arial" panose="020B0604020202020204" pitchFamily="34" charset="0"/>
              <a:buChar char="•"/>
            </a:pPr>
            <a:r>
              <a:rPr lang="en-GB" dirty="0">
                <a:latin typeface="Bahnschrift" panose="020B0502040204020203" pitchFamily="34" charset="0"/>
              </a:rPr>
              <a:t>Develop a web-based or mobile application to enable remote access for customers and staff. </a:t>
            </a:r>
          </a:p>
          <a:p>
            <a:pPr marL="285750" indent="-285750" algn="just">
              <a:buFont typeface="Arial" panose="020B0604020202020204" pitchFamily="34" charset="0"/>
              <a:buChar char="•"/>
            </a:pPr>
            <a:endParaRPr lang="en-GB" dirty="0">
              <a:latin typeface="Bahnschrift" panose="020B0502040204020203" pitchFamily="34" charset="0"/>
            </a:endParaRPr>
          </a:p>
          <a:p>
            <a:pPr marL="285750" indent="-285750" algn="just">
              <a:buFont typeface="Arial" panose="020B0604020202020204" pitchFamily="34" charset="0"/>
              <a:buChar char="•"/>
            </a:pPr>
            <a:r>
              <a:rPr lang="en-GB" dirty="0">
                <a:latin typeface="Bahnschrift" panose="020B0502040204020203" pitchFamily="34" charset="0"/>
              </a:rPr>
              <a:t>Integrate online payment methods to simplify the billing process.</a:t>
            </a:r>
          </a:p>
          <a:p>
            <a:pPr marL="285750" indent="-285750" algn="just">
              <a:buFont typeface="Arial" panose="020B0604020202020204" pitchFamily="34" charset="0"/>
              <a:buChar char="•"/>
            </a:pPr>
            <a:endParaRPr lang="en-GB" dirty="0">
              <a:latin typeface="Bahnschrift" panose="020B0502040204020203" pitchFamily="34" charset="0"/>
            </a:endParaRPr>
          </a:p>
          <a:p>
            <a:pPr marL="285750" indent="-285750" algn="just">
              <a:buFont typeface="Arial" panose="020B0604020202020204" pitchFamily="34" charset="0"/>
              <a:buChar char="•"/>
            </a:pPr>
            <a:r>
              <a:rPr lang="en-GB" dirty="0">
                <a:latin typeface="Bahnschrift" panose="020B0502040204020203" pitchFamily="34" charset="0"/>
              </a:rPr>
              <a:t>Implement SMS or email notifications to inform customers when their laundry is ready for pickup.</a:t>
            </a:r>
          </a:p>
          <a:p>
            <a:pPr marL="285750" indent="-285750" algn="just">
              <a:buFont typeface="Arial" panose="020B0604020202020204" pitchFamily="34" charset="0"/>
              <a:buChar char="•"/>
            </a:pPr>
            <a:endParaRPr lang="en-GB" dirty="0">
              <a:latin typeface="Bahnschrift" panose="020B0502040204020203" pitchFamily="34" charset="0"/>
            </a:endParaRPr>
          </a:p>
          <a:p>
            <a:pPr marL="285750" indent="-285750" algn="just">
              <a:buFont typeface="Arial" panose="020B0604020202020204" pitchFamily="34" charset="0"/>
              <a:buChar char="•"/>
            </a:pPr>
            <a:r>
              <a:rPr lang="en-GB" dirty="0">
                <a:latin typeface="Bahnschrift" panose="020B0502040204020203" pitchFamily="34" charset="0"/>
              </a:rPr>
              <a:t>Add reporting and analytics features to provide insights into orders, revenue, and customer activity.</a:t>
            </a:r>
          </a:p>
          <a:p>
            <a:pPr marL="285750" indent="-285750" algn="just">
              <a:buFont typeface="Arial" panose="020B0604020202020204" pitchFamily="34" charset="0"/>
              <a:buChar char="•"/>
            </a:pPr>
            <a:endParaRPr lang="en-GB" dirty="0">
              <a:latin typeface="Bahnschrift" panose="020B0502040204020203" pitchFamily="34" charset="0"/>
            </a:endParaRPr>
          </a:p>
          <a:p>
            <a:pPr marL="285750" indent="-285750" algn="just">
              <a:buFont typeface="Arial" panose="020B0604020202020204" pitchFamily="34" charset="0"/>
              <a:buChar char="•"/>
            </a:pPr>
            <a:r>
              <a:rPr lang="en-GB" dirty="0">
                <a:latin typeface="Bahnschrift" panose="020B0502040204020203" pitchFamily="34" charset="0"/>
              </a:rPr>
              <a:t>Extend the system to support multiple laundry branches with centralized data management.</a:t>
            </a:r>
          </a:p>
          <a:p>
            <a:pPr marL="285750" indent="-285750" algn="just">
              <a:buFont typeface="Arial" panose="020B0604020202020204" pitchFamily="34" charset="0"/>
              <a:buChar char="•"/>
            </a:pPr>
            <a:endParaRPr lang="en-GB" dirty="0">
              <a:latin typeface="Bahnschrift" panose="020B0502040204020203" pitchFamily="34" charset="0"/>
            </a:endParaRPr>
          </a:p>
          <a:p>
            <a:pPr marL="285750" indent="-285750" algn="just">
              <a:buFont typeface="Arial" panose="020B0604020202020204" pitchFamily="34" charset="0"/>
              <a:buChar char="•"/>
            </a:pPr>
            <a:r>
              <a:rPr lang="en-GB" dirty="0">
                <a:latin typeface="Bahnschrift" panose="020B0502040204020203" pitchFamily="34" charset="0"/>
              </a:rPr>
              <a:t>Improve system security by implementing role-based access control and enhanced data protection mechanisms.</a:t>
            </a:r>
          </a:p>
        </p:txBody>
      </p:sp>
      <p:sp>
        <p:nvSpPr>
          <p:cNvPr id="21" name="Pentagon 57">
            <a:extLst>
              <a:ext uri="{FF2B5EF4-FFF2-40B4-BE49-F238E27FC236}">
                <a16:creationId xmlns:a16="http://schemas.microsoft.com/office/drawing/2014/main" id="{A08C03D5-0F71-C363-9736-E269202B36C4}"/>
              </a:ext>
            </a:extLst>
          </p:cNvPr>
          <p:cNvSpPr/>
          <p:nvPr/>
        </p:nvSpPr>
        <p:spPr>
          <a:xfrm>
            <a:off x="502557" y="8525470"/>
            <a:ext cx="11161486" cy="1278169"/>
          </a:xfrm>
          <a:prstGeom prst="homePlate">
            <a:avLst/>
          </a:prstGeom>
          <a:no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400" b="1" dirty="0">
                <a:solidFill>
                  <a:schemeClr val="bg1"/>
                </a:solidFill>
                <a:latin typeface="Bahnschrift" panose="020B0502040204020203" pitchFamily="34" charset="0"/>
                <a:cs typeface="Dubai Light" panose="020B0303030403030204" pitchFamily="34" charset="-78"/>
              </a:rPr>
              <a:t>ANY QUERIES?</a:t>
            </a:r>
          </a:p>
        </p:txBody>
      </p:sp>
      <p:cxnSp>
        <p:nvCxnSpPr>
          <p:cNvPr id="2" name="Straight Connector 1">
            <a:extLst>
              <a:ext uri="{FF2B5EF4-FFF2-40B4-BE49-F238E27FC236}">
                <a16:creationId xmlns:a16="http://schemas.microsoft.com/office/drawing/2014/main" id="{D7426C29-6A9B-6999-2B65-5DF34CDA7226}"/>
              </a:ext>
            </a:extLst>
          </p:cNvPr>
          <p:cNvCxnSpPr>
            <a:cxnSpLocks/>
          </p:cNvCxnSpPr>
          <p:nvPr/>
        </p:nvCxnSpPr>
        <p:spPr>
          <a:xfrm flipV="1">
            <a:off x="4972232" y="1"/>
            <a:ext cx="0" cy="6857999"/>
          </a:xfrm>
          <a:prstGeom prst="line">
            <a:avLst/>
          </a:prstGeom>
          <a:ln w="60325" cmpd="thickThi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7043992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EE81DF-D054-D099-A970-DE63A89D7A9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F8E95476-31B9-121E-665E-6040CBD5C3E7}"/>
              </a:ext>
            </a:extLst>
          </p:cNvPr>
          <p:cNvPicPr>
            <a:picLocks noChangeAspect="1"/>
          </p:cNvPicPr>
          <p:nvPr/>
        </p:nvPicPr>
        <p:blipFill>
          <a:blip r:embed="rId2">
            <a:extLst>
              <a:ext uri="{28A0092B-C50C-407E-A947-70E740481C1C}">
                <a14:useLocalDpi xmlns:a14="http://schemas.microsoft.com/office/drawing/2010/main" val="0"/>
              </a:ext>
            </a:extLst>
          </a:blip>
          <a:srcRect l="35" r="35"/>
          <a:stretch/>
        </p:blipFill>
        <p:spPr>
          <a:xfrm>
            <a:off x="1" y="-27195"/>
            <a:ext cx="12192000" cy="6862830"/>
          </a:xfrm>
          <a:prstGeom prst="rect">
            <a:avLst/>
          </a:prstGeom>
        </p:spPr>
      </p:pic>
      <p:sp>
        <p:nvSpPr>
          <p:cNvPr id="12" name="Rectangle 11">
            <a:extLst>
              <a:ext uri="{FF2B5EF4-FFF2-40B4-BE49-F238E27FC236}">
                <a16:creationId xmlns:a16="http://schemas.microsoft.com/office/drawing/2014/main" id="{7474CE98-F626-2AEE-2702-E1B563057A98}"/>
              </a:ext>
            </a:extLst>
          </p:cNvPr>
          <p:cNvSpPr/>
          <p:nvPr/>
        </p:nvSpPr>
        <p:spPr>
          <a:xfrm>
            <a:off x="-25400" y="-9600"/>
            <a:ext cx="12217400" cy="6877199"/>
          </a:xfrm>
          <a:prstGeom prst="rect">
            <a:avLst/>
          </a:prstGeom>
          <a:solidFill>
            <a:schemeClr val="tx1">
              <a:alpha val="68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Pentagon 57">
            <a:extLst>
              <a:ext uri="{FF2B5EF4-FFF2-40B4-BE49-F238E27FC236}">
                <a16:creationId xmlns:a16="http://schemas.microsoft.com/office/drawing/2014/main" id="{AF77D743-D640-FDFB-8310-86C73DDE7536}"/>
              </a:ext>
            </a:extLst>
          </p:cNvPr>
          <p:cNvSpPr/>
          <p:nvPr/>
        </p:nvSpPr>
        <p:spPr>
          <a:xfrm>
            <a:off x="502557" y="1645695"/>
            <a:ext cx="11161486" cy="1278169"/>
          </a:xfrm>
          <a:prstGeom prst="homePlate">
            <a:avLst/>
          </a:prstGeom>
          <a:no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400" b="1" dirty="0">
                <a:solidFill>
                  <a:schemeClr val="bg1"/>
                </a:solidFill>
                <a:latin typeface="Bahnschrift" panose="020B0502040204020203" pitchFamily="34" charset="0"/>
                <a:cs typeface="Dubai Light" panose="020B0303030403030204" pitchFamily="34" charset="-78"/>
              </a:rPr>
              <a:t>THANK YOU</a:t>
            </a:r>
          </a:p>
        </p:txBody>
      </p:sp>
    </p:spTree>
    <p:extLst>
      <p:ext uri="{BB962C8B-B14F-4D97-AF65-F5344CB8AC3E}">
        <p14:creationId xmlns:p14="http://schemas.microsoft.com/office/powerpoint/2010/main" val="30667763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829</TotalTime>
  <Words>1020</Words>
  <Application>Microsoft Office PowerPoint</Application>
  <PresentationFormat>Widescreen</PresentationFormat>
  <Paragraphs>198</Paragraphs>
  <Slides>25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25</vt:i4>
      </vt:variant>
    </vt:vector>
  </HeadingPairs>
  <TitlesOfParts>
    <vt:vector size="32" baseType="lpstr">
      <vt:lpstr>Arial</vt:lpstr>
      <vt:lpstr>Bahnschrift</vt:lpstr>
      <vt:lpstr>Bahnschrift Light</vt:lpstr>
      <vt:lpstr>Bahnschrift SemiBold</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NITRO</dc:creator>
  <cp:lastModifiedBy>Samrat Adhikari</cp:lastModifiedBy>
  <cp:revision>31</cp:revision>
  <dcterms:created xsi:type="dcterms:W3CDTF">2026-05-28T17:22:34Z</dcterms:created>
  <dcterms:modified xsi:type="dcterms:W3CDTF">2026-07-30T21:13:55Z</dcterms:modified>
</cp:coreProperties>
</file>